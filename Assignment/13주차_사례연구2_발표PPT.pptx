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82" r:id="rId8"/>
    <p:sldId id="283" r:id="rId9"/>
    <p:sldId id="284" r:id="rId10"/>
    <p:sldId id="288" r:id="rId11"/>
    <p:sldId id="289" r:id="rId12"/>
    <p:sldId id="285" r:id="rId13"/>
    <p:sldId id="286" r:id="rId14"/>
    <p:sldId id="287" r:id="rId15"/>
    <p:sldId id="290" r:id="rId16"/>
    <p:sldId id="297" r:id="rId17"/>
    <p:sldId id="296" r:id="rId18"/>
    <p:sldId id="294" r:id="rId19"/>
    <p:sldId id="293" r:id="rId20"/>
    <p:sldId id="292" r:id="rId21"/>
    <p:sldId id="291" r:id="rId22"/>
    <p:sldId id="26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22" autoAdjust="0"/>
    <p:restoredTop sz="95244" autoAdjust="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2021-12-03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사례연구 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2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75605" y="3653803"/>
            <a:ext cx="29963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2016125032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57452" y="370386"/>
            <a:ext cx="10493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	</a:t>
            </a:r>
            <a:r>
              <a:rPr lang="ko-KR" altLang="en-US" sz="2400" b="1" kern="0" dirty="0">
                <a:solidFill>
                  <a:srgbClr val="FFC000"/>
                </a:solidFill>
              </a:rPr>
              <a:t>사례연구 </a:t>
            </a:r>
            <a:r>
              <a:rPr lang="en-US" altLang="ko-KR" sz="2400" b="1" kern="0" dirty="0">
                <a:solidFill>
                  <a:srgbClr val="FFC000"/>
                </a:solidFill>
              </a:rPr>
              <a:t>2 –tourism</a:t>
            </a:r>
            <a:r>
              <a:rPr lang="ko-KR" altLang="en-US" sz="2400" b="1" kern="0" dirty="0">
                <a:solidFill>
                  <a:srgbClr val="FFC000"/>
                </a:solidFill>
              </a:rPr>
              <a:t> 예측</a:t>
            </a:r>
            <a:endParaRPr lang="en-US" altLang="ko-KR" sz="2400" b="1" kern="0" dirty="0">
              <a:solidFill>
                <a:srgbClr val="FFC000"/>
              </a:solidFill>
            </a:endParaRPr>
          </a:p>
          <a:p>
            <a:pPr algn="ctr" latinLnBrk="0"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F5209-D5CA-40B4-B2C4-A10902AC1B23}"/>
              </a:ext>
            </a:extLst>
          </p:cNvPr>
          <p:cNvSpPr/>
          <p:nvPr/>
        </p:nvSpPr>
        <p:spPr>
          <a:xfrm>
            <a:off x="6335697" y="1287262"/>
            <a:ext cx="60960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  <a:defRPr/>
            </a:pPr>
            <a:r>
              <a:rPr lang="ko-KR" altLang="en-US" sz="2400" b="1" kern="0" dirty="0">
                <a:solidFill>
                  <a:srgbClr val="FFC000"/>
                </a:solidFill>
              </a:rPr>
              <a:t>관광객의 숫자</a:t>
            </a:r>
            <a:r>
              <a:rPr lang="en-US" altLang="ko-KR" sz="2400" b="1" kern="0" dirty="0">
                <a:solidFill>
                  <a:srgbClr val="FFC000"/>
                </a:solidFill>
              </a:rPr>
              <a:t>, </a:t>
            </a:r>
            <a:r>
              <a:rPr lang="ko-KR" altLang="en-US" sz="2400" b="1" kern="0" dirty="0">
                <a:solidFill>
                  <a:srgbClr val="FFC000"/>
                </a:solidFill>
              </a:rPr>
              <a:t>여행을 가서 몇 박을 했는지</a:t>
            </a:r>
            <a:r>
              <a:rPr lang="en-US" altLang="ko-KR" sz="2400" b="1" kern="0" dirty="0">
                <a:solidFill>
                  <a:srgbClr val="FFC000"/>
                </a:solidFill>
              </a:rPr>
              <a:t>, </a:t>
            </a:r>
            <a:r>
              <a:rPr lang="ko-KR" altLang="en-US" sz="2400" b="1" kern="0" dirty="0">
                <a:solidFill>
                  <a:srgbClr val="FFC000"/>
                </a:solidFill>
              </a:rPr>
              <a:t>여행에 쓴 비용이 얼마인가에 대한 데이터</a:t>
            </a:r>
            <a:endParaRPr lang="en-US" altLang="ko-KR" sz="2400" b="1" kern="0" dirty="0">
              <a:solidFill>
                <a:srgbClr val="FFC000"/>
              </a:solidFill>
            </a:endParaRPr>
          </a:p>
          <a:p>
            <a:pPr marL="342900" indent="-342900" latinLnBrk="0">
              <a:buFont typeface="Arial" panose="020B0604020202020204" pitchFamily="34" charset="0"/>
              <a:buChar char="•"/>
              <a:defRPr/>
            </a:pPr>
            <a:r>
              <a:rPr lang="ko-KR" altLang="en-US" sz="2400" b="1" kern="0" dirty="0">
                <a:solidFill>
                  <a:srgbClr val="FFC000"/>
                </a:solidFill>
              </a:rPr>
              <a:t>이렇게 대량의 시계열이 주어졌을 때 어떻게 대처를 하고 어떻게 </a:t>
            </a:r>
            <a:r>
              <a:rPr lang="en-US" altLang="ko-KR" sz="2400" b="1" kern="0" dirty="0">
                <a:solidFill>
                  <a:srgbClr val="FFC000"/>
                </a:solidFill>
              </a:rPr>
              <a:t>report</a:t>
            </a:r>
            <a:r>
              <a:rPr lang="ko-KR" altLang="en-US" sz="2400" b="1" kern="0" dirty="0">
                <a:solidFill>
                  <a:srgbClr val="FFC000"/>
                </a:solidFill>
              </a:rPr>
              <a:t>를 하는가</a:t>
            </a:r>
            <a:r>
              <a:rPr lang="en-US" altLang="ko-KR" sz="2400" b="1" kern="0" dirty="0">
                <a:solidFill>
                  <a:srgbClr val="FFC000"/>
                </a:solidFill>
              </a:rPr>
              <a:t>?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775953-E9FA-41F0-BA43-ADA87BBD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1" y="1287262"/>
            <a:ext cx="6142206" cy="47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Assignment - 1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Plot all the series – advanced data visualization tool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BE28D4-4167-45E3-8B99-2773DEE5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54" y="940708"/>
            <a:ext cx="4496590" cy="30187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6FCDE0-64C4-4893-92B2-5E1FB0DA8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062" y="928096"/>
            <a:ext cx="4779640" cy="30187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D48E7DC-7A4F-42E4-B5DB-D7429FB9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061" y="3959440"/>
            <a:ext cx="4779641" cy="28985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63ED745-720B-483A-BC22-5EB4F3B01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54" y="3959441"/>
            <a:ext cx="4496590" cy="28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81768"/>
              </p:ext>
            </p:extLst>
          </p:nvPr>
        </p:nvGraphicFramePr>
        <p:xfrm>
          <a:off x="6559422" y="1021949"/>
          <a:ext cx="506210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RColorBrewer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패키지를 이용해서 많은 </a:t>
                      </a:r>
                      <a:r>
                        <a:rPr lang="en-US" altLang="ko-KR" dirty="0"/>
                        <a:t>series</a:t>
                      </a:r>
                      <a:r>
                        <a:rPr lang="ko-KR" altLang="en-US" dirty="0"/>
                        <a:t>들을 </a:t>
                      </a:r>
                      <a:r>
                        <a:rPr lang="en-US" altLang="ko-KR" dirty="0"/>
                        <a:t>plot</a:t>
                      </a:r>
                      <a:r>
                        <a:rPr lang="ko-KR" altLang="en-US" dirty="0"/>
                        <a:t>을 해봤음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대체로 비슷한 양상을 보임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결측치가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많은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년짜리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경우는 예측을 하는데 있어서 관계성이 떨어짐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Plot all the series – advanced data visualization tool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3DDBB6D-ECBE-406E-8EC4-2A2C1156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7" y="901836"/>
            <a:ext cx="4300551" cy="32351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9713504-3E50-40D2-834D-85FB2523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758" y="3557750"/>
            <a:ext cx="4252838" cy="320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3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500838"/>
              </p:ext>
            </p:extLst>
          </p:nvPr>
        </p:nvGraphicFramePr>
        <p:xfrm>
          <a:off x="6559422" y="1021949"/>
          <a:ext cx="506210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 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나머지를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분할을 했음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이러한 분할은 향후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년을 예측하는데 있어서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년으로 잡아서 예측의 기간과 같음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Partition the series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D0188B-E4D7-4ECD-9BCC-19F2CDF96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033" y="4098462"/>
            <a:ext cx="3489102" cy="11433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05F3A1-49C2-4352-8423-261CE90DF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58" y="1172870"/>
            <a:ext cx="5168421" cy="40224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B2934EC-9546-49A1-8B6D-1FF4756CC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58" y="5466386"/>
            <a:ext cx="10860016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03894"/>
              </p:ext>
            </p:extLst>
          </p:nvPr>
        </p:nvGraphicFramePr>
        <p:xfrm>
          <a:off x="6559422" y="1021949"/>
          <a:ext cx="506210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navie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forecast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진행합니다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Forecast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667622-6697-4191-A3ED-4F658A18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07" y="1021949"/>
            <a:ext cx="5725324" cy="28864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7117EB-7739-48A7-ADC5-91E6896F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971" y="2335428"/>
            <a:ext cx="5678666" cy="41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5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229045"/>
              </p:ext>
            </p:extLst>
          </p:nvPr>
        </p:nvGraphicFramePr>
        <p:xfrm>
          <a:off x="6559422" y="1021949"/>
          <a:ext cx="506210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Y152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navie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forecast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진행합니다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Forecast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E96338-B1FA-49FE-B0EA-22867E3A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22" y="2465188"/>
            <a:ext cx="5062109" cy="37758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3208067-C4B1-45B4-B8D2-2E786D6C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1143679"/>
            <a:ext cx="5544324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1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6984"/>
              </p:ext>
            </p:extLst>
          </p:nvPr>
        </p:nvGraphicFramePr>
        <p:xfrm>
          <a:off x="6559422" y="1021949"/>
          <a:ext cx="506210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Y510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navie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forecast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진행합니다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Forecast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F0F0B2-9ED6-4EEA-B27D-E42308BD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00" y="2567865"/>
            <a:ext cx="5118731" cy="37693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F5F965A-01C5-48AD-87DF-4B836BE6B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1272081"/>
            <a:ext cx="5687219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6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574594"/>
              </p:ext>
            </p:extLst>
          </p:nvPr>
        </p:nvGraphicFramePr>
        <p:xfrm>
          <a:off x="6559422" y="1139989"/>
          <a:ext cx="5062109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어마어마하게 큰 이유는 값 자체가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백만이 넘기 때문에 오차의 값도 엄청 크기 때문입니다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말고도 다른 값들을 해도 마찬가지입니다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스케일이 다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달라서 성능 평가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할때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도 스케일이 다 다르게 나와서 문제가 발생합니다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평균을 내도 문제가 발생합니다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Evaluation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88B718-A0CF-4B37-9C47-1BFE4BF4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086408"/>
            <a:ext cx="5715798" cy="28016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DF043A6-CA7C-4D15-86CD-159F8EDBF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4072675"/>
            <a:ext cx="5715798" cy="260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9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067894"/>
              </p:ext>
            </p:extLst>
          </p:nvPr>
        </p:nvGraphicFramePr>
        <p:xfrm>
          <a:off x="482148" y="1424075"/>
          <a:ext cx="6016305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6305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평균 오차를 배율 계수로 나누어 계산을 하고 스케일링 계수는 계절성 값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예측 빈도에 따라  선택이 됩니다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작을수록 모형이 더 정확하다는 것을 나타냅니다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자연에서 주기적이거나 계절적 특성을 갖는 데이터 세트에 이상적입니다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예를 들어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여름철에는 수요가 많고 겨울철에는 수요가 낮은 품목에 대한 예측은 계절적 영향을 고려하면 이점을 얻을 수 있습니다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이상인 경우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모델이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naïve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모델을 개선하지 않기 때문에 정확도는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설정됩니다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정확도가   높아지면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naive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모델의 모델 오류는 더 낮아집니다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MASE – Mean Absolute Scaled Error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C3B51B-201C-4735-9A94-4531F14B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261" y="3301135"/>
            <a:ext cx="781358" cy="645471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166795"/>
              </p:ext>
            </p:extLst>
          </p:nvPr>
        </p:nvGraphicFramePr>
        <p:xfrm>
          <a:off x="7293211" y="901836"/>
          <a:ext cx="4416641" cy="2137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641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4002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835476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Y20,152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등등 데이터셋 전체에서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naïve forecast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경우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 것으로 보아 정확도가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가까운 것 같습니다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둘 다 에서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나옴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879B3661-33DA-4260-982A-BC9BEB63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549" y="4214873"/>
            <a:ext cx="5009353" cy="260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1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805344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Assignment - 2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013204" y="319280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Plot for performance eval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642162"/>
              </p:ext>
            </p:extLst>
          </p:nvPr>
        </p:nvGraphicFramePr>
        <p:xfrm>
          <a:off x="1951542" y="4681974"/>
          <a:ext cx="441664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641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60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Y20,152,510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축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축은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해서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살펴보면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경우는 전부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동일함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경우는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전부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13.9308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똑같고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값의 차이가 있었습니다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304D40D-4E72-493E-B220-AA0658447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4" y="1052674"/>
            <a:ext cx="3889782" cy="3296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A6CAA3-6250-43C1-865F-958BA346D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733" y="1052674"/>
            <a:ext cx="4021942" cy="32960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B3A6AE-97E0-4E51-93E5-BE8ACB81A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072" y="1052673"/>
            <a:ext cx="4021943" cy="329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en-US" altLang="ko-KR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a)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138210"/>
              </p:ext>
            </p:extLst>
          </p:nvPr>
        </p:nvGraphicFramePr>
        <p:xfrm>
          <a:off x="402384" y="2817841"/>
          <a:ext cx="8954750" cy="171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75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8055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prediction1 = </a:t>
                      </a:r>
                      <a:r>
                        <a:rPr lang="en-US" altLang="ko-KR" dirty="0" err="1"/>
                        <a:t>last_value</a:t>
                      </a:r>
                      <a:r>
                        <a:rPr lang="en-US" altLang="ko-KR" dirty="0"/>
                        <a:t> * (1.06 ** </a:t>
                      </a:r>
                      <a:r>
                        <a:rPr lang="en-US" altLang="ko-KR" dirty="0" err="1"/>
                        <a:t>number_of_years_in_the_future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dirty="0"/>
                        <a:t>세계적으로 관광 산업이 “연간 6%의 비율로” 성장했다고 명시하고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있고</a:t>
                      </a:r>
                      <a:r>
                        <a:rPr lang="ko-KR" altLang="ko-KR" dirty="0"/>
                        <a:t> </a:t>
                      </a:r>
                      <a:r>
                        <a:rPr lang="ko-KR" altLang="en-US" dirty="0"/>
                        <a:t>이것을</a:t>
                      </a:r>
                      <a:r>
                        <a:rPr lang="ko-KR" altLang="ko-KR" dirty="0"/>
                        <a:t> 활용하기 위해 </a:t>
                      </a:r>
                      <a:r>
                        <a:rPr lang="ko-KR" altLang="ko-KR" dirty="0" err="1"/>
                        <a:t>Naive</a:t>
                      </a:r>
                      <a:r>
                        <a:rPr lang="ko-KR" altLang="ko-KR" dirty="0"/>
                        <a:t> 알고리즘의 예측 값에 이러한 성장을 고려한 요소를 곱</a:t>
                      </a:r>
                      <a:r>
                        <a:rPr lang="ko-KR" altLang="en-US" dirty="0"/>
                        <a:t>해서 식을 나타냈습니다</a:t>
                      </a:r>
                      <a:r>
                        <a:rPr lang="en-US" altLang="ko-KR" dirty="0"/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862977F-91CF-4A41-96BA-B5C596BE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4" y="1387336"/>
            <a:ext cx="895475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3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28157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(b)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54640"/>
              </p:ext>
            </p:extLst>
          </p:nvPr>
        </p:nvGraphicFramePr>
        <p:xfrm>
          <a:off x="124287" y="3016312"/>
          <a:ext cx="854031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031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07445">
                <a:tc>
                  <a:txBody>
                    <a:bodyPr/>
                    <a:lstStyle/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538029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상수를 곱하는 이유는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지수평활화 방법을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쓰기 위함 입니다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96CAE27-16B7-4CB9-8DE9-26B6A573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082331"/>
            <a:ext cx="8424909" cy="12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865772"/>
              </p:ext>
            </p:extLst>
          </p:nvPr>
        </p:nvGraphicFramePr>
        <p:xfrm>
          <a:off x="6258756" y="1574790"/>
          <a:ext cx="4927107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107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60558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연간 데이터이기 때문에 추세는 있을지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언정 계절성은 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그래서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model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점이 들어갈 겁니다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왜냐하면 추세가 들어가기 위해서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돌발 변수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(event)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 경제적인 충격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관광업에 영향을 미치는 외부 변수를 추가해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있습니다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9630684-6BC8-4F89-84F7-098190DF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2521483"/>
            <a:ext cx="6022308" cy="65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45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90450"/>
              </p:ext>
            </p:extLst>
          </p:nvPr>
        </p:nvGraphicFramePr>
        <p:xfrm>
          <a:off x="6017514" y="1513262"/>
          <a:ext cx="572127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27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55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이 접근 방식의 두 가지 결함은 무엇입니까?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제공된 데이터의 대부분을 버리고 시계열의 단일 요소만 사용한다는 점과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다항식 예측기는 모든 데이터를 동일하게 가중치를 적용하여 사용하지만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가장 최근  데이터가 시계열의 이전 데이터보다 미래 성능을 나타내는 데 더  가치가 있다는 점입니다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CE42DF33-B072-420C-8B51-1072E4077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513262"/>
            <a:ext cx="5721270" cy="280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84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(f)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13738"/>
              </p:ext>
            </p:extLst>
          </p:nvPr>
        </p:nvGraphicFramePr>
        <p:xfrm>
          <a:off x="6713293" y="1416124"/>
          <a:ext cx="441664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641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60558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연간 데이터이기 때문에 추세는 있을지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언정 계절성은 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exponential smoothing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기법 중에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holt winter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말고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holt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방법을 써야합니다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5E40F3B-43E6-4774-8AFA-7AE6F07C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2007691"/>
            <a:ext cx="6083783" cy="9199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3EA313-85AD-4A3D-8A3B-172F795E1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3627295"/>
            <a:ext cx="3872479" cy="29114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1CADE8-DDA7-4520-A65E-8FA4BC0F5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293" y="3627294"/>
            <a:ext cx="3973346" cy="291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2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(g)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61681"/>
              </p:ext>
            </p:extLst>
          </p:nvPr>
        </p:nvGraphicFramePr>
        <p:xfrm>
          <a:off x="6630072" y="1757237"/>
          <a:ext cx="514171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1718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60558">
                <a:tc>
                  <a:txBody>
                    <a:bodyPr/>
                    <a:lstStyle/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앙상블의 구성을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계열을 자동적으로 처리하는 방법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해야 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앙상블을 구성하는 데 있어서 자동 적으로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최적화 하는 좋은 방법을 찾아야합니다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4710301-FE50-4A08-A302-33886EB79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757237"/>
            <a:ext cx="5963815" cy="17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5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3133818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Competition Winner - 1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556A5-EB4D-4D9F-8231-EDB2ECFA183E}"/>
              </a:ext>
            </a:extLst>
          </p:cNvPr>
          <p:cNvSpPr/>
          <p:nvPr/>
        </p:nvSpPr>
        <p:spPr>
          <a:xfrm>
            <a:off x="3310544" y="319279"/>
            <a:ext cx="6805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(h)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B8B2F0-8726-4F8D-95FA-2ED11219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313360"/>
              </p:ext>
            </p:extLst>
          </p:nvPr>
        </p:nvGraphicFramePr>
        <p:xfrm>
          <a:off x="6713293" y="1677877"/>
          <a:ext cx="4416641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641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60558">
                <a:tc>
                  <a:txBody>
                    <a:bodyPr/>
                    <a:lstStyle/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실제적인 상황에서의 목표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실제적인 관광 수요를 가져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다가 예측을 하는데 우리가 경진대회에서 하는 목표하고 관광수요를 예측하는 목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표와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어떠한 차이가 있을 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생각을 해보면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모델링의 목표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그저 오차를 최소화 하면서 예측을 하는 것이고 이전의 값들의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높지만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관광수요를 예측하는데 있어서는 과거도 과거이지만 외부 변수들이 영향을 많이 미칠 것이기에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(ex covid)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관광 수요 값 자체를 예측하기보다 경기나 인구이동 등 다른 값을 예측하는데 목표가 있을 수 있습니다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55F425D-86D2-41C2-9DC9-328E04D89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677877"/>
            <a:ext cx="6233184" cy="20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21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6843</TotalTime>
  <Words>708</Words>
  <Application>Microsoft Office PowerPoint</Application>
  <PresentationFormat>와이드스크린</PresentationFormat>
  <Paragraphs>81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169</cp:revision>
  <dcterms:created xsi:type="dcterms:W3CDTF">2020-08-28T03:04:35Z</dcterms:created>
  <dcterms:modified xsi:type="dcterms:W3CDTF">2021-12-03T14:55:45Z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