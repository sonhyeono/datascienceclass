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7" r:id="rId5"/>
    <p:sldId id="259" r:id="rId6"/>
    <p:sldId id="262" r:id="rId7"/>
    <p:sldId id="325" r:id="rId8"/>
    <p:sldId id="326" r:id="rId9"/>
    <p:sldId id="327" r:id="rId10"/>
    <p:sldId id="328" r:id="rId11"/>
    <p:sldId id="329" r:id="rId12"/>
    <p:sldId id="330" r:id="rId13"/>
    <p:sldId id="331" r:id="rId14"/>
    <p:sldId id="332" r:id="rId15"/>
    <p:sldId id="333" r:id="rId16"/>
    <p:sldId id="334" r:id="rId17"/>
    <p:sldId id="335" r:id="rId18"/>
    <p:sldId id="336" r:id="rId19"/>
    <p:sldId id="337" r:id="rId20"/>
    <p:sldId id="338" r:id="rId21"/>
    <p:sldId id="339" r:id="rId22"/>
    <p:sldId id="340" r:id="rId23"/>
    <p:sldId id="341" r:id="rId24"/>
    <p:sldId id="264" r:id="rId25"/>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손 현오" initials="손현" lastIdx="4" clrIdx="0">
    <p:extLst>
      <p:ext uri="{19B8F6BF-5375-455C-9EA6-DF929625EA0E}">
        <p15:presenceInfo xmlns:p15="http://schemas.microsoft.com/office/powerpoint/2012/main" userId="dc2350536a7fc01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54B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22" autoAdjust="0"/>
    <p:restoredTop sz="94660"/>
  </p:normalViewPr>
  <p:slideViewPr>
    <p:cSldViewPr snapToGrid="0">
      <p:cViewPr varScale="1">
        <p:scale>
          <a:sx n="86" d="100"/>
          <a:sy n="86" d="100"/>
        </p:scale>
        <p:origin x="461"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마스터 부제목 스타일 편집</a:t>
            </a:r>
          </a:p>
        </p:txBody>
      </p:sp>
      <p:sp>
        <p:nvSpPr>
          <p:cNvPr id="4" name="날짜 개체 틀 3"/>
          <p:cNvSpPr>
            <a:spLocks noGrp="1"/>
          </p:cNvSpPr>
          <p:nvPr>
            <p:ph type="dt" sz="half" idx="10"/>
          </p:nvPr>
        </p:nvSpPr>
        <p:spPr/>
        <p:txBody>
          <a:bodyPr/>
          <a:lstStyle/>
          <a:p>
            <a:fld id="{C7351A05-FE79-4763-A84F-D4FE701A9E82}" type="datetimeFigureOut">
              <a:rPr lang="ko-KR" altLang="en-US" smtClean="0">
                <a:solidFill>
                  <a:prstClr val="black">
                    <a:tint val="75000"/>
                  </a:prstClr>
                </a:solidFill>
              </a:rPr>
              <a:pPr/>
              <a:t>2021-11-14</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BAAF555B-7E58-4FDF-83D4-B4CEA304EAF7}"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9179598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C7351A05-FE79-4763-A84F-D4FE701A9E82}" type="datetimeFigureOut">
              <a:rPr lang="ko-KR" altLang="en-US" smtClean="0">
                <a:solidFill>
                  <a:prstClr val="black">
                    <a:tint val="75000"/>
                  </a:prstClr>
                </a:solidFill>
              </a:rPr>
              <a:pPr/>
              <a:t>2021-11-14</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BAAF555B-7E58-4FDF-83D4-B4CEA304EAF7}"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39347624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편집합니다</a:t>
            </a:r>
          </a:p>
        </p:txBody>
      </p:sp>
      <p:sp>
        <p:nvSpPr>
          <p:cNvPr id="4" name="날짜 개체 틀 3"/>
          <p:cNvSpPr>
            <a:spLocks noGrp="1"/>
          </p:cNvSpPr>
          <p:nvPr>
            <p:ph type="dt" sz="half" idx="10"/>
          </p:nvPr>
        </p:nvSpPr>
        <p:spPr/>
        <p:txBody>
          <a:bodyPr/>
          <a:lstStyle/>
          <a:p>
            <a:fld id="{C7351A05-FE79-4763-A84F-D4FE701A9E82}" type="datetimeFigureOut">
              <a:rPr lang="ko-KR" altLang="en-US" smtClean="0">
                <a:solidFill>
                  <a:prstClr val="black">
                    <a:tint val="75000"/>
                  </a:prstClr>
                </a:solidFill>
              </a:rPr>
              <a:pPr/>
              <a:t>2021-11-14</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BAAF555B-7E58-4FDF-83D4-B4CEA304EAF7}"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509192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838200" y="1825625"/>
            <a:ext cx="5181600" cy="435133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6172200" y="1825625"/>
            <a:ext cx="5181600" cy="435133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C7351A05-FE79-4763-A84F-D4FE701A9E82}" type="datetimeFigureOut">
              <a:rPr lang="ko-KR" altLang="en-US" smtClean="0">
                <a:solidFill>
                  <a:prstClr val="black">
                    <a:tint val="75000"/>
                  </a:prstClr>
                </a:solidFill>
              </a:rPr>
              <a:pPr/>
              <a:t>2021-11-14</a:t>
            </a:fld>
            <a:endParaRPr lang="ko-KR" altLang="en-US">
              <a:solidFill>
                <a:prstClr val="black">
                  <a:tint val="75000"/>
                </a:prstClr>
              </a:solidFill>
            </a:endParaRPr>
          </a:p>
        </p:txBody>
      </p:sp>
      <p:sp>
        <p:nvSpPr>
          <p:cNvPr id="6" name="바닥글 개체 틀 5"/>
          <p:cNvSpPr>
            <a:spLocks noGrp="1"/>
          </p:cNvSpPr>
          <p:nvPr>
            <p:ph type="ftr" sz="quarter" idx="11"/>
          </p:nvPr>
        </p:nvSpPr>
        <p:spPr/>
        <p:txBody>
          <a:bodyPr/>
          <a:lstStyle/>
          <a:p>
            <a:endParaRPr lang="ko-KR" altLang="en-US">
              <a:solidFill>
                <a:prstClr val="black">
                  <a:tint val="75000"/>
                </a:prstClr>
              </a:solidFill>
            </a:endParaRPr>
          </a:p>
        </p:txBody>
      </p:sp>
      <p:sp>
        <p:nvSpPr>
          <p:cNvPr id="7" name="슬라이드 번호 개체 틀 6"/>
          <p:cNvSpPr>
            <a:spLocks noGrp="1"/>
          </p:cNvSpPr>
          <p:nvPr>
            <p:ph type="sldNum" sz="quarter" idx="12"/>
          </p:nvPr>
        </p:nvSpPr>
        <p:spPr/>
        <p:txBody>
          <a:bodyPr/>
          <a:lstStyle/>
          <a:p>
            <a:fld id="{BAAF555B-7E58-4FDF-83D4-B4CEA304EAF7}"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2711144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839788" y="2505075"/>
            <a:ext cx="5157787" cy="368458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6172200" y="2505075"/>
            <a:ext cx="5183188" cy="368458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C7351A05-FE79-4763-A84F-D4FE701A9E82}" type="datetimeFigureOut">
              <a:rPr lang="ko-KR" altLang="en-US" smtClean="0">
                <a:solidFill>
                  <a:prstClr val="black">
                    <a:tint val="75000"/>
                  </a:prstClr>
                </a:solidFill>
              </a:rPr>
              <a:pPr/>
              <a:t>2021-11-14</a:t>
            </a:fld>
            <a:endParaRPr lang="ko-KR" altLang="en-US">
              <a:solidFill>
                <a:prstClr val="black">
                  <a:tint val="75000"/>
                </a:prstClr>
              </a:solidFill>
            </a:endParaRPr>
          </a:p>
        </p:txBody>
      </p:sp>
      <p:sp>
        <p:nvSpPr>
          <p:cNvPr id="8" name="바닥글 개체 틀 7"/>
          <p:cNvSpPr>
            <a:spLocks noGrp="1"/>
          </p:cNvSpPr>
          <p:nvPr>
            <p:ph type="ftr" sz="quarter" idx="11"/>
          </p:nvPr>
        </p:nvSpPr>
        <p:spPr/>
        <p:txBody>
          <a:bodyPr/>
          <a:lstStyle/>
          <a:p>
            <a:endParaRPr lang="ko-KR" altLang="en-US">
              <a:solidFill>
                <a:prstClr val="black">
                  <a:tint val="75000"/>
                </a:prstClr>
              </a:solidFill>
            </a:endParaRPr>
          </a:p>
        </p:txBody>
      </p:sp>
      <p:sp>
        <p:nvSpPr>
          <p:cNvPr id="9" name="슬라이드 번호 개체 틀 8"/>
          <p:cNvSpPr>
            <a:spLocks noGrp="1"/>
          </p:cNvSpPr>
          <p:nvPr>
            <p:ph type="sldNum" sz="quarter" idx="12"/>
          </p:nvPr>
        </p:nvSpPr>
        <p:spPr/>
        <p:txBody>
          <a:bodyPr/>
          <a:lstStyle/>
          <a:p>
            <a:fld id="{BAAF555B-7E58-4FDF-83D4-B4CEA304EAF7}"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3951899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C7351A05-FE79-4763-A84F-D4FE701A9E82}" type="datetimeFigureOut">
              <a:rPr lang="ko-KR" altLang="en-US" smtClean="0">
                <a:solidFill>
                  <a:prstClr val="black">
                    <a:tint val="75000"/>
                  </a:prstClr>
                </a:solidFill>
              </a:rPr>
              <a:pPr/>
              <a:t>2021-11-14</a:t>
            </a:fld>
            <a:endParaRPr lang="ko-KR" altLang="en-US">
              <a:solidFill>
                <a:prstClr val="black">
                  <a:tint val="75000"/>
                </a:prstClr>
              </a:solidFill>
            </a:endParaRPr>
          </a:p>
        </p:txBody>
      </p:sp>
      <p:sp>
        <p:nvSpPr>
          <p:cNvPr id="4" name="바닥글 개체 틀 3"/>
          <p:cNvSpPr>
            <a:spLocks noGrp="1"/>
          </p:cNvSpPr>
          <p:nvPr>
            <p:ph type="ftr" sz="quarter" idx="11"/>
          </p:nvPr>
        </p:nvSpPr>
        <p:spPr/>
        <p:txBody>
          <a:bodyPr/>
          <a:lstStyle/>
          <a:p>
            <a:endParaRPr lang="ko-KR" altLang="en-US">
              <a:solidFill>
                <a:prstClr val="black">
                  <a:tint val="75000"/>
                </a:prstClr>
              </a:solidFill>
            </a:endParaRPr>
          </a:p>
        </p:txBody>
      </p:sp>
      <p:sp>
        <p:nvSpPr>
          <p:cNvPr id="5" name="슬라이드 번호 개체 틀 4"/>
          <p:cNvSpPr>
            <a:spLocks noGrp="1"/>
          </p:cNvSpPr>
          <p:nvPr>
            <p:ph type="sldNum" sz="quarter" idx="12"/>
          </p:nvPr>
        </p:nvSpPr>
        <p:spPr/>
        <p:txBody>
          <a:bodyPr/>
          <a:lstStyle/>
          <a:p>
            <a:fld id="{BAAF555B-7E58-4FDF-83D4-B4CEA304EAF7}"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3942807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C7351A05-FE79-4763-A84F-D4FE701A9E82}" type="datetimeFigureOut">
              <a:rPr lang="ko-KR" altLang="en-US" smtClean="0">
                <a:solidFill>
                  <a:prstClr val="black">
                    <a:tint val="75000"/>
                  </a:prstClr>
                </a:solidFill>
              </a:rPr>
              <a:pPr/>
              <a:t>2021-11-14</a:t>
            </a:fld>
            <a:endParaRPr lang="ko-KR" altLang="en-US">
              <a:solidFill>
                <a:prstClr val="black">
                  <a:tint val="75000"/>
                </a:prstClr>
              </a:solidFill>
            </a:endParaRPr>
          </a:p>
        </p:txBody>
      </p:sp>
      <p:sp>
        <p:nvSpPr>
          <p:cNvPr id="3" name="바닥글 개체 틀 2"/>
          <p:cNvSpPr>
            <a:spLocks noGrp="1"/>
          </p:cNvSpPr>
          <p:nvPr>
            <p:ph type="ftr" sz="quarter" idx="11"/>
          </p:nvPr>
        </p:nvSpPr>
        <p:spPr/>
        <p:txBody>
          <a:bodyPr/>
          <a:lstStyle/>
          <a:p>
            <a:endParaRPr lang="ko-KR" altLang="en-US">
              <a:solidFill>
                <a:prstClr val="black">
                  <a:tint val="75000"/>
                </a:prstClr>
              </a:solidFill>
            </a:endParaRPr>
          </a:p>
        </p:txBody>
      </p:sp>
      <p:sp>
        <p:nvSpPr>
          <p:cNvPr id="4" name="슬라이드 번호 개체 틀 3"/>
          <p:cNvSpPr>
            <a:spLocks noGrp="1"/>
          </p:cNvSpPr>
          <p:nvPr>
            <p:ph type="sldNum" sz="quarter" idx="12"/>
          </p:nvPr>
        </p:nvSpPr>
        <p:spPr/>
        <p:txBody>
          <a:bodyPr/>
          <a:lstStyle/>
          <a:p>
            <a:fld id="{BAAF555B-7E58-4FDF-83D4-B4CEA304EAF7}"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3561682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C7351A05-FE79-4763-A84F-D4FE701A9E82}" type="datetimeFigureOut">
              <a:rPr lang="ko-KR" altLang="en-US" smtClean="0">
                <a:solidFill>
                  <a:prstClr val="black">
                    <a:tint val="75000"/>
                  </a:prstClr>
                </a:solidFill>
              </a:rPr>
              <a:pPr/>
              <a:t>2021-11-14</a:t>
            </a:fld>
            <a:endParaRPr lang="ko-KR" altLang="en-US">
              <a:solidFill>
                <a:prstClr val="black">
                  <a:tint val="75000"/>
                </a:prstClr>
              </a:solidFill>
            </a:endParaRPr>
          </a:p>
        </p:txBody>
      </p:sp>
      <p:sp>
        <p:nvSpPr>
          <p:cNvPr id="6" name="바닥글 개체 틀 5"/>
          <p:cNvSpPr>
            <a:spLocks noGrp="1"/>
          </p:cNvSpPr>
          <p:nvPr>
            <p:ph type="ftr" sz="quarter" idx="11"/>
          </p:nvPr>
        </p:nvSpPr>
        <p:spPr/>
        <p:txBody>
          <a:bodyPr/>
          <a:lstStyle/>
          <a:p>
            <a:endParaRPr lang="ko-KR" altLang="en-US">
              <a:solidFill>
                <a:prstClr val="black">
                  <a:tint val="75000"/>
                </a:prstClr>
              </a:solidFill>
            </a:endParaRPr>
          </a:p>
        </p:txBody>
      </p:sp>
      <p:sp>
        <p:nvSpPr>
          <p:cNvPr id="7" name="슬라이드 번호 개체 틀 6"/>
          <p:cNvSpPr>
            <a:spLocks noGrp="1"/>
          </p:cNvSpPr>
          <p:nvPr>
            <p:ph type="sldNum" sz="quarter" idx="12"/>
          </p:nvPr>
        </p:nvSpPr>
        <p:spPr/>
        <p:txBody>
          <a:bodyPr/>
          <a:lstStyle/>
          <a:p>
            <a:fld id="{BAAF555B-7E58-4FDF-83D4-B4CEA304EAF7}"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14813149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C7351A05-FE79-4763-A84F-D4FE701A9E82}" type="datetimeFigureOut">
              <a:rPr lang="ko-KR" altLang="en-US" smtClean="0">
                <a:solidFill>
                  <a:prstClr val="black">
                    <a:tint val="75000"/>
                  </a:prstClr>
                </a:solidFill>
              </a:rPr>
              <a:pPr/>
              <a:t>2021-11-14</a:t>
            </a:fld>
            <a:endParaRPr lang="ko-KR" altLang="en-US">
              <a:solidFill>
                <a:prstClr val="black">
                  <a:tint val="75000"/>
                </a:prstClr>
              </a:solidFill>
            </a:endParaRPr>
          </a:p>
        </p:txBody>
      </p:sp>
      <p:sp>
        <p:nvSpPr>
          <p:cNvPr id="6" name="바닥글 개체 틀 5"/>
          <p:cNvSpPr>
            <a:spLocks noGrp="1"/>
          </p:cNvSpPr>
          <p:nvPr>
            <p:ph type="ftr" sz="quarter" idx="11"/>
          </p:nvPr>
        </p:nvSpPr>
        <p:spPr/>
        <p:txBody>
          <a:bodyPr/>
          <a:lstStyle/>
          <a:p>
            <a:endParaRPr lang="ko-KR" altLang="en-US">
              <a:solidFill>
                <a:prstClr val="black">
                  <a:tint val="75000"/>
                </a:prstClr>
              </a:solidFill>
            </a:endParaRPr>
          </a:p>
        </p:txBody>
      </p:sp>
      <p:sp>
        <p:nvSpPr>
          <p:cNvPr id="7" name="슬라이드 번호 개체 틀 6"/>
          <p:cNvSpPr>
            <a:spLocks noGrp="1"/>
          </p:cNvSpPr>
          <p:nvPr>
            <p:ph type="sldNum" sz="quarter" idx="12"/>
          </p:nvPr>
        </p:nvSpPr>
        <p:spPr/>
        <p:txBody>
          <a:bodyPr/>
          <a:lstStyle/>
          <a:p>
            <a:fld id="{BAAF555B-7E58-4FDF-83D4-B4CEA304EAF7}"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22467557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C7351A05-FE79-4763-A84F-D4FE701A9E82}" type="datetimeFigureOut">
              <a:rPr lang="ko-KR" altLang="en-US" smtClean="0">
                <a:solidFill>
                  <a:prstClr val="black">
                    <a:tint val="75000"/>
                  </a:prstClr>
                </a:solidFill>
              </a:rPr>
              <a:pPr/>
              <a:t>2021-11-14</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BAAF555B-7E58-4FDF-83D4-B4CEA304EAF7}"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6669409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838200" y="365125"/>
            <a:ext cx="7734300" cy="5811838"/>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C7351A05-FE79-4763-A84F-D4FE701A9E82}" type="datetimeFigureOut">
              <a:rPr lang="ko-KR" altLang="en-US" smtClean="0">
                <a:solidFill>
                  <a:prstClr val="black">
                    <a:tint val="75000"/>
                  </a:prstClr>
                </a:solidFill>
              </a:rPr>
              <a:pPr/>
              <a:t>2021-11-14</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BAAF555B-7E58-4FDF-83D4-B4CEA304EAF7}"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27119639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351A05-FE79-4763-A84F-D4FE701A9E82}" type="datetimeFigureOut">
              <a:rPr lang="ko-KR" altLang="en-US" smtClean="0">
                <a:solidFill>
                  <a:prstClr val="black">
                    <a:tint val="75000"/>
                  </a:prstClr>
                </a:solidFill>
              </a:rPr>
              <a:pPr/>
              <a:t>2021-11-14</a:t>
            </a:fld>
            <a:endParaRPr lang="ko-KR" altLang="en-US">
              <a:solidFill>
                <a:prstClr val="black">
                  <a:tint val="75000"/>
                </a:prstClr>
              </a:solidFill>
            </a:endParaRPr>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solidFill>
                <a:prstClr val="black">
                  <a:tint val="75000"/>
                </a:prstClr>
              </a:solidFill>
            </a:endParaRPr>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AF555B-7E58-4FDF-83D4-B4CEA304EAF7}"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26925673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54BA1"/>
        </a:solidFill>
        <a:effectLst/>
      </p:bgPr>
    </p:bg>
    <p:spTree>
      <p:nvGrpSpPr>
        <p:cNvPr id="1" name=""/>
        <p:cNvGrpSpPr/>
        <p:nvPr/>
      </p:nvGrpSpPr>
      <p:grpSpPr>
        <a:xfrm>
          <a:off x="0" y="0"/>
          <a:ext cx="0" cy="0"/>
          <a:chOff x="0" y="0"/>
          <a:chExt cx="0" cy="0"/>
        </a:xfrm>
      </p:grpSpPr>
      <p:sp>
        <p:nvSpPr>
          <p:cNvPr id="10" name="직사각형 9"/>
          <p:cNvSpPr/>
          <p:nvPr/>
        </p:nvSpPr>
        <p:spPr>
          <a:xfrm>
            <a:off x="522966" y="2349815"/>
            <a:ext cx="7956016" cy="2334806"/>
          </a:xfrm>
          <a:prstGeom prst="rect">
            <a:avLst/>
          </a:prstGeom>
        </p:spPr>
        <p:txBody>
          <a:bodyPr wrap="square">
            <a:spAutoFit/>
          </a:bodyPr>
          <a:lstStyle/>
          <a:p>
            <a:pPr latinLnBrk="0">
              <a:lnSpc>
                <a:spcPct val="150000"/>
              </a:lnSpc>
              <a:defRPr/>
            </a:pPr>
            <a:r>
              <a:rPr lang="en-US" altLang="ko-KR" sz="4400" b="1" i="1" kern="0" dirty="0">
                <a:solidFill>
                  <a:srgbClr val="FFC000"/>
                </a:solidFill>
              </a:rPr>
              <a:t>Data Science Applications </a:t>
            </a:r>
            <a:r>
              <a:rPr lang="ko-KR" altLang="en-US" sz="4400" b="1" i="1" kern="0" dirty="0">
                <a:solidFill>
                  <a:srgbClr val="FFC000"/>
                </a:solidFill>
              </a:rPr>
              <a:t>조별과제</a:t>
            </a:r>
            <a:r>
              <a:rPr lang="en-US" altLang="ko-KR" sz="4400" b="1" i="1" kern="0" dirty="0">
                <a:solidFill>
                  <a:srgbClr val="FFC000"/>
                </a:solidFill>
              </a:rPr>
              <a:t> 11</a:t>
            </a:r>
            <a:r>
              <a:rPr lang="ko-KR" altLang="en-US" sz="4400" b="1" i="1" kern="0" dirty="0">
                <a:solidFill>
                  <a:srgbClr val="FFC000"/>
                </a:solidFill>
              </a:rPr>
              <a:t>주차 </a:t>
            </a:r>
            <a:endParaRPr lang="en-US" altLang="ko-KR" sz="4400" b="1" i="1" kern="0" dirty="0">
              <a:solidFill>
                <a:srgbClr val="FFC000"/>
              </a:solidFill>
            </a:endParaRPr>
          </a:p>
          <a:p>
            <a:pPr latinLnBrk="0">
              <a:lnSpc>
                <a:spcPct val="150000"/>
              </a:lnSpc>
              <a:defRPr/>
            </a:pPr>
            <a:r>
              <a:rPr lang="en-US" altLang="ko-KR" sz="1050" kern="0" dirty="0">
                <a:solidFill>
                  <a:prstClr val="white"/>
                </a:solidFill>
              </a:rPr>
              <a:t>KOREA AERO SPACE UNIV.</a:t>
            </a:r>
            <a:endParaRPr lang="ko-KR" altLang="en-US" sz="6000" kern="0" dirty="0">
              <a:solidFill>
                <a:prstClr val="white"/>
              </a:solidFill>
            </a:endParaRPr>
          </a:p>
        </p:txBody>
      </p:sp>
      <p:cxnSp>
        <p:nvCxnSpPr>
          <p:cNvPr id="12" name="직선 연결선 11"/>
          <p:cNvCxnSpPr/>
          <p:nvPr/>
        </p:nvCxnSpPr>
        <p:spPr>
          <a:xfrm>
            <a:off x="6625772" y="3204197"/>
            <a:ext cx="4896000" cy="0"/>
          </a:xfrm>
          <a:prstGeom prst="line">
            <a:avLst/>
          </a:prstGeom>
          <a:ln>
            <a:solidFill>
              <a:srgbClr val="7488D2"/>
            </a:solidFill>
          </a:ln>
        </p:spPr>
        <p:style>
          <a:lnRef idx="1">
            <a:schemeClr val="accent1"/>
          </a:lnRef>
          <a:fillRef idx="0">
            <a:schemeClr val="accent1"/>
          </a:fillRef>
          <a:effectRef idx="0">
            <a:schemeClr val="accent1"/>
          </a:effectRef>
          <a:fontRef idx="minor">
            <a:schemeClr val="tx1"/>
          </a:fontRef>
        </p:style>
      </p:cxnSp>
      <p:sp>
        <p:nvSpPr>
          <p:cNvPr id="27" name="직사각형 26"/>
          <p:cNvSpPr/>
          <p:nvPr/>
        </p:nvSpPr>
        <p:spPr>
          <a:xfrm>
            <a:off x="7575605" y="3653803"/>
            <a:ext cx="2996333" cy="830997"/>
          </a:xfrm>
          <a:prstGeom prst="rect">
            <a:avLst/>
          </a:prstGeom>
        </p:spPr>
        <p:txBody>
          <a:bodyPr wrap="none">
            <a:spAutoFit/>
          </a:bodyPr>
          <a:lstStyle/>
          <a:p>
            <a:pPr algn="ctr" latinLnBrk="0">
              <a:defRPr/>
            </a:pPr>
            <a:endParaRPr lang="en-US" altLang="ko-KR" sz="2400" b="1" kern="0" dirty="0">
              <a:solidFill>
                <a:schemeClr val="bg1"/>
              </a:solidFill>
            </a:endParaRPr>
          </a:p>
          <a:p>
            <a:pPr algn="ctr" latinLnBrk="0">
              <a:defRPr/>
            </a:pPr>
            <a:r>
              <a:rPr lang="en-US" altLang="ko-KR" sz="2400" b="1" kern="0" dirty="0">
                <a:solidFill>
                  <a:schemeClr val="bg1"/>
                </a:solidFill>
              </a:rPr>
              <a:t>2016125032 </a:t>
            </a:r>
            <a:r>
              <a:rPr lang="ko-KR" altLang="en-US" sz="2400" b="1" kern="0" dirty="0" err="1">
                <a:solidFill>
                  <a:schemeClr val="bg1"/>
                </a:solidFill>
              </a:rPr>
              <a:t>손현오</a:t>
            </a:r>
            <a:endParaRPr lang="en-US" altLang="ko-KR" sz="2400" b="1" kern="0" dirty="0">
              <a:solidFill>
                <a:schemeClr val="bg1"/>
              </a:solidFill>
            </a:endParaRPr>
          </a:p>
        </p:txBody>
      </p:sp>
    </p:spTree>
    <p:extLst>
      <p:ext uri="{BB962C8B-B14F-4D97-AF65-F5344CB8AC3E}">
        <p14:creationId xmlns:p14="http://schemas.microsoft.com/office/powerpoint/2010/main" val="32499384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54BA1"/>
        </a:solidFill>
        <a:effectLst/>
      </p:bgPr>
    </p:bg>
    <p:spTree>
      <p:nvGrpSpPr>
        <p:cNvPr id="1" name=""/>
        <p:cNvGrpSpPr/>
        <p:nvPr/>
      </p:nvGrpSpPr>
      <p:grpSpPr>
        <a:xfrm>
          <a:off x="0" y="0"/>
          <a:ext cx="0" cy="0"/>
          <a:chOff x="0" y="0"/>
          <a:chExt cx="0" cy="0"/>
        </a:xfrm>
      </p:grpSpPr>
      <p:sp>
        <p:nvSpPr>
          <p:cNvPr id="10" name="직사각형 9"/>
          <p:cNvSpPr/>
          <p:nvPr/>
        </p:nvSpPr>
        <p:spPr>
          <a:xfrm>
            <a:off x="1647824" y="370386"/>
            <a:ext cx="7931182" cy="707886"/>
          </a:xfrm>
          <a:prstGeom prst="rect">
            <a:avLst/>
          </a:prstGeom>
        </p:spPr>
        <p:txBody>
          <a:bodyPr wrap="square">
            <a:spAutoFit/>
          </a:bodyPr>
          <a:lstStyle/>
          <a:p>
            <a:pPr algn="ctr" latinLnBrk="0">
              <a:defRPr/>
            </a:pPr>
            <a:r>
              <a:rPr lang="ko-KR" altLang="en-US" sz="3200" b="1" kern="0" dirty="0">
                <a:solidFill>
                  <a:srgbClr val="FFC000"/>
                </a:solidFill>
              </a:rPr>
              <a:t>예측</a:t>
            </a:r>
            <a:r>
              <a:rPr lang="en-US" altLang="ko-KR" sz="3200" b="1" kern="0" dirty="0">
                <a:solidFill>
                  <a:srgbClr val="FFC000"/>
                </a:solidFill>
              </a:rPr>
              <a:t>, ARIMA, </a:t>
            </a:r>
            <a:r>
              <a:rPr lang="ko-KR" altLang="en-US" sz="3200" b="1" kern="0" dirty="0">
                <a:solidFill>
                  <a:srgbClr val="FFC000"/>
                </a:solidFill>
              </a:rPr>
              <a:t>외부 변수 관련</a:t>
            </a:r>
            <a:endParaRPr lang="en-US" altLang="ko-KR" sz="3200" b="1" kern="0" dirty="0">
              <a:solidFill>
                <a:srgbClr val="FFC000"/>
              </a:solidFill>
            </a:endParaRPr>
          </a:p>
          <a:p>
            <a:pPr algn="ctr" latinLnBrk="0">
              <a:defRPr/>
            </a:pPr>
            <a:r>
              <a:rPr lang="en-US" altLang="ko-KR" sz="800" b="1" kern="0" dirty="0">
                <a:solidFill>
                  <a:prstClr val="white"/>
                </a:solidFill>
              </a:rPr>
              <a:t>KOREA AERO SPACE UNIV.</a:t>
            </a:r>
            <a:endParaRPr lang="ko-KR" altLang="en-US" sz="4400" b="1" kern="0" dirty="0">
              <a:solidFill>
                <a:prstClr val="white"/>
              </a:solidFill>
            </a:endParaRPr>
          </a:p>
        </p:txBody>
      </p:sp>
      <p:sp>
        <p:nvSpPr>
          <p:cNvPr id="11" name="직사각형 10">
            <a:extLst>
              <a:ext uri="{FF2B5EF4-FFF2-40B4-BE49-F238E27FC236}">
                <a16:creationId xmlns:a16="http://schemas.microsoft.com/office/drawing/2014/main" id="{3D3F5209-D5CA-40B4-B2C4-A10902AC1B23}"/>
              </a:ext>
            </a:extLst>
          </p:cNvPr>
          <p:cNvSpPr/>
          <p:nvPr/>
        </p:nvSpPr>
        <p:spPr>
          <a:xfrm>
            <a:off x="6232124" y="1844004"/>
            <a:ext cx="5959877" cy="1200329"/>
          </a:xfrm>
          <a:prstGeom prst="rect">
            <a:avLst/>
          </a:prstGeom>
        </p:spPr>
        <p:txBody>
          <a:bodyPr wrap="square">
            <a:spAutoFit/>
          </a:bodyPr>
          <a:lstStyle/>
          <a:p>
            <a:pPr latinLnBrk="0">
              <a:defRPr/>
            </a:pPr>
            <a:r>
              <a:rPr lang="en-US" altLang="ko-KR" sz="2400" b="1" kern="0" dirty="0">
                <a:solidFill>
                  <a:srgbClr val="FFC000"/>
                </a:solidFill>
              </a:rPr>
              <a:t>1. </a:t>
            </a:r>
            <a:r>
              <a:rPr lang="en-US" altLang="ko-KR" sz="2400" b="1" kern="0" dirty="0" err="1">
                <a:solidFill>
                  <a:srgbClr val="FFC000"/>
                </a:solidFill>
              </a:rPr>
              <a:t>Wal-mart</a:t>
            </a:r>
            <a:r>
              <a:rPr lang="en-US" altLang="ko-KR" sz="2400" b="1" kern="0" dirty="0">
                <a:solidFill>
                  <a:srgbClr val="FFC000"/>
                </a:solidFill>
              </a:rPr>
              <a:t> Stock data </a:t>
            </a:r>
            <a:r>
              <a:rPr lang="en-US" altLang="ko-KR" sz="2400" b="1" kern="0" dirty="0">
                <a:solidFill>
                  <a:srgbClr val="FFC000"/>
                </a:solidFill>
                <a:sym typeface="Wingdings" panose="05000000000000000000" pitchFamily="2" charset="2"/>
              </a:rPr>
              <a:t>– </a:t>
            </a:r>
            <a:r>
              <a:rPr lang="en-US" altLang="ko-KR" sz="2400" b="1" kern="0" dirty="0" err="1">
                <a:solidFill>
                  <a:srgbClr val="FFC000"/>
                </a:solidFill>
                <a:sym typeface="Wingdings" panose="05000000000000000000" pitchFamily="2" charset="2"/>
              </a:rPr>
              <a:t>Predictablity</a:t>
            </a:r>
            <a:endParaRPr lang="en-US" altLang="ko-KR" sz="2400" b="1" kern="0" dirty="0">
              <a:solidFill>
                <a:srgbClr val="FFC000"/>
              </a:solidFill>
              <a:sym typeface="Wingdings" panose="05000000000000000000" pitchFamily="2" charset="2"/>
            </a:endParaRPr>
          </a:p>
          <a:p>
            <a:pPr latinLnBrk="0">
              <a:defRPr/>
            </a:pPr>
            <a:r>
              <a:rPr lang="en-US" altLang="ko-KR" sz="2400" b="1" kern="0" dirty="0">
                <a:solidFill>
                  <a:srgbClr val="FFC000"/>
                </a:solidFill>
                <a:sym typeface="Wingdings" panose="05000000000000000000" pitchFamily="2" charset="2"/>
              </a:rPr>
              <a:t>2. Souvenir Sales data – ARIMA</a:t>
            </a:r>
          </a:p>
          <a:p>
            <a:pPr latinLnBrk="0">
              <a:defRPr/>
            </a:pPr>
            <a:r>
              <a:rPr lang="en-US" altLang="ko-KR" sz="2400" b="1" kern="0" dirty="0">
                <a:solidFill>
                  <a:srgbClr val="FFC000"/>
                </a:solidFill>
                <a:sym typeface="Wingdings" panose="05000000000000000000" pitchFamily="2" charset="2"/>
              </a:rPr>
              <a:t>3. Walmart Sales data – </a:t>
            </a:r>
            <a:r>
              <a:rPr lang="ko-KR" altLang="en-US" sz="2400" b="1" kern="0" dirty="0">
                <a:solidFill>
                  <a:srgbClr val="FFC000"/>
                </a:solidFill>
                <a:sym typeface="Wingdings" panose="05000000000000000000" pitchFamily="2" charset="2"/>
              </a:rPr>
              <a:t>외부 변수 관련</a:t>
            </a:r>
            <a:endParaRPr lang="en-US" altLang="ko-KR" sz="2400" b="1" kern="0" dirty="0">
              <a:solidFill>
                <a:srgbClr val="FFC000"/>
              </a:solidFill>
            </a:endParaRPr>
          </a:p>
        </p:txBody>
      </p:sp>
      <p:pic>
        <p:nvPicPr>
          <p:cNvPr id="3" name="그림 2">
            <a:extLst>
              <a:ext uri="{FF2B5EF4-FFF2-40B4-BE49-F238E27FC236}">
                <a16:creationId xmlns:a16="http://schemas.microsoft.com/office/drawing/2014/main" id="{39C025AB-A28A-40C9-B613-8CD05B588D81}"/>
              </a:ext>
            </a:extLst>
          </p:cNvPr>
          <p:cNvPicPr>
            <a:picLocks noChangeAspect="1"/>
          </p:cNvPicPr>
          <p:nvPr/>
        </p:nvPicPr>
        <p:blipFill>
          <a:blip r:embed="rId2"/>
          <a:stretch>
            <a:fillRect/>
          </a:stretch>
        </p:blipFill>
        <p:spPr>
          <a:xfrm>
            <a:off x="0" y="1844004"/>
            <a:ext cx="6167813" cy="2513046"/>
          </a:xfrm>
          <a:prstGeom prst="rect">
            <a:avLst/>
          </a:prstGeom>
        </p:spPr>
      </p:pic>
    </p:spTree>
    <p:extLst>
      <p:ext uri="{BB962C8B-B14F-4D97-AF65-F5344CB8AC3E}">
        <p14:creationId xmlns:p14="http://schemas.microsoft.com/office/powerpoint/2010/main" val="2033670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54BA1"/>
        </a:solidFill>
        <a:effectLst/>
      </p:bgPr>
    </p:bg>
    <p:spTree>
      <p:nvGrpSpPr>
        <p:cNvPr id="1" name=""/>
        <p:cNvGrpSpPr/>
        <p:nvPr/>
      </p:nvGrpSpPr>
      <p:grpSpPr>
        <a:xfrm>
          <a:off x="0" y="0"/>
          <a:ext cx="0" cy="0"/>
          <a:chOff x="0" y="0"/>
          <a:chExt cx="0" cy="0"/>
        </a:xfrm>
      </p:grpSpPr>
      <p:sp>
        <p:nvSpPr>
          <p:cNvPr id="8" name="직사각형 7"/>
          <p:cNvSpPr/>
          <p:nvPr/>
        </p:nvSpPr>
        <p:spPr>
          <a:xfrm>
            <a:off x="378372" y="415772"/>
            <a:ext cx="1702676" cy="720000"/>
          </a:xfrm>
          <a:prstGeom prst="rect">
            <a:avLst/>
          </a:prstGeom>
          <a:noFill/>
          <a:ln w="19050">
            <a:solidFill>
              <a:srgbClr val="FFC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0">
              <a:defRPr/>
            </a:pPr>
            <a:r>
              <a:rPr lang="en-US" altLang="ko-KR" sz="2800" b="1" kern="0" dirty="0">
                <a:solidFill>
                  <a:srgbClr val="FFC000"/>
                </a:solidFill>
              </a:rPr>
              <a:t>1</a:t>
            </a:r>
            <a:endParaRPr lang="ko-KR" altLang="en-US" sz="2800" b="1" kern="0" dirty="0">
              <a:solidFill>
                <a:srgbClr val="FFC000"/>
              </a:solidFill>
            </a:endParaRPr>
          </a:p>
        </p:txBody>
      </p:sp>
      <p:sp>
        <p:nvSpPr>
          <p:cNvPr id="10" name="직사각형 9"/>
          <p:cNvSpPr/>
          <p:nvPr/>
        </p:nvSpPr>
        <p:spPr>
          <a:xfrm>
            <a:off x="2251559" y="284579"/>
            <a:ext cx="10452538" cy="954107"/>
          </a:xfrm>
          <a:prstGeom prst="rect">
            <a:avLst/>
          </a:prstGeom>
        </p:spPr>
        <p:txBody>
          <a:bodyPr wrap="square">
            <a:spAutoFit/>
          </a:bodyPr>
          <a:lstStyle/>
          <a:p>
            <a:pPr latinLnBrk="0">
              <a:defRPr/>
            </a:pPr>
            <a:r>
              <a:rPr lang="en-US" altLang="ko-KR" sz="3200" b="1" kern="0" dirty="0" err="1">
                <a:solidFill>
                  <a:srgbClr val="FFC000"/>
                </a:solidFill>
              </a:rPr>
              <a:t>Wal-mart</a:t>
            </a:r>
            <a:r>
              <a:rPr lang="en-US" altLang="ko-KR" sz="3200" b="1" kern="0" dirty="0">
                <a:solidFill>
                  <a:srgbClr val="FFC000"/>
                </a:solidFill>
              </a:rPr>
              <a:t> Stock data </a:t>
            </a:r>
            <a:r>
              <a:rPr lang="en-US" altLang="ko-KR" sz="3200" b="1" kern="0" dirty="0">
                <a:solidFill>
                  <a:srgbClr val="FFC000"/>
                </a:solidFill>
                <a:sym typeface="Wingdings" panose="05000000000000000000" pitchFamily="2" charset="2"/>
              </a:rPr>
              <a:t>– </a:t>
            </a:r>
            <a:r>
              <a:rPr lang="en-US" altLang="ko-KR" sz="3200" b="1" kern="0" dirty="0" err="1">
                <a:solidFill>
                  <a:srgbClr val="FFC000"/>
                </a:solidFill>
                <a:sym typeface="Wingdings" panose="05000000000000000000" pitchFamily="2" charset="2"/>
              </a:rPr>
              <a:t>Predictablity</a:t>
            </a:r>
            <a:endParaRPr lang="en-US" altLang="ko-KR" sz="3200" b="1" kern="0" dirty="0">
              <a:solidFill>
                <a:srgbClr val="FFC000"/>
              </a:solidFill>
              <a:sym typeface="Wingdings" panose="05000000000000000000" pitchFamily="2" charset="2"/>
            </a:endParaRPr>
          </a:p>
          <a:p>
            <a:pPr latinLnBrk="0">
              <a:defRPr/>
            </a:pPr>
            <a:r>
              <a:rPr lang="en-US" altLang="ko-KR" sz="2400" b="1" kern="0" dirty="0">
                <a:solidFill>
                  <a:srgbClr val="FFC000"/>
                </a:solidFill>
                <a:sym typeface="Wingdings" panose="05000000000000000000" pitchFamily="2" charset="2"/>
              </a:rPr>
              <a:t>(a) Create  a  time  plot  of  the  differenced  series.</a:t>
            </a:r>
          </a:p>
        </p:txBody>
      </p:sp>
      <p:graphicFrame>
        <p:nvGraphicFramePr>
          <p:cNvPr id="7" name="표 8">
            <a:extLst>
              <a:ext uri="{FF2B5EF4-FFF2-40B4-BE49-F238E27FC236}">
                <a16:creationId xmlns:a16="http://schemas.microsoft.com/office/drawing/2014/main" id="{C6BFB913-AC8E-4EF9-A8DC-8D24B342903A}"/>
              </a:ext>
            </a:extLst>
          </p:cNvPr>
          <p:cNvGraphicFramePr>
            <a:graphicFrameLocks noGrp="1"/>
          </p:cNvGraphicFramePr>
          <p:nvPr>
            <p:extLst>
              <p:ext uri="{D42A27DB-BD31-4B8C-83A1-F6EECF244321}">
                <p14:modId xmlns:p14="http://schemas.microsoft.com/office/powerpoint/2010/main" val="1531911708"/>
              </p:ext>
            </p:extLst>
          </p:nvPr>
        </p:nvGraphicFramePr>
        <p:xfrm>
          <a:off x="7998780" y="1377859"/>
          <a:ext cx="4021585" cy="2382520"/>
        </p:xfrm>
        <a:graphic>
          <a:graphicData uri="http://schemas.openxmlformats.org/drawingml/2006/table">
            <a:tbl>
              <a:tblPr firstRow="1" bandRow="1">
                <a:tableStyleId>{5C22544A-7EE6-4342-B048-85BDC9FD1C3A}</a:tableStyleId>
              </a:tblPr>
              <a:tblGrid>
                <a:gridCol w="4021585">
                  <a:extLst>
                    <a:ext uri="{9D8B030D-6E8A-4147-A177-3AD203B41FA5}">
                      <a16:colId xmlns:a16="http://schemas.microsoft.com/office/drawing/2014/main" val="4093639860"/>
                    </a:ext>
                  </a:extLst>
                </a:gridCol>
              </a:tblGrid>
              <a:tr h="370840">
                <a:tc>
                  <a:txBody>
                    <a:bodyPr/>
                    <a:lstStyle/>
                    <a:p>
                      <a:pPr latinLnBrk="1"/>
                      <a:endParaRPr lang="ko-KR" altLang="en-US"/>
                    </a:p>
                  </a:txBody>
                  <a:tcPr/>
                </a:tc>
                <a:extLst>
                  <a:ext uri="{0D108BD9-81ED-4DB2-BD59-A6C34878D82A}">
                    <a16:rowId xmlns:a16="http://schemas.microsoft.com/office/drawing/2014/main" val="3200778601"/>
                  </a:ext>
                </a:extLst>
              </a:tr>
              <a:tr h="370840">
                <a:tc>
                  <a:txBody>
                    <a:bodyPr/>
                    <a:lstStyle/>
                    <a:p>
                      <a:pPr marL="285750" indent="-285750" latinLnBrk="1">
                        <a:buFont typeface="Arial" panose="020B0604020202020204" pitchFamily="34" charset="0"/>
                        <a:buChar char="•"/>
                      </a:pPr>
                      <a:r>
                        <a:rPr lang="ko-KR" altLang="ko-KR" sz="1800" kern="1200" dirty="0">
                          <a:solidFill>
                            <a:schemeClr val="dk1"/>
                          </a:solidFill>
                          <a:effectLst/>
                          <a:latin typeface="+mn-lt"/>
                          <a:ea typeface="+mn-ea"/>
                          <a:cs typeface="+mn-cs"/>
                        </a:rPr>
                        <a:t>월마트 종가데이터를 </a:t>
                      </a:r>
                      <a:r>
                        <a:rPr lang="en-US" altLang="ko-KR" sz="1800" kern="1200" dirty="0">
                          <a:solidFill>
                            <a:schemeClr val="dk1"/>
                          </a:solidFill>
                          <a:effectLst/>
                          <a:latin typeface="+mn-lt"/>
                          <a:ea typeface="+mn-ea"/>
                          <a:cs typeface="+mn-cs"/>
                        </a:rPr>
                        <a:t>plot</a:t>
                      </a:r>
                      <a:r>
                        <a:rPr lang="ko-KR" altLang="ko-KR" sz="1800" kern="1200" dirty="0">
                          <a:solidFill>
                            <a:schemeClr val="dk1"/>
                          </a:solidFill>
                          <a:effectLst/>
                          <a:latin typeface="+mn-lt"/>
                          <a:ea typeface="+mn-ea"/>
                          <a:cs typeface="+mn-cs"/>
                        </a:rPr>
                        <a:t>을 시</a:t>
                      </a:r>
                      <a:r>
                        <a:rPr lang="ko-KR" altLang="en-US" sz="1800" kern="1200" dirty="0">
                          <a:solidFill>
                            <a:schemeClr val="dk1"/>
                          </a:solidFill>
                          <a:effectLst/>
                          <a:latin typeface="+mn-lt"/>
                          <a:ea typeface="+mn-ea"/>
                          <a:cs typeface="+mn-cs"/>
                        </a:rPr>
                        <a:t>킴</a:t>
                      </a:r>
                      <a:r>
                        <a:rPr lang="en-US" altLang="ko-KR" sz="1800" kern="1200" dirty="0">
                          <a:solidFill>
                            <a:schemeClr val="dk1"/>
                          </a:solidFill>
                          <a:effectLst/>
                          <a:latin typeface="+mn-lt"/>
                          <a:ea typeface="+mn-ea"/>
                          <a:cs typeface="+mn-cs"/>
                        </a:rPr>
                        <a:t>.</a:t>
                      </a:r>
                    </a:p>
                    <a:p>
                      <a:pPr marL="285750" indent="-285750" latinLnBrk="1">
                        <a:buFont typeface="Arial" panose="020B0604020202020204" pitchFamily="34" charset="0"/>
                        <a:buChar char="•"/>
                      </a:pPr>
                      <a:endParaRPr lang="en-US" altLang="ko-KR" sz="1800" kern="1200" dirty="0">
                        <a:solidFill>
                          <a:schemeClr val="dk1"/>
                        </a:solidFill>
                        <a:effectLst/>
                        <a:latin typeface="+mn-lt"/>
                        <a:ea typeface="+mn-ea"/>
                        <a:cs typeface="+mn-cs"/>
                      </a:endParaRPr>
                    </a:p>
                    <a:p>
                      <a:pPr marL="0" indent="0" latinLnBrk="1">
                        <a:buFont typeface="Arial" panose="020B0604020202020204" pitchFamily="34" charset="0"/>
                        <a:buNone/>
                      </a:pPr>
                      <a:endParaRPr lang="en-US" altLang="ko-KR" sz="1800" kern="1200" dirty="0">
                        <a:solidFill>
                          <a:schemeClr val="dk1"/>
                        </a:solidFill>
                        <a:effectLst/>
                        <a:latin typeface="+mn-lt"/>
                        <a:ea typeface="+mn-ea"/>
                        <a:cs typeface="+mn-cs"/>
                      </a:endParaRPr>
                    </a:p>
                    <a:p>
                      <a:pPr marL="285750" indent="-285750" latinLnBrk="1">
                        <a:buFont typeface="Arial" panose="020B0604020202020204" pitchFamily="34" charset="0"/>
                        <a:buChar char="•"/>
                      </a:pPr>
                      <a:r>
                        <a:rPr lang="ko-KR" altLang="ko-KR" sz="1800" kern="1200" dirty="0">
                          <a:solidFill>
                            <a:schemeClr val="dk1"/>
                          </a:solidFill>
                          <a:effectLst/>
                          <a:latin typeface="+mn-lt"/>
                          <a:ea typeface="+mn-ea"/>
                          <a:cs typeface="+mn-cs"/>
                        </a:rPr>
                        <a:t>불규칙하고 일부분 추세가 존재</a:t>
                      </a:r>
                      <a:r>
                        <a:rPr lang="en-US" altLang="ko-KR" sz="1800" kern="1200" dirty="0">
                          <a:solidFill>
                            <a:schemeClr val="dk1"/>
                          </a:solidFill>
                          <a:effectLst/>
                          <a:latin typeface="+mn-lt"/>
                          <a:ea typeface="+mn-ea"/>
                          <a:cs typeface="+mn-cs"/>
                        </a:rPr>
                        <a:t>. </a:t>
                      </a:r>
                      <a:r>
                        <a:rPr lang="ko-KR" altLang="ko-KR" sz="1800" kern="1200" dirty="0">
                          <a:solidFill>
                            <a:schemeClr val="dk1"/>
                          </a:solidFill>
                          <a:effectLst/>
                          <a:latin typeface="+mn-lt"/>
                          <a:ea typeface="+mn-ea"/>
                          <a:cs typeface="+mn-cs"/>
                        </a:rPr>
                        <a:t>대부분의 주식 데이터가 추세적으로 상향</a:t>
                      </a:r>
                      <a:r>
                        <a:rPr lang="ko-KR" altLang="en-US" sz="1800" kern="1200" dirty="0">
                          <a:solidFill>
                            <a:schemeClr val="dk1"/>
                          </a:solidFill>
                          <a:effectLst/>
                          <a:latin typeface="+mn-lt"/>
                          <a:ea typeface="+mn-ea"/>
                          <a:cs typeface="+mn-cs"/>
                        </a:rPr>
                        <a:t>인데 </a:t>
                      </a:r>
                      <a:r>
                        <a:rPr lang="en-US" altLang="ko-KR" sz="1800" kern="1200" dirty="0">
                          <a:solidFill>
                            <a:schemeClr val="dk1"/>
                          </a:solidFill>
                          <a:effectLst/>
                          <a:latin typeface="+mn-lt"/>
                          <a:ea typeface="+mn-ea"/>
                          <a:cs typeface="+mn-cs"/>
                        </a:rPr>
                        <a:t>Walmart Stock </a:t>
                      </a:r>
                      <a:r>
                        <a:rPr lang="ko-KR" altLang="en-US" sz="1800" kern="1200" dirty="0">
                          <a:solidFill>
                            <a:schemeClr val="dk1"/>
                          </a:solidFill>
                          <a:effectLst/>
                          <a:latin typeface="+mn-lt"/>
                          <a:ea typeface="+mn-ea"/>
                          <a:cs typeface="+mn-cs"/>
                        </a:rPr>
                        <a:t>데이터도 같은 추세</a:t>
                      </a:r>
                      <a:r>
                        <a:rPr lang="en-US" altLang="ko-KR" sz="1800" kern="1200" dirty="0">
                          <a:solidFill>
                            <a:schemeClr val="dk1"/>
                          </a:solidFill>
                          <a:effectLst/>
                          <a:latin typeface="+mn-lt"/>
                          <a:ea typeface="+mn-ea"/>
                          <a:cs typeface="+mn-cs"/>
                        </a:rPr>
                        <a:t>.</a:t>
                      </a:r>
                      <a:endParaRPr lang="ko-KR" altLang="ko-KR" sz="1800" kern="1200" dirty="0">
                        <a:solidFill>
                          <a:schemeClr val="dk1"/>
                        </a:solidFill>
                        <a:effectLst/>
                        <a:latin typeface="+mn-lt"/>
                        <a:ea typeface="+mn-ea"/>
                        <a:cs typeface="+mn-cs"/>
                      </a:endParaRPr>
                    </a:p>
                  </a:txBody>
                  <a:tcPr/>
                </a:tc>
                <a:extLst>
                  <a:ext uri="{0D108BD9-81ED-4DB2-BD59-A6C34878D82A}">
                    <a16:rowId xmlns:a16="http://schemas.microsoft.com/office/drawing/2014/main" val="398258525"/>
                  </a:ext>
                </a:extLst>
              </a:tr>
            </a:tbl>
          </a:graphicData>
        </a:graphic>
      </p:graphicFrame>
      <p:pic>
        <p:nvPicPr>
          <p:cNvPr id="4" name="그림 3">
            <a:extLst>
              <a:ext uri="{FF2B5EF4-FFF2-40B4-BE49-F238E27FC236}">
                <a16:creationId xmlns:a16="http://schemas.microsoft.com/office/drawing/2014/main" id="{73D389C7-F385-4447-A0D7-C7543C9E9A98}"/>
              </a:ext>
            </a:extLst>
          </p:cNvPr>
          <p:cNvPicPr>
            <a:picLocks noChangeAspect="1"/>
          </p:cNvPicPr>
          <p:nvPr/>
        </p:nvPicPr>
        <p:blipFill>
          <a:blip r:embed="rId2"/>
          <a:stretch>
            <a:fillRect/>
          </a:stretch>
        </p:blipFill>
        <p:spPr>
          <a:xfrm>
            <a:off x="498220" y="1377859"/>
            <a:ext cx="7182852" cy="4782217"/>
          </a:xfrm>
          <a:prstGeom prst="rect">
            <a:avLst/>
          </a:prstGeom>
        </p:spPr>
      </p:pic>
    </p:spTree>
    <p:extLst>
      <p:ext uri="{BB962C8B-B14F-4D97-AF65-F5344CB8AC3E}">
        <p14:creationId xmlns:p14="http://schemas.microsoft.com/office/powerpoint/2010/main" val="817811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54BA1"/>
        </a:solidFill>
        <a:effectLst/>
      </p:bgPr>
    </p:bg>
    <p:spTree>
      <p:nvGrpSpPr>
        <p:cNvPr id="1" name=""/>
        <p:cNvGrpSpPr/>
        <p:nvPr/>
      </p:nvGrpSpPr>
      <p:grpSpPr>
        <a:xfrm>
          <a:off x="0" y="0"/>
          <a:ext cx="0" cy="0"/>
          <a:chOff x="0" y="0"/>
          <a:chExt cx="0" cy="0"/>
        </a:xfrm>
      </p:grpSpPr>
      <p:sp>
        <p:nvSpPr>
          <p:cNvPr id="8" name="직사각형 7"/>
          <p:cNvSpPr/>
          <p:nvPr/>
        </p:nvSpPr>
        <p:spPr>
          <a:xfrm>
            <a:off x="378372" y="415772"/>
            <a:ext cx="1702676" cy="720000"/>
          </a:xfrm>
          <a:prstGeom prst="rect">
            <a:avLst/>
          </a:prstGeom>
          <a:noFill/>
          <a:ln w="19050">
            <a:solidFill>
              <a:srgbClr val="FFC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rPr>
              <a:t>1</a:t>
            </a:r>
            <a:endParaRPr kumimoji="0" lang="ko-KR" altLang="en-US"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endParaRPr>
          </a:p>
        </p:txBody>
      </p:sp>
      <p:sp>
        <p:nvSpPr>
          <p:cNvPr id="10" name="직사각형 9"/>
          <p:cNvSpPr/>
          <p:nvPr/>
        </p:nvSpPr>
        <p:spPr>
          <a:xfrm>
            <a:off x="2251559" y="284579"/>
            <a:ext cx="10452538" cy="95410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3200" b="1" i="0" u="none" strike="noStrike" kern="0" cap="none" spc="0" normalizeH="0" baseline="0" noProof="0" dirty="0" err="1">
                <a:ln>
                  <a:noFill/>
                </a:ln>
                <a:solidFill>
                  <a:srgbClr val="FFC000"/>
                </a:solidFill>
                <a:effectLst/>
                <a:uLnTx/>
                <a:uFillTx/>
                <a:latin typeface="맑은 고딕" panose="020F0502020204030204"/>
                <a:ea typeface="맑은 고딕" panose="020B0503020000020004" pitchFamily="50" charset="-127"/>
                <a:cs typeface="+mn-cs"/>
              </a:rPr>
              <a:t>Wal-mart</a:t>
            </a:r>
            <a:r>
              <a:rPr kumimoji="0" lang="en-US" altLang="ko-KR" sz="32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rPr>
              <a:t> Stock data </a:t>
            </a:r>
            <a:r>
              <a:rPr kumimoji="0" lang="en-US" altLang="ko-KR" sz="32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 </a:t>
            </a:r>
            <a:r>
              <a:rPr kumimoji="0" lang="en-US" altLang="ko-KR" sz="3200" b="1" i="0" u="none" strike="noStrike" kern="0" cap="none" spc="0" normalizeH="0" baseline="0" noProof="0" dirty="0" err="1">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Predictablity</a:t>
            </a:r>
            <a:endParaRPr kumimoji="0" lang="en-US" altLang="ko-KR" sz="32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24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(a) Create  a  time  plot  of  the  differenced  series.</a:t>
            </a:r>
          </a:p>
        </p:txBody>
      </p:sp>
      <p:graphicFrame>
        <p:nvGraphicFramePr>
          <p:cNvPr id="7" name="표 8">
            <a:extLst>
              <a:ext uri="{FF2B5EF4-FFF2-40B4-BE49-F238E27FC236}">
                <a16:creationId xmlns:a16="http://schemas.microsoft.com/office/drawing/2014/main" id="{C6BFB913-AC8E-4EF9-A8DC-8D24B342903A}"/>
              </a:ext>
            </a:extLst>
          </p:cNvPr>
          <p:cNvGraphicFramePr>
            <a:graphicFrameLocks noGrp="1"/>
          </p:cNvGraphicFramePr>
          <p:nvPr>
            <p:extLst>
              <p:ext uri="{D42A27DB-BD31-4B8C-83A1-F6EECF244321}">
                <p14:modId xmlns:p14="http://schemas.microsoft.com/office/powerpoint/2010/main" val="2623508967"/>
              </p:ext>
            </p:extLst>
          </p:nvPr>
        </p:nvGraphicFramePr>
        <p:xfrm>
          <a:off x="6196614" y="1285294"/>
          <a:ext cx="4376692" cy="3479800"/>
        </p:xfrm>
        <a:graphic>
          <a:graphicData uri="http://schemas.openxmlformats.org/drawingml/2006/table">
            <a:tbl>
              <a:tblPr firstRow="1" bandRow="1">
                <a:tableStyleId>{5C22544A-7EE6-4342-B048-85BDC9FD1C3A}</a:tableStyleId>
              </a:tblPr>
              <a:tblGrid>
                <a:gridCol w="4376692">
                  <a:extLst>
                    <a:ext uri="{9D8B030D-6E8A-4147-A177-3AD203B41FA5}">
                      <a16:colId xmlns:a16="http://schemas.microsoft.com/office/drawing/2014/main" val="4093639860"/>
                    </a:ext>
                  </a:extLst>
                </a:gridCol>
              </a:tblGrid>
              <a:tr h="370840">
                <a:tc>
                  <a:txBody>
                    <a:bodyPr/>
                    <a:lstStyle/>
                    <a:p>
                      <a:pPr latinLnBrk="1"/>
                      <a:endParaRPr lang="ko-KR" altLang="en-US"/>
                    </a:p>
                  </a:txBody>
                  <a:tcPr/>
                </a:tc>
                <a:extLst>
                  <a:ext uri="{0D108BD9-81ED-4DB2-BD59-A6C34878D82A}">
                    <a16:rowId xmlns:a16="http://schemas.microsoft.com/office/drawing/2014/main" val="3200778601"/>
                  </a:ext>
                </a:extLst>
              </a:tr>
              <a:tr h="370840">
                <a:tc>
                  <a:txBody>
                    <a:bodyPr/>
                    <a:lstStyle/>
                    <a:p>
                      <a:pPr marL="285750" indent="-285750" latinLnBrk="1">
                        <a:buFont typeface="Arial" panose="020B0604020202020204" pitchFamily="34" charset="0"/>
                        <a:buChar char="•"/>
                      </a:pPr>
                      <a:r>
                        <a:rPr lang="en-US" altLang="ko-KR" sz="1800" kern="1200" dirty="0" err="1">
                          <a:solidFill>
                            <a:schemeClr val="dk1"/>
                          </a:solidFill>
                          <a:effectLst/>
                          <a:latin typeface="+mn-lt"/>
                          <a:ea typeface="+mn-ea"/>
                          <a:cs typeface="+mn-cs"/>
                        </a:rPr>
                        <a:t>WalMart</a:t>
                      </a:r>
                      <a:r>
                        <a:rPr lang="en-US" altLang="ko-KR" sz="1800" kern="1200" dirty="0">
                          <a:solidFill>
                            <a:schemeClr val="dk1"/>
                          </a:solidFill>
                          <a:effectLst/>
                          <a:latin typeface="+mn-lt"/>
                          <a:ea typeface="+mn-ea"/>
                          <a:cs typeface="+mn-cs"/>
                        </a:rPr>
                        <a:t> Stock </a:t>
                      </a:r>
                      <a:r>
                        <a:rPr lang="ko-KR" altLang="en-US" sz="1800" kern="1200" dirty="0">
                          <a:solidFill>
                            <a:schemeClr val="dk1"/>
                          </a:solidFill>
                          <a:effectLst/>
                          <a:latin typeface="+mn-lt"/>
                          <a:ea typeface="+mn-ea"/>
                          <a:cs typeface="+mn-cs"/>
                        </a:rPr>
                        <a:t>데이터의 </a:t>
                      </a:r>
                      <a:r>
                        <a:rPr lang="en-US" altLang="ko-KR" sz="1800" kern="1200" dirty="0">
                          <a:solidFill>
                            <a:schemeClr val="dk1"/>
                          </a:solidFill>
                          <a:effectLst/>
                          <a:latin typeface="+mn-lt"/>
                          <a:ea typeface="+mn-ea"/>
                          <a:cs typeface="+mn-cs"/>
                        </a:rPr>
                        <a:t>ACF</a:t>
                      </a:r>
                      <a:r>
                        <a:rPr lang="ko-KR" altLang="ko-KR" sz="1800" kern="1200" dirty="0">
                          <a:solidFill>
                            <a:schemeClr val="dk1"/>
                          </a:solidFill>
                          <a:effectLst/>
                          <a:latin typeface="+mn-lt"/>
                          <a:ea typeface="+mn-ea"/>
                          <a:cs typeface="+mn-cs"/>
                        </a:rPr>
                        <a:t>가 느리게 감소하</a:t>
                      </a:r>
                      <a:r>
                        <a:rPr lang="ko-KR" altLang="en-US" sz="1800" kern="1200" dirty="0">
                          <a:solidFill>
                            <a:schemeClr val="dk1"/>
                          </a:solidFill>
                          <a:effectLst/>
                          <a:latin typeface="+mn-lt"/>
                          <a:ea typeface="+mn-ea"/>
                          <a:cs typeface="+mn-cs"/>
                        </a:rPr>
                        <a:t>는 것으로 보아</a:t>
                      </a:r>
                      <a:r>
                        <a:rPr lang="ko-KR" altLang="ko-KR" sz="1800" kern="1200" dirty="0">
                          <a:solidFill>
                            <a:schemeClr val="dk1"/>
                          </a:solidFill>
                          <a:effectLst/>
                          <a:latin typeface="+mn-lt"/>
                          <a:ea typeface="+mn-ea"/>
                          <a:cs typeface="+mn-cs"/>
                        </a:rPr>
                        <a:t> 비정상 데이터인 것을 알 수가 있</a:t>
                      </a:r>
                      <a:r>
                        <a:rPr lang="ko-KR" altLang="en-US" sz="1800" kern="1200" dirty="0">
                          <a:solidFill>
                            <a:schemeClr val="dk1"/>
                          </a:solidFill>
                          <a:effectLst/>
                          <a:latin typeface="+mn-lt"/>
                          <a:ea typeface="+mn-ea"/>
                          <a:cs typeface="+mn-cs"/>
                        </a:rPr>
                        <a:t>음</a:t>
                      </a:r>
                      <a:r>
                        <a:rPr lang="en-US" altLang="ko-KR" sz="1800" kern="1200" dirty="0">
                          <a:solidFill>
                            <a:schemeClr val="dk1"/>
                          </a:solidFill>
                          <a:effectLst/>
                          <a:latin typeface="+mn-lt"/>
                          <a:ea typeface="+mn-ea"/>
                          <a:cs typeface="+mn-cs"/>
                        </a:rPr>
                        <a:t>.</a:t>
                      </a:r>
                    </a:p>
                    <a:p>
                      <a:pPr marL="285750" indent="-285750" latinLnBrk="1">
                        <a:buFont typeface="Arial" panose="020B0604020202020204" pitchFamily="34" charset="0"/>
                        <a:buChar char="•"/>
                      </a:pPr>
                      <a:r>
                        <a:rPr lang="ko-KR" altLang="ko-KR" sz="1800" kern="1200" dirty="0">
                          <a:solidFill>
                            <a:schemeClr val="dk1"/>
                          </a:solidFill>
                          <a:effectLst/>
                          <a:latin typeface="+mn-lt"/>
                          <a:ea typeface="+mn-ea"/>
                          <a:cs typeface="+mn-cs"/>
                        </a:rPr>
                        <a:t>정상데이터로 만들기 위해서 </a:t>
                      </a:r>
                      <a:r>
                        <a:rPr lang="ko-KR" altLang="ko-KR" sz="1800" kern="1200" dirty="0" err="1">
                          <a:solidFill>
                            <a:schemeClr val="dk1"/>
                          </a:solidFill>
                          <a:effectLst/>
                          <a:latin typeface="+mn-lt"/>
                          <a:ea typeface="+mn-ea"/>
                          <a:cs typeface="+mn-cs"/>
                        </a:rPr>
                        <a:t>차분한것의</a:t>
                      </a:r>
                      <a:r>
                        <a:rPr lang="ko-KR" altLang="ko-KR" sz="1800" kern="1200" dirty="0">
                          <a:solidFill>
                            <a:schemeClr val="dk1"/>
                          </a:solidFill>
                          <a:effectLst/>
                          <a:latin typeface="+mn-lt"/>
                          <a:ea typeface="+mn-ea"/>
                          <a:cs typeface="+mn-cs"/>
                        </a:rPr>
                        <a:t> </a:t>
                      </a:r>
                      <a:r>
                        <a:rPr lang="en-US" altLang="ko-KR" sz="1800" kern="1200" dirty="0">
                          <a:solidFill>
                            <a:schemeClr val="dk1"/>
                          </a:solidFill>
                          <a:effectLst/>
                          <a:latin typeface="+mn-lt"/>
                          <a:ea typeface="+mn-ea"/>
                          <a:cs typeface="+mn-cs"/>
                        </a:rPr>
                        <a:t>ACF</a:t>
                      </a:r>
                      <a:r>
                        <a:rPr lang="ko-KR" altLang="ko-KR" sz="1800" kern="1200" dirty="0">
                          <a:solidFill>
                            <a:schemeClr val="dk1"/>
                          </a:solidFill>
                          <a:effectLst/>
                          <a:latin typeface="+mn-lt"/>
                          <a:ea typeface="+mn-ea"/>
                          <a:cs typeface="+mn-cs"/>
                        </a:rPr>
                        <a:t>를 보면 값들이 작아서 관계가 없다고 봐도 </a:t>
                      </a:r>
                      <a:r>
                        <a:rPr lang="ko-KR" altLang="en-US" sz="1800" kern="1200" dirty="0">
                          <a:solidFill>
                            <a:schemeClr val="dk1"/>
                          </a:solidFill>
                          <a:effectLst/>
                          <a:latin typeface="+mn-lt"/>
                          <a:ea typeface="+mn-ea"/>
                          <a:cs typeface="+mn-cs"/>
                        </a:rPr>
                        <a:t>되고 무</a:t>
                      </a:r>
                      <a:r>
                        <a:rPr lang="ko-KR" altLang="ko-KR" sz="1800" kern="1200" dirty="0">
                          <a:solidFill>
                            <a:schemeClr val="dk1"/>
                          </a:solidFill>
                          <a:effectLst/>
                          <a:latin typeface="+mn-lt"/>
                          <a:ea typeface="+mn-ea"/>
                          <a:cs typeface="+mn-cs"/>
                        </a:rPr>
                        <a:t>의미한 데이터</a:t>
                      </a:r>
                      <a:r>
                        <a:rPr lang="ko-KR" altLang="en-US" sz="1800" kern="1200" dirty="0">
                          <a:solidFill>
                            <a:schemeClr val="dk1"/>
                          </a:solidFill>
                          <a:effectLst/>
                          <a:latin typeface="+mn-lt"/>
                          <a:ea typeface="+mn-ea"/>
                          <a:cs typeface="+mn-cs"/>
                        </a:rPr>
                        <a:t>이기에</a:t>
                      </a:r>
                      <a:r>
                        <a:rPr lang="en-US" altLang="ko-KR" sz="1800" kern="1200" dirty="0">
                          <a:solidFill>
                            <a:schemeClr val="dk1"/>
                          </a:solidFill>
                          <a:effectLst/>
                          <a:latin typeface="+mn-lt"/>
                          <a:ea typeface="+mn-ea"/>
                          <a:cs typeface="+mn-cs"/>
                        </a:rPr>
                        <a:t> </a:t>
                      </a:r>
                      <a:r>
                        <a:rPr lang="ko-KR" altLang="ko-KR" sz="1800" kern="1200" dirty="0">
                          <a:solidFill>
                            <a:schemeClr val="dk1"/>
                          </a:solidFill>
                          <a:effectLst/>
                          <a:latin typeface="+mn-lt"/>
                          <a:ea typeface="+mn-ea"/>
                          <a:cs typeface="+mn-cs"/>
                        </a:rPr>
                        <a:t>정상데이터</a:t>
                      </a:r>
                      <a:r>
                        <a:rPr lang="ko-KR" altLang="en-US" sz="1800" kern="1200" dirty="0">
                          <a:solidFill>
                            <a:schemeClr val="dk1"/>
                          </a:solidFill>
                          <a:effectLst/>
                          <a:latin typeface="+mn-lt"/>
                          <a:ea typeface="+mn-ea"/>
                          <a:cs typeface="+mn-cs"/>
                        </a:rPr>
                        <a:t>임</a:t>
                      </a:r>
                      <a:r>
                        <a:rPr lang="en-US" altLang="ko-KR" sz="1800" kern="1200" dirty="0">
                          <a:solidFill>
                            <a:schemeClr val="dk1"/>
                          </a:solidFill>
                          <a:effectLst/>
                          <a:latin typeface="+mn-lt"/>
                          <a:ea typeface="+mn-ea"/>
                          <a:cs typeface="+mn-cs"/>
                        </a:rPr>
                        <a:t>.</a:t>
                      </a:r>
                    </a:p>
                    <a:p>
                      <a:pPr marL="285750" indent="-285750" latinLnBrk="1">
                        <a:buFont typeface="Arial" panose="020B0604020202020204" pitchFamily="34" charset="0"/>
                        <a:buChar char="•"/>
                      </a:pPr>
                      <a:r>
                        <a:rPr lang="en-US" altLang="ko-KR" sz="1800" kern="1200" dirty="0" err="1">
                          <a:solidFill>
                            <a:schemeClr val="dk1"/>
                          </a:solidFill>
                          <a:effectLst/>
                          <a:latin typeface="+mn-lt"/>
                          <a:ea typeface="+mn-ea"/>
                          <a:cs typeface="+mn-cs"/>
                        </a:rPr>
                        <a:t>Correation</a:t>
                      </a:r>
                      <a:r>
                        <a:rPr lang="ko-KR" altLang="ko-KR" sz="1800" kern="1200" dirty="0">
                          <a:solidFill>
                            <a:schemeClr val="dk1"/>
                          </a:solidFill>
                          <a:effectLst/>
                          <a:latin typeface="+mn-lt"/>
                          <a:ea typeface="+mn-ea"/>
                          <a:cs typeface="+mn-cs"/>
                        </a:rPr>
                        <a:t>이 없기 때문에 백색잡음이라고 볼</a:t>
                      </a:r>
                      <a:r>
                        <a:rPr lang="en-US" altLang="ko-KR" sz="1800" kern="1200" dirty="0">
                          <a:solidFill>
                            <a:schemeClr val="dk1"/>
                          </a:solidFill>
                          <a:effectLst/>
                          <a:latin typeface="+mn-lt"/>
                          <a:ea typeface="+mn-ea"/>
                          <a:cs typeface="+mn-cs"/>
                        </a:rPr>
                        <a:t> </a:t>
                      </a:r>
                      <a:r>
                        <a:rPr lang="ko-KR" altLang="ko-KR" sz="1800" kern="1200" dirty="0">
                          <a:solidFill>
                            <a:schemeClr val="dk1"/>
                          </a:solidFill>
                          <a:effectLst/>
                          <a:latin typeface="+mn-lt"/>
                          <a:ea typeface="+mn-ea"/>
                          <a:cs typeface="+mn-cs"/>
                        </a:rPr>
                        <a:t>수 있고</a:t>
                      </a:r>
                      <a:r>
                        <a:rPr lang="en-US" altLang="ko-KR" sz="1800" kern="1200" dirty="0">
                          <a:solidFill>
                            <a:schemeClr val="dk1"/>
                          </a:solidFill>
                          <a:effectLst/>
                          <a:latin typeface="+mn-lt"/>
                          <a:ea typeface="+mn-ea"/>
                          <a:cs typeface="+mn-cs"/>
                        </a:rPr>
                        <a:t> </a:t>
                      </a:r>
                      <a:r>
                        <a:rPr lang="ko-KR" altLang="ko-KR" sz="1800" kern="1200" dirty="0">
                          <a:solidFill>
                            <a:schemeClr val="dk1"/>
                          </a:solidFill>
                          <a:effectLst/>
                          <a:latin typeface="+mn-lt"/>
                          <a:ea typeface="+mn-ea"/>
                          <a:cs typeface="+mn-cs"/>
                        </a:rPr>
                        <a:t>백색잡음이 나오면 예측을 더 해볼</a:t>
                      </a:r>
                      <a:r>
                        <a:rPr lang="en-US" altLang="ko-KR" sz="1800" kern="1200" dirty="0">
                          <a:solidFill>
                            <a:schemeClr val="dk1"/>
                          </a:solidFill>
                          <a:effectLst/>
                          <a:latin typeface="+mn-lt"/>
                          <a:ea typeface="+mn-ea"/>
                          <a:cs typeface="+mn-cs"/>
                        </a:rPr>
                        <a:t> </a:t>
                      </a:r>
                      <a:r>
                        <a:rPr lang="ko-KR" altLang="ko-KR" sz="1800" kern="1200" dirty="0">
                          <a:solidFill>
                            <a:schemeClr val="dk1"/>
                          </a:solidFill>
                          <a:effectLst/>
                          <a:latin typeface="+mn-lt"/>
                          <a:ea typeface="+mn-ea"/>
                          <a:cs typeface="+mn-cs"/>
                        </a:rPr>
                        <a:t>수가 없다는 뜻</a:t>
                      </a:r>
                      <a:r>
                        <a:rPr lang="en-US" altLang="ko-KR" sz="1800" kern="1200" dirty="0">
                          <a:solidFill>
                            <a:schemeClr val="dk1"/>
                          </a:solidFill>
                          <a:effectLst/>
                          <a:latin typeface="+mn-lt"/>
                          <a:ea typeface="+mn-ea"/>
                          <a:cs typeface="+mn-cs"/>
                        </a:rPr>
                        <a:t> </a:t>
                      </a:r>
                      <a:r>
                        <a:rPr lang="ko-KR" altLang="en-US" sz="1800" kern="1200" dirty="0">
                          <a:solidFill>
                            <a:schemeClr val="dk1"/>
                          </a:solidFill>
                          <a:effectLst/>
                          <a:latin typeface="+mn-lt"/>
                          <a:ea typeface="+mn-ea"/>
                          <a:cs typeface="+mn-cs"/>
                        </a:rPr>
                        <a:t>임</a:t>
                      </a:r>
                      <a:r>
                        <a:rPr lang="en-US" altLang="ko-KR" sz="1800" kern="1200" dirty="0">
                          <a:solidFill>
                            <a:schemeClr val="dk1"/>
                          </a:solidFill>
                          <a:effectLst/>
                          <a:latin typeface="+mn-lt"/>
                          <a:ea typeface="+mn-ea"/>
                          <a:cs typeface="+mn-cs"/>
                        </a:rPr>
                        <a:t>.</a:t>
                      </a:r>
                      <a:endParaRPr lang="ko-KR" altLang="ko-KR" sz="1800" kern="1200" dirty="0">
                        <a:solidFill>
                          <a:schemeClr val="dk1"/>
                        </a:solidFill>
                        <a:effectLst/>
                        <a:latin typeface="+mn-lt"/>
                        <a:ea typeface="+mn-ea"/>
                        <a:cs typeface="+mn-cs"/>
                      </a:endParaRPr>
                    </a:p>
                    <a:p>
                      <a:pPr marL="285750" indent="-285750" latinLnBrk="1">
                        <a:buFont typeface="Arial" panose="020B0604020202020204" pitchFamily="34" charset="0"/>
                        <a:buChar char="•"/>
                      </a:pPr>
                      <a:endParaRPr lang="ko-KR" altLang="ko-KR" sz="1800" kern="1200" dirty="0">
                        <a:solidFill>
                          <a:schemeClr val="dk1"/>
                        </a:solidFill>
                        <a:effectLst/>
                        <a:latin typeface="+mn-lt"/>
                        <a:ea typeface="+mn-ea"/>
                        <a:cs typeface="+mn-cs"/>
                      </a:endParaRPr>
                    </a:p>
                  </a:txBody>
                  <a:tcPr/>
                </a:tc>
                <a:extLst>
                  <a:ext uri="{0D108BD9-81ED-4DB2-BD59-A6C34878D82A}">
                    <a16:rowId xmlns:a16="http://schemas.microsoft.com/office/drawing/2014/main" val="398258525"/>
                  </a:ext>
                </a:extLst>
              </a:tr>
            </a:tbl>
          </a:graphicData>
        </a:graphic>
      </p:graphicFrame>
      <p:pic>
        <p:nvPicPr>
          <p:cNvPr id="3" name="그림 2">
            <a:extLst>
              <a:ext uri="{FF2B5EF4-FFF2-40B4-BE49-F238E27FC236}">
                <a16:creationId xmlns:a16="http://schemas.microsoft.com/office/drawing/2014/main" id="{C8B4C6BE-2B5D-446D-BA37-F168855E1A9D}"/>
              </a:ext>
            </a:extLst>
          </p:cNvPr>
          <p:cNvPicPr>
            <a:picLocks noChangeAspect="1"/>
          </p:cNvPicPr>
          <p:nvPr/>
        </p:nvPicPr>
        <p:blipFill>
          <a:blip r:embed="rId2"/>
          <a:stretch>
            <a:fillRect/>
          </a:stretch>
        </p:blipFill>
        <p:spPr>
          <a:xfrm>
            <a:off x="171633" y="1285294"/>
            <a:ext cx="5447932" cy="2718535"/>
          </a:xfrm>
          <a:prstGeom prst="rect">
            <a:avLst/>
          </a:prstGeom>
        </p:spPr>
      </p:pic>
      <p:pic>
        <p:nvPicPr>
          <p:cNvPr id="6" name="그림 5">
            <a:extLst>
              <a:ext uri="{FF2B5EF4-FFF2-40B4-BE49-F238E27FC236}">
                <a16:creationId xmlns:a16="http://schemas.microsoft.com/office/drawing/2014/main" id="{854C41A6-CABB-4A10-918E-3808BC0185B7}"/>
              </a:ext>
            </a:extLst>
          </p:cNvPr>
          <p:cNvPicPr>
            <a:picLocks noChangeAspect="1"/>
          </p:cNvPicPr>
          <p:nvPr/>
        </p:nvPicPr>
        <p:blipFill>
          <a:blip r:embed="rId3"/>
          <a:stretch>
            <a:fillRect/>
          </a:stretch>
        </p:blipFill>
        <p:spPr>
          <a:xfrm>
            <a:off x="171633" y="4003829"/>
            <a:ext cx="5447931" cy="2819275"/>
          </a:xfrm>
          <a:prstGeom prst="rect">
            <a:avLst/>
          </a:prstGeom>
        </p:spPr>
      </p:pic>
    </p:spTree>
    <p:extLst>
      <p:ext uri="{BB962C8B-B14F-4D97-AF65-F5344CB8AC3E}">
        <p14:creationId xmlns:p14="http://schemas.microsoft.com/office/powerpoint/2010/main" val="1547465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54BA1"/>
        </a:solidFill>
        <a:effectLst/>
      </p:bgPr>
    </p:bg>
    <p:spTree>
      <p:nvGrpSpPr>
        <p:cNvPr id="1" name=""/>
        <p:cNvGrpSpPr/>
        <p:nvPr/>
      </p:nvGrpSpPr>
      <p:grpSpPr>
        <a:xfrm>
          <a:off x="0" y="0"/>
          <a:ext cx="0" cy="0"/>
          <a:chOff x="0" y="0"/>
          <a:chExt cx="0" cy="0"/>
        </a:xfrm>
      </p:grpSpPr>
      <p:sp>
        <p:nvSpPr>
          <p:cNvPr id="8" name="직사각형 7"/>
          <p:cNvSpPr/>
          <p:nvPr/>
        </p:nvSpPr>
        <p:spPr>
          <a:xfrm>
            <a:off x="378372" y="415772"/>
            <a:ext cx="1702676" cy="720000"/>
          </a:xfrm>
          <a:prstGeom prst="rect">
            <a:avLst/>
          </a:prstGeom>
          <a:noFill/>
          <a:ln w="19050">
            <a:solidFill>
              <a:srgbClr val="FFC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rPr>
              <a:t>1</a:t>
            </a:r>
            <a:endParaRPr kumimoji="0" lang="ko-KR" altLang="en-US"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endParaRPr>
          </a:p>
        </p:txBody>
      </p:sp>
      <p:graphicFrame>
        <p:nvGraphicFramePr>
          <p:cNvPr id="7" name="표 8">
            <a:extLst>
              <a:ext uri="{FF2B5EF4-FFF2-40B4-BE49-F238E27FC236}">
                <a16:creationId xmlns:a16="http://schemas.microsoft.com/office/drawing/2014/main" id="{C6BFB913-AC8E-4EF9-A8DC-8D24B342903A}"/>
              </a:ext>
            </a:extLst>
          </p:cNvPr>
          <p:cNvGraphicFramePr>
            <a:graphicFrameLocks noGrp="1"/>
          </p:cNvGraphicFramePr>
          <p:nvPr>
            <p:extLst>
              <p:ext uri="{D42A27DB-BD31-4B8C-83A1-F6EECF244321}">
                <p14:modId xmlns:p14="http://schemas.microsoft.com/office/powerpoint/2010/main" val="4135129838"/>
              </p:ext>
            </p:extLst>
          </p:nvPr>
        </p:nvGraphicFramePr>
        <p:xfrm>
          <a:off x="7998780" y="1377859"/>
          <a:ext cx="4021585" cy="1010920"/>
        </p:xfrm>
        <a:graphic>
          <a:graphicData uri="http://schemas.openxmlformats.org/drawingml/2006/table">
            <a:tbl>
              <a:tblPr firstRow="1" bandRow="1">
                <a:tableStyleId>{5C22544A-7EE6-4342-B048-85BDC9FD1C3A}</a:tableStyleId>
              </a:tblPr>
              <a:tblGrid>
                <a:gridCol w="4021585">
                  <a:extLst>
                    <a:ext uri="{9D8B030D-6E8A-4147-A177-3AD203B41FA5}">
                      <a16:colId xmlns:a16="http://schemas.microsoft.com/office/drawing/2014/main" val="4093639860"/>
                    </a:ext>
                  </a:extLst>
                </a:gridCol>
              </a:tblGrid>
              <a:tr h="370840">
                <a:tc>
                  <a:txBody>
                    <a:bodyPr/>
                    <a:lstStyle/>
                    <a:p>
                      <a:pPr latinLnBrk="1"/>
                      <a:endParaRPr lang="ko-KR" altLang="en-US"/>
                    </a:p>
                  </a:txBody>
                  <a:tcPr/>
                </a:tc>
                <a:extLst>
                  <a:ext uri="{0D108BD9-81ED-4DB2-BD59-A6C34878D82A}">
                    <a16:rowId xmlns:a16="http://schemas.microsoft.com/office/drawing/2014/main" val="3200778601"/>
                  </a:ext>
                </a:extLst>
              </a:tr>
              <a:tr h="370840">
                <a:tc>
                  <a:txBody>
                    <a:bodyPr/>
                    <a:lstStyle/>
                    <a:p>
                      <a:pPr marL="285750" indent="-285750" latinLnBrk="1">
                        <a:buFont typeface="Arial" panose="020B0604020202020204" pitchFamily="34" charset="0"/>
                        <a:buChar char="•"/>
                      </a:pPr>
                      <a:r>
                        <a:rPr lang="ko-KR" altLang="ko-KR" sz="1800" kern="1200" dirty="0">
                          <a:solidFill>
                            <a:schemeClr val="dk1"/>
                          </a:solidFill>
                          <a:effectLst/>
                          <a:latin typeface="+mn-lt"/>
                          <a:ea typeface="+mn-ea"/>
                          <a:cs typeface="+mn-cs"/>
                        </a:rPr>
                        <a:t>월마트 </a:t>
                      </a:r>
                      <a:r>
                        <a:rPr lang="ko-KR" altLang="en-US" sz="1800" kern="1200" dirty="0">
                          <a:solidFill>
                            <a:schemeClr val="dk1"/>
                          </a:solidFill>
                          <a:effectLst/>
                          <a:latin typeface="+mn-lt"/>
                          <a:ea typeface="+mn-ea"/>
                          <a:cs typeface="+mn-cs"/>
                        </a:rPr>
                        <a:t>데이터로 </a:t>
                      </a:r>
                      <a:r>
                        <a:rPr lang="en-US" altLang="ko-KR" sz="1800" kern="1200" dirty="0">
                          <a:solidFill>
                            <a:schemeClr val="dk1"/>
                          </a:solidFill>
                          <a:effectLst/>
                          <a:latin typeface="+mn-lt"/>
                          <a:ea typeface="+mn-ea"/>
                          <a:cs typeface="+mn-cs"/>
                        </a:rPr>
                        <a:t>time plot of differenced series</a:t>
                      </a:r>
                      <a:r>
                        <a:rPr lang="ko-KR" altLang="en-US" sz="1800" kern="1200" dirty="0">
                          <a:solidFill>
                            <a:schemeClr val="dk1"/>
                          </a:solidFill>
                          <a:effectLst/>
                          <a:latin typeface="+mn-lt"/>
                          <a:ea typeface="+mn-ea"/>
                          <a:cs typeface="+mn-cs"/>
                        </a:rPr>
                        <a:t>를 함</a:t>
                      </a:r>
                      <a:r>
                        <a:rPr lang="en-US" altLang="ko-KR" sz="1800" kern="1200" dirty="0">
                          <a:solidFill>
                            <a:schemeClr val="dk1"/>
                          </a:solidFill>
                          <a:effectLst/>
                          <a:latin typeface="+mn-lt"/>
                          <a:ea typeface="+mn-ea"/>
                          <a:cs typeface="+mn-cs"/>
                        </a:rPr>
                        <a:t>.</a:t>
                      </a:r>
                      <a:endParaRPr lang="ko-KR" altLang="ko-KR" sz="1800" kern="1200" dirty="0">
                        <a:solidFill>
                          <a:schemeClr val="dk1"/>
                        </a:solidFill>
                        <a:effectLst/>
                        <a:latin typeface="+mn-lt"/>
                        <a:ea typeface="+mn-ea"/>
                        <a:cs typeface="+mn-cs"/>
                      </a:endParaRPr>
                    </a:p>
                  </a:txBody>
                  <a:tcPr/>
                </a:tc>
                <a:extLst>
                  <a:ext uri="{0D108BD9-81ED-4DB2-BD59-A6C34878D82A}">
                    <a16:rowId xmlns:a16="http://schemas.microsoft.com/office/drawing/2014/main" val="398258525"/>
                  </a:ext>
                </a:extLst>
              </a:tr>
            </a:tbl>
          </a:graphicData>
        </a:graphic>
      </p:graphicFrame>
      <p:pic>
        <p:nvPicPr>
          <p:cNvPr id="3" name="그림 2">
            <a:extLst>
              <a:ext uri="{FF2B5EF4-FFF2-40B4-BE49-F238E27FC236}">
                <a16:creationId xmlns:a16="http://schemas.microsoft.com/office/drawing/2014/main" id="{99E9EC1F-C0E7-4458-B286-B2712506FDA7}"/>
              </a:ext>
            </a:extLst>
          </p:cNvPr>
          <p:cNvPicPr>
            <a:picLocks noChangeAspect="1"/>
          </p:cNvPicPr>
          <p:nvPr/>
        </p:nvPicPr>
        <p:blipFill>
          <a:blip r:embed="rId2"/>
          <a:stretch>
            <a:fillRect/>
          </a:stretch>
        </p:blipFill>
        <p:spPr>
          <a:xfrm>
            <a:off x="416031" y="1377859"/>
            <a:ext cx="7554379" cy="4915586"/>
          </a:xfrm>
          <a:prstGeom prst="rect">
            <a:avLst/>
          </a:prstGeom>
        </p:spPr>
      </p:pic>
      <p:sp>
        <p:nvSpPr>
          <p:cNvPr id="11" name="직사각형 10">
            <a:extLst>
              <a:ext uri="{FF2B5EF4-FFF2-40B4-BE49-F238E27FC236}">
                <a16:creationId xmlns:a16="http://schemas.microsoft.com/office/drawing/2014/main" id="{7EA33CA5-8767-498A-975A-2C525DDEAD17}"/>
              </a:ext>
            </a:extLst>
          </p:cNvPr>
          <p:cNvSpPr/>
          <p:nvPr/>
        </p:nvSpPr>
        <p:spPr>
          <a:xfrm>
            <a:off x="2251559" y="284579"/>
            <a:ext cx="10452538" cy="95410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3200" b="1" i="0" u="none" strike="noStrike" kern="0" cap="none" spc="0" normalizeH="0" baseline="0" noProof="0" dirty="0" err="1">
                <a:ln>
                  <a:noFill/>
                </a:ln>
                <a:solidFill>
                  <a:srgbClr val="FFC000"/>
                </a:solidFill>
                <a:effectLst/>
                <a:uLnTx/>
                <a:uFillTx/>
                <a:latin typeface="맑은 고딕" panose="020F0502020204030204"/>
                <a:ea typeface="맑은 고딕" panose="020B0503020000020004" pitchFamily="50" charset="-127"/>
                <a:cs typeface="+mn-cs"/>
              </a:rPr>
              <a:t>Wal-mart</a:t>
            </a:r>
            <a:r>
              <a:rPr kumimoji="0" lang="en-US" altLang="ko-KR" sz="32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rPr>
              <a:t> Stock data </a:t>
            </a:r>
            <a:r>
              <a:rPr kumimoji="0" lang="en-US" altLang="ko-KR" sz="32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 </a:t>
            </a:r>
            <a:r>
              <a:rPr kumimoji="0" lang="en-US" altLang="ko-KR" sz="3200" b="1" i="0" u="none" strike="noStrike" kern="0" cap="none" spc="0" normalizeH="0" baseline="0" noProof="0" dirty="0" err="1">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Predictablity</a:t>
            </a:r>
            <a:endParaRPr kumimoji="0" lang="en-US" altLang="ko-KR" sz="32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24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(a) Create  a  time  plot  of  the  differenced  series.</a:t>
            </a:r>
          </a:p>
        </p:txBody>
      </p:sp>
    </p:spTree>
    <p:extLst>
      <p:ext uri="{BB962C8B-B14F-4D97-AF65-F5344CB8AC3E}">
        <p14:creationId xmlns:p14="http://schemas.microsoft.com/office/powerpoint/2010/main" val="3262038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54BA1"/>
        </a:solidFill>
        <a:effectLst/>
      </p:bgPr>
    </p:bg>
    <p:spTree>
      <p:nvGrpSpPr>
        <p:cNvPr id="1" name=""/>
        <p:cNvGrpSpPr/>
        <p:nvPr/>
      </p:nvGrpSpPr>
      <p:grpSpPr>
        <a:xfrm>
          <a:off x="0" y="0"/>
          <a:ext cx="0" cy="0"/>
          <a:chOff x="0" y="0"/>
          <a:chExt cx="0" cy="0"/>
        </a:xfrm>
      </p:grpSpPr>
      <p:sp>
        <p:nvSpPr>
          <p:cNvPr id="8" name="직사각형 7"/>
          <p:cNvSpPr/>
          <p:nvPr/>
        </p:nvSpPr>
        <p:spPr>
          <a:xfrm>
            <a:off x="378372" y="415772"/>
            <a:ext cx="1702676" cy="720000"/>
          </a:xfrm>
          <a:prstGeom prst="rect">
            <a:avLst/>
          </a:prstGeom>
          <a:noFill/>
          <a:ln w="19050">
            <a:solidFill>
              <a:srgbClr val="FFC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rPr>
              <a:t>1</a:t>
            </a:r>
            <a:endParaRPr kumimoji="0" lang="ko-KR" altLang="en-US"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endParaRPr>
          </a:p>
        </p:txBody>
      </p:sp>
      <p:graphicFrame>
        <p:nvGraphicFramePr>
          <p:cNvPr id="7" name="표 8">
            <a:extLst>
              <a:ext uri="{FF2B5EF4-FFF2-40B4-BE49-F238E27FC236}">
                <a16:creationId xmlns:a16="http://schemas.microsoft.com/office/drawing/2014/main" id="{C6BFB913-AC8E-4EF9-A8DC-8D24B342903A}"/>
              </a:ext>
            </a:extLst>
          </p:cNvPr>
          <p:cNvGraphicFramePr>
            <a:graphicFrameLocks noGrp="1"/>
          </p:cNvGraphicFramePr>
          <p:nvPr>
            <p:extLst>
              <p:ext uri="{D42A27DB-BD31-4B8C-83A1-F6EECF244321}">
                <p14:modId xmlns:p14="http://schemas.microsoft.com/office/powerpoint/2010/main" val="1718386189"/>
              </p:ext>
            </p:extLst>
          </p:nvPr>
        </p:nvGraphicFramePr>
        <p:xfrm>
          <a:off x="1229709" y="1937152"/>
          <a:ext cx="6760193" cy="1559560"/>
        </p:xfrm>
        <a:graphic>
          <a:graphicData uri="http://schemas.openxmlformats.org/drawingml/2006/table">
            <a:tbl>
              <a:tblPr firstRow="1" bandRow="1">
                <a:tableStyleId>{5C22544A-7EE6-4342-B048-85BDC9FD1C3A}</a:tableStyleId>
              </a:tblPr>
              <a:tblGrid>
                <a:gridCol w="6760193">
                  <a:extLst>
                    <a:ext uri="{9D8B030D-6E8A-4147-A177-3AD203B41FA5}">
                      <a16:colId xmlns:a16="http://schemas.microsoft.com/office/drawing/2014/main" val="4093639860"/>
                    </a:ext>
                  </a:extLst>
                </a:gridCol>
              </a:tblGrid>
              <a:tr h="3708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800" b="1" kern="1200" dirty="0">
                          <a:solidFill>
                            <a:schemeClr val="lt1"/>
                          </a:solidFill>
                          <a:effectLst/>
                          <a:latin typeface="+mn-lt"/>
                          <a:ea typeface="+mn-ea"/>
                          <a:cs typeface="+mn-cs"/>
                        </a:rPr>
                        <a:t>Random walk</a:t>
                      </a:r>
                      <a:r>
                        <a:rPr lang="ko-KR" altLang="ko-KR" sz="1800" b="1" kern="1200" dirty="0">
                          <a:solidFill>
                            <a:schemeClr val="lt1"/>
                          </a:solidFill>
                          <a:effectLst/>
                          <a:latin typeface="+mn-lt"/>
                          <a:ea typeface="+mn-ea"/>
                          <a:cs typeface="+mn-cs"/>
                        </a:rPr>
                        <a:t>인지 테스트 하려면 뭐를 </a:t>
                      </a:r>
                      <a:r>
                        <a:rPr lang="ko-KR" altLang="ko-KR" sz="1800" b="1" kern="1200" dirty="0" err="1">
                          <a:solidFill>
                            <a:schemeClr val="lt1"/>
                          </a:solidFill>
                          <a:effectLst/>
                          <a:latin typeface="+mn-lt"/>
                          <a:ea typeface="+mn-ea"/>
                          <a:cs typeface="+mn-cs"/>
                        </a:rPr>
                        <a:t>봐야할까</a:t>
                      </a:r>
                      <a:r>
                        <a:rPr lang="en-US" altLang="ko-KR" sz="1800" b="1" kern="1200" dirty="0">
                          <a:solidFill>
                            <a:schemeClr val="lt1"/>
                          </a:solidFill>
                          <a:effectLst/>
                          <a:latin typeface="+mn-lt"/>
                          <a:ea typeface="+mn-ea"/>
                          <a:cs typeface="+mn-cs"/>
                        </a:rPr>
                        <a:t>?</a:t>
                      </a:r>
                      <a:endParaRPr lang="ko-KR" altLang="ko-KR" sz="1800" b="1" kern="1200" dirty="0">
                        <a:solidFill>
                          <a:schemeClr val="lt1"/>
                        </a:solidFill>
                        <a:effectLst/>
                        <a:latin typeface="+mn-lt"/>
                        <a:ea typeface="+mn-ea"/>
                        <a:cs typeface="+mn-cs"/>
                      </a:endParaRPr>
                    </a:p>
                  </a:txBody>
                  <a:tcPr/>
                </a:tc>
                <a:extLst>
                  <a:ext uri="{0D108BD9-81ED-4DB2-BD59-A6C34878D82A}">
                    <a16:rowId xmlns:a16="http://schemas.microsoft.com/office/drawing/2014/main" val="3200778601"/>
                  </a:ext>
                </a:extLst>
              </a:tr>
              <a:tr h="370840">
                <a:tc>
                  <a:txBody>
                    <a:bodyPr/>
                    <a:lstStyle/>
                    <a:p>
                      <a:pPr marL="285750" indent="-285750" latinLnBrk="1">
                        <a:buFont typeface="Arial" panose="020B0604020202020204" pitchFamily="34" charset="0"/>
                        <a:buChar char="•"/>
                      </a:pPr>
                      <a:r>
                        <a:rPr lang="en-US" altLang="ko-KR" sz="1800" kern="1200" dirty="0">
                          <a:solidFill>
                            <a:schemeClr val="dk1"/>
                          </a:solidFill>
                          <a:effectLst/>
                          <a:latin typeface="+mn-lt"/>
                          <a:ea typeface="+mn-ea"/>
                          <a:cs typeface="+mn-cs"/>
                        </a:rPr>
                        <a:t>AR(1)</a:t>
                      </a:r>
                      <a:r>
                        <a:rPr lang="ko-KR" altLang="ko-KR" sz="1800" kern="1200" dirty="0">
                          <a:solidFill>
                            <a:schemeClr val="dk1"/>
                          </a:solidFill>
                          <a:effectLst/>
                          <a:latin typeface="+mn-lt"/>
                          <a:ea typeface="+mn-ea"/>
                          <a:cs typeface="+mn-cs"/>
                        </a:rPr>
                        <a:t>의 베타 </a:t>
                      </a:r>
                      <a:r>
                        <a:rPr lang="en-US" altLang="ko-KR" sz="1800" kern="1200" dirty="0">
                          <a:solidFill>
                            <a:schemeClr val="dk1"/>
                          </a:solidFill>
                          <a:effectLst/>
                          <a:latin typeface="+mn-lt"/>
                          <a:ea typeface="+mn-ea"/>
                          <a:cs typeface="+mn-cs"/>
                        </a:rPr>
                        <a:t>1 </a:t>
                      </a:r>
                      <a:r>
                        <a:rPr lang="ko-KR" altLang="ko-KR" sz="1800" kern="1200" dirty="0">
                          <a:solidFill>
                            <a:schemeClr val="dk1"/>
                          </a:solidFill>
                          <a:effectLst/>
                          <a:latin typeface="+mn-lt"/>
                          <a:ea typeface="+mn-ea"/>
                          <a:cs typeface="+mn-cs"/>
                        </a:rPr>
                        <a:t>회귀 계수를 봐야</a:t>
                      </a:r>
                      <a:r>
                        <a:rPr lang="ko-KR" altLang="en-US" sz="1800" kern="1200" dirty="0">
                          <a:solidFill>
                            <a:schemeClr val="dk1"/>
                          </a:solidFill>
                          <a:effectLst/>
                          <a:latin typeface="+mn-lt"/>
                          <a:ea typeface="+mn-ea"/>
                          <a:cs typeface="+mn-cs"/>
                        </a:rPr>
                        <a:t>함</a:t>
                      </a:r>
                      <a:r>
                        <a:rPr lang="en-US" altLang="ko-KR" sz="1800" kern="1200" dirty="0">
                          <a:solidFill>
                            <a:schemeClr val="dk1"/>
                          </a:solidFill>
                          <a:effectLst/>
                          <a:latin typeface="+mn-lt"/>
                          <a:ea typeface="+mn-ea"/>
                          <a:cs typeface="+mn-cs"/>
                        </a:rPr>
                        <a:t>(slope coefficient)  </a:t>
                      </a:r>
                    </a:p>
                    <a:p>
                      <a:pPr marL="0" indent="0" latinLnBrk="1">
                        <a:buFont typeface="Arial" panose="020B0604020202020204" pitchFamily="34" charset="0"/>
                        <a:buNone/>
                      </a:pPr>
                      <a:r>
                        <a:rPr lang="en-US" altLang="ko-KR" sz="1800" kern="1200" dirty="0">
                          <a:solidFill>
                            <a:schemeClr val="dk1"/>
                          </a:solidFill>
                          <a:effectLst/>
                          <a:latin typeface="+mn-lt"/>
                          <a:ea typeface="+mn-ea"/>
                          <a:cs typeface="+mn-cs"/>
                          <a:sym typeface="Wingdings" panose="05000000000000000000" pitchFamily="2" charset="2"/>
                        </a:rPr>
                        <a:t> </a:t>
                      </a:r>
                      <a:r>
                        <a:rPr lang="en-US" altLang="ko-KR" sz="1800" kern="1200" dirty="0">
                          <a:solidFill>
                            <a:schemeClr val="dk1"/>
                          </a:solidFill>
                          <a:effectLst/>
                          <a:latin typeface="+mn-lt"/>
                          <a:ea typeface="+mn-ea"/>
                          <a:cs typeface="+mn-cs"/>
                        </a:rPr>
                        <a:t>1</a:t>
                      </a:r>
                      <a:r>
                        <a:rPr lang="ko-KR" altLang="ko-KR" sz="1800" kern="1200" dirty="0">
                          <a:solidFill>
                            <a:schemeClr val="dk1"/>
                          </a:solidFill>
                          <a:effectLst/>
                          <a:latin typeface="+mn-lt"/>
                          <a:ea typeface="+mn-ea"/>
                          <a:cs typeface="+mn-cs"/>
                        </a:rPr>
                        <a:t>에</a:t>
                      </a:r>
                      <a:r>
                        <a:rPr lang="en-US" altLang="ko-KR" sz="1800" kern="1200" dirty="0">
                          <a:solidFill>
                            <a:schemeClr val="dk1"/>
                          </a:solidFill>
                          <a:effectLst/>
                          <a:latin typeface="+mn-lt"/>
                          <a:ea typeface="+mn-ea"/>
                          <a:cs typeface="+mn-cs"/>
                        </a:rPr>
                        <a:t> </a:t>
                      </a:r>
                      <a:r>
                        <a:rPr lang="ko-KR" altLang="ko-KR" sz="1800" kern="1200" dirty="0">
                          <a:solidFill>
                            <a:schemeClr val="dk1"/>
                          </a:solidFill>
                          <a:effectLst/>
                          <a:latin typeface="+mn-lt"/>
                          <a:ea typeface="+mn-ea"/>
                          <a:cs typeface="+mn-cs"/>
                        </a:rPr>
                        <a:t>가까울수록 랜덤워크</a:t>
                      </a:r>
                      <a:endParaRPr lang="en-US" altLang="ko-KR" sz="1800" kern="1200" dirty="0">
                        <a:solidFill>
                          <a:schemeClr val="dk1"/>
                        </a:solidFill>
                        <a:effectLst/>
                        <a:latin typeface="+mn-lt"/>
                        <a:ea typeface="+mn-ea"/>
                        <a:cs typeface="+mn-cs"/>
                      </a:endParaRPr>
                    </a:p>
                    <a:p>
                      <a:pPr marL="285750" indent="-285750" latinLnBrk="1">
                        <a:buFont typeface="Arial" panose="020B0604020202020204" pitchFamily="34" charset="0"/>
                        <a:buChar char="•"/>
                      </a:pPr>
                      <a:r>
                        <a:rPr lang="ko-KR" altLang="ko-KR" sz="1800" kern="1200" dirty="0">
                          <a:solidFill>
                            <a:schemeClr val="dk1"/>
                          </a:solidFill>
                          <a:effectLst/>
                          <a:latin typeface="+mn-lt"/>
                          <a:ea typeface="+mn-ea"/>
                          <a:cs typeface="+mn-cs"/>
                        </a:rPr>
                        <a:t>차분을 하면 정상</a:t>
                      </a:r>
                      <a:r>
                        <a:rPr lang="en-US" altLang="ko-KR" sz="1800" kern="1200" dirty="0">
                          <a:solidFill>
                            <a:schemeClr val="dk1"/>
                          </a:solidFill>
                          <a:effectLst/>
                          <a:latin typeface="+mn-lt"/>
                          <a:ea typeface="+mn-ea"/>
                          <a:cs typeface="+mn-cs"/>
                        </a:rPr>
                        <a:t>(white noise)</a:t>
                      </a:r>
                      <a:r>
                        <a:rPr lang="ko-KR" altLang="ko-KR" sz="1800" kern="1200" dirty="0">
                          <a:solidFill>
                            <a:schemeClr val="dk1"/>
                          </a:solidFill>
                          <a:effectLst/>
                          <a:latin typeface="+mn-lt"/>
                          <a:ea typeface="+mn-ea"/>
                          <a:cs typeface="+mn-cs"/>
                        </a:rPr>
                        <a:t>가 </a:t>
                      </a:r>
                      <a:r>
                        <a:rPr lang="ko-KR" altLang="en-US" sz="1800" kern="1200" dirty="0">
                          <a:solidFill>
                            <a:schemeClr val="dk1"/>
                          </a:solidFill>
                          <a:effectLst/>
                          <a:latin typeface="+mn-lt"/>
                          <a:ea typeface="+mn-ea"/>
                          <a:cs typeface="+mn-cs"/>
                        </a:rPr>
                        <a:t>됨</a:t>
                      </a:r>
                      <a:r>
                        <a:rPr lang="en-US" altLang="ko-KR" sz="1800" kern="1200" dirty="0">
                          <a:solidFill>
                            <a:schemeClr val="dk1"/>
                          </a:solidFill>
                          <a:effectLst/>
                          <a:latin typeface="+mn-lt"/>
                          <a:ea typeface="+mn-ea"/>
                          <a:cs typeface="+mn-cs"/>
                        </a:rPr>
                        <a:t>.</a:t>
                      </a:r>
                      <a:endParaRPr lang="ko-KR" altLang="ko-KR" sz="1800" kern="1200" dirty="0">
                        <a:solidFill>
                          <a:schemeClr val="dk1"/>
                        </a:solidFill>
                        <a:effectLst/>
                        <a:latin typeface="+mn-lt"/>
                        <a:ea typeface="+mn-ea"/>
                        <a:cs typeface="+mn-cs"/>
                      </a:endParaRPr>
                    </a:p>
                    <a:p>
                      <a:pPr marL="285750" indent="-285750" latinLnBrk="1">
                        <a:buFont typeface="Arial" panose="020B0604020202020204" pitchFamily="34" charset="0"/>
                        <a:buChar char="•"/>
                      </a:pPr>
                      <a:endParaRPr lang="ko-KR" altLang="ko-KR" sz="1800" kern="1200" dirty="0">
                        <a:solidFill>
                          <a:schemeClr val="dk1"/>
                        </a:solidFill>
                        <a:effectLst/>
                        <a:latin typeface="+mn-lt"/>
                        <a:ea typeface="+mn-ea"/>
                        <a:cs typeface="+mn-cs"/>
                      </a:endParaRPr>
                    </a:p>
                  </a:txBody>
                  <a:tcPr/>
                </a:tc>
                <a:extLst>
                  <a:ext uri="{0D108BD9-81ED-4DB2-BD59-A6C34878D82A}">
                    <a16:rowId xmlns:a16="http://schemas.microsoft.com/office/drawing/2014/main" val="398258525"/>
                  </a:ext>
                </a:extLst>
              </a:tr>
            </a:tbl>
          </a:graphicData>
        </a:graphic>
      </p:graphicFrame>
      <p:sp>
        <p:nvSpPr>
          <p:cNvPr id="11" name="직사각형 10">
            <a:extLst>
              <a:ext uri="{FF2B5EF4-FFF2-40B4-BE49-F238E27FC236}">
                <a16:creationId xmlns:a16="http://schemas.microsoft.com/office/drawing/2014/main" id="{7EA33CA5-8767-498A-975A-2C525DDEAD17}"/>
              </a:ext>
            </a:extLst>
          </p:cNvPr>
          <p:cNvSpPr/>
          <p:nvPr/>
        </p:nvSpPr>
        <p:spPr>
          <a:xfrm>
            <a:off x="2251559" y="284579"/>
            <a:ext cx="9768806" cy="1138773"/>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3200" b="1" i="0" u="none" strike="noStrike" kern="0" cap="none" spc="0" normalizeH="0" baseline="0" noProof="0" dirty="0" err="1">
                <a:ln>
                  <a:noFill/>
                </a:ln>
                <a:solidFill>
                  <a:srgbClr val="FFC000"/>
                </a:solidFill>
                <a:effectLst/>
                <a:uLnTx/>
                <a:uFillTx/>
                <a:latin typeface="맑은 고딕" panose="020F0502020204030204"/>
                <a:ea typeface="맑은 고딕" panose="020B0503020000020004" pitchFamily="50" charset="-127"/>
                <a:cs typeface="+mn-cs"/>
              </a:rPr>
              <a:t>Wal-mart</a:t>
            </a:r>
            <a:r>
              <a:rPr kumimoji="0" lang="en-US" altLang="ko-KR" sz="32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rPr>
              <a:t> Stock data </a:t>
            </a:r>
            <a:r>
              <a:rPr kumimoji="0" lang="en-US" altLang="ko-KR" sz="32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 </a:t>
            </a:r>
            <a:r>
              <a:rPr kumimoji="0" lang="en-US" altLang="ko-KR" sz="3200" b="1" i="0" u="none" strike="noStrike" kern="0" cap="none" spc="0" normalizeH="0" baseline="0" noProof="0" dirty="0" err="1">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Predictablity</a:t>
            </a:r>
            <a:endParaRPr kumimoji="0" lang="en-US" altLang="ko-KR" sz="32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(b) Which  of  the  following  is/are  relevant  for  testing  whether this  stock  is  a  random  walk?</a:t>
            </a:r>
          </a:p>
        </p:txBody>
      </p:sp>
    </p:spTree>
    <p:extLst>
      <p:ext uri="{BB962C8B-B14F-4D97-AF65-F5344CB8AC3E}">
        <p14:creationId xmlns:p14="http://schemas.microsoft.com/office/powerpoint/2010/main" val="10245685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54BA1"/>
        </a:solidFill>
        <a:effectLst/>
      </p:bgPr>
    </p:bg>
    <p:spTree>
      <p:nvGrpSpPr>
        <p:cNvPr id="1" name=""/>
        <p:cNvGrpSpPr/>
        <p:nvPr/>
      </p:nvGrpSpPr>
      <p:grpSpPr>
        <a:xfrm>
          <a:off x="0" y="0"/>
          <a:ext cx="0" cy="0"/>
          <a:chOff x="0" y="0"/>
          <a:chExt cx="0" cy="0"/>
        </a:xfrm>
      </p:grpSpPr>
      <p:sp>
        <p:nvSpPr>
          <p:cNvPr id="8" name="직사각형 7"/>
          <p:cNvSpPr/>
          <p:nvPr/>
        </p:nvSpPr>
        <p:spPr>
          <a:xfrm>
            <a:off x="378372" y="415772"/>
            <a:ext cx="1702676" cy="720000"/>
          </a:xfrm>
          <a:prstGeom prst="rect">
            <a:avLst/>
          </a:prstGeom>
          <a:noFill/>
          <a:ln w="19050">
            <a:solidFill>
              <a:srgbClr val="FFC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rPr>
              <a:t>1</a:t>
            </a:r>
            <a:endParaRPr kumimoji="0" lang="ko-KR" altLang="en-US"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endParaRPr>
          </a:p>
        </p:txBody>
      </p:sp>
      <p:graphicFrame>
        <p:nvGraphicFramePr>
          <p:cNvPr id="7" name="표 8">
            <a:extLst>
              <a:ext uri="{FF2B5EF4-FFF2-40B4-BE49-F238E27FC236}">
                <a16:creationId xmlns:a16="http://schemas.microsoft.com/office/drawing/2014/main" id="{C6BFB913-AC8E-4EF9-A8DC-8D24B342903A}"/>
              </a:ext>
            </a:extLst>
          </p:cNvPr>
          <p:cNvGraphicFramePr>
            <a:graphicFrameLocks noGrp="1"/>
          </p:cNvGraphicFramePr>
          <p:nvPr>
            <p:extLst>
              <p:ext uri="{D42A27DB-BD31-4B8C-83A1-F6EECF244321}">
                <p14:modId xmlns:p14="http://schemas.microsoft.com/office/powerpoint/2010/main" val="2114771596"/>
              </p:ext>
            </p:extLst>
          </p:nvPr>
        </p:nvGraphicFramePr>
        <p:xfrm>
          <a:off x="5539666" y="1493268"/>
          <a:ext cx="6161103" cy="5125720"/>
        </p:xfrm>
        <a:graphic>
          <a:graphicData uri="http://schemas.openxmlformats.org/drawingml/2006/table">
            <a:tbl>
              <a:tblPr firstRow="1" bandRow="1">
                <a:tableStyleId>{5C22544A-7EE6-4342-B048-85BDC9FD1C3A}</a:tableStyleId>
              </a:tblPr>
              <a:tblGrid>
                <a:gridCol w="6161103">
                  <a:extLst>
                    <a:ext uri="{9D8B030D-6E8A-4147-A177-3AD203B41FA5}">
                      <a16:colId xmlns:a16="http://schemas.microsoft.com/office/drawing/2014/main" val="4093639860"/>
                    </a:ext>
                  </a:extLst>
                </a:gridCol>
              </a:tblGrid>
              <a:tr h="3708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800" b="1" kern="1200" dirty="0">
                          <a:solidFill>
                            <a:schemeClr val="lt1"/>
                          </a:solidFill>
                          <a:effectLst/>
                          <a:latin typeface="+mn-lt"/>
                          <a:ea typeface="+mn-ea"/>
                          <a:cs typeface="+mn-cs"/>
                        </a:rPr>
                        <a:t>Table 7.4</a:t>
                      </a:r>
                      <a:endParaRPr lang="ko-KR" altLang="ko-KR" sz="1800" b="1" kern="1200" dirty="0">
                        <a:solidFill>
                          <a:schemeClr val="lt1"/>
                        </a:solidFill>
                        <a:effectLst/>
                        <a:latin typeface="+mn-lt"/>
                        <a:ea typeface="+mn-ea"/>
                        <a:cs typeface="+mn-cs"/>
                      </a:endParaRPr>
                    </a:p>
                  </a:txBody>
                  <a:tcPr/>
                </a:tc>
                <a:extLst>
                  <a:ext uri="{0D108BD9-81ED-4DB2-BD59-A6C34878D82A}">
                    <a16:rowId xmlns:a16="http://schemas.microsoft.com/office/drawing/2014/main" val="3200778601"/>
                  </a:ext>
                </a:extLst>
              </a:tr>
              <a:tr h="370840">
                <a:tc>
                  <a:txBody>
                    <a:bodyPr/>
                    <a:lstStyle/>
                    <a:p>
                      <a:pPr marL="285750" indent="-285750" latinLnBrk="1">
                        <a:buFont typeface="Arial" panose="020B0604020202020204" pitchFamily="34" charset="0"/>
                        <a:buChar char="•"/>
                      </a:pPr>
                      <a:r>
                        <a:rPr lang="en-US" altLang="ko-KR" sz="1800" kern="1200" dirty="0">
                          <a:solidFill>
                            <a:schemeClr val="dk1"/>
                          </a:solidFill>
                          <a:effectLst/>
                          <a:latin typeface="+mn-lt"/>
                          <a:ea typeface="+mn-ea"/>
                          <a:cs typeface="+mn-cs"/>
                        </a:rPr>
                        <a:t>Table 7.4</a:t>
                      </a:r>
                      <a:r>
                        <a:rPr lang="ko-KR" altLang="en-US" sz="1800" kern="1200" dirty="0">
                          <a:solidFill>
                            <a:schemeClr val="dk1"/>
                          </a:solidFill>
                          <a:effectLst/>
                          <a:latin typeface="+mn-lt"/>
                          <a:ea typeface="+mn-ea"/>
                          <a:cs typeface="+mn-cs"/>
                        </a:rPr>
                        <a:t>를 보면 </a:t>
                      </a:r>
                      <a:r>
                        <a:rPr lang="en-US" altLang="ko-KR" sz="1800" kern="1200" dirty="0">
                          <a:solidFill>
                            <a:schemeClr val="dk1"/>
                          </a:solidFill>
                          <a:effectLst/>
                          <a:latin typeface="+mn-lt"/>
                          <a:ea typeface="+mn-ea"/>
                          <a:cs typeface="+mn-cs"/>
                        </a:rPr>
                        <a:t>AR1 </a:t>
                      </a:r>
                      <a:r>
                        <a:rPr lang="ko-KR" altLang="ko-KR" sz="1800" kern="1200" dirty="0">
                          <a:solidFill>
                            <a:schemeClr val="dk1"/>
                          </a:solidFill>
                          <a:effectLst/>
                          <a:latin typeface="+mn-lt"/>
                          <a:ea typeface="+mn-ea"/>
                          <a:cs typeface="+mn-cs"/>
                        </a:rPr>
                        <a:t>모델을 두개 </a:t>
                      </a:r>
                      <a:r>
                        <a:rPr lang="ko-KR" altLang="ko-KR" sz="1800" kern="1200" dirty="0" err="1">
                          <a:solidFill>
                            <a:schemeClr val="dk1"/>
                          </a:solidFill>
                          <a:effectLst/>
                          <a:latin typeface="+mn-lt"/>
                          <a:ea typeface="+mn-ea"/>
                          <a:cs typeface="+mn-cs"/>
                        </a:rPr>
                        <a:t>만듬</a:t>
                      </a:r>
                      <a:r>
                        <a:rPr lang="en-US" altLang="ko-KR" sz="1800" kern="1200" dirty="0">
                          <a:solidFill>
                            <a:schemeClr val="dk1"/>
                          </a:solidFill>
                          <a:effectLst/>
                          <a:latin typeface="+mn-lt"/>
                          <a:ea typeface="+mn-ea"/>
                          <a:cs typeface="+mn-cs"/>
                        </a:rPr>
                        <a:t>. </a:t>
                      </a:r>
                      <a:r>
                        <a:rPr lang="ko-KR" altLang="ko-KR" sz="1800" kern="1200" dirty="0">
                          <a:solidFill>
                            <a:schemeClr val="dk1"/>
                          </a:solidFill>
                          <a:effectLst/>
                          <a:latin typeface="+mn-lt"/>
                          <a:ea typeface="+mn-ea"/>
                          <a:cs typeface="+mn-cs"/>
                        </a:rPr>
                        <a:t>첫번째 모델은 원래 계열을 가지고 만들고 두번째 모델은 시차 계열</a:t>
                      </a:r>
                      <a:r>
                        <a:rPr lang="en-US" altLang="ko-KR" sz="1800" kern="1200" dirty="0">
                          <a:solidFill>
                            <a:schemeClr val="dk1"/>
                          </a:solidFill>
                          <a:effectLst/>
                          <a:latin typeface="+mn-lt"/>
                          <a:ea typeface="+mn-ea"/>
                          <a:cs typeface="+mn-cs"/>
                        </a:rPr>
                        <a:t>(</a:t>
                      </a:r>
                      <a:r>
                        <a:rPr lang="ko-KR" altLang="ko-KR" sz="1800" kern="1200" dirty="0">
                          <a:solidFill>
                            <a:schemeClr val="dk1"/>
                          </a:solidFill>
                          <a:effectLst/>
                          <a:latin typeface="+mn-lt"/>
                          <a:ea typeface="+mn-ea"/>
                          <a:cs typeface="+mn-cs"/>
                        </a:rPr>
                        <a:t>차분계열</a:t>
                      </a:r>
                      <a:r>
                        <a:rPr lang="en-US" altLang="ko-KR" sz="1800" kern="1200" dirty="0">
                          <a:solidFill>
                            <a:schemeClr val="dk1"/>
                          </a:solidFill>
                          <a:effectLst/>
                          <a:latin typeface="+mn-lt"/>
                          <a:ea typeface="+mn-ea"/>
                          <a:cs typeface="+mn-cs"/>
                        </a:rPr>
                        <a:t>)</a:t>
                      </a:r>
                      <a:r>
                        <a:rPr lang="ko-KR" altLang="ko-KR" sz="1800" kern="1200" dirty="0">
                          <a:solidFill>
                            <a:schemeClr val="dk1"/>
                          </a:solidFill>
                          <a:effectLst/>
                          <a:latin typeface="+mn-lt"/>
                          <a:ea typeface="+mn-ea"/>
                          <a:cs typeface="+mn-cs"/>
                        </a:rPr>
                        <a:t>을 가지고 </a:t>
                      </a:r>
                      <a:r>
                        <a:rPr lang="en-US" altLang="ko-KR" sz="1800" kern="1200" dirty="0">
                          <a:solidFill>
                            <a:schemeClr val="dk1"/>
                          </a:solidFill>
                          <a:effectLst/>
                          <a:latin typeface="+mn-lt"/>
                          <a:ea typeface="+mn-ea"/>
                          <a:cs typeface="+mn-cs"/>
                        </a:rPr>
                        <a:t>ARIMA(1,0,0)</a:t>
                      </a:r>
                      <a:r>
                        <a:rPr lang="ko-KR" altLang="ko-KR" sz="1800" kern="1200" dirty="0">
                          <a:solidFill>
                            <a:schemeClr val="dk1"/>
                          </a:solidFill>
                          <a:effectLst/>
                          <a:latin typeface="+mn-lt"/>
                          <a:ea typeface="+mn-ea"/>
                          <a:cs typeface="+mn-cs"/>
                        </a:rPr>
                        <a:t>모델을 </a:t>
                      </a:r>
                      <a:r>
                        <a:rPr lang="ko-KR" altLang="ko-KR" sz="1800" kern="1200" dirty="0" err="1">
                          <a:solidFill>
                            <a:schemeClr val="dk1"/>
                          </a:solidFill>
                          <a:effectLst/>
                          <a:latin typeface="+mn-lt"/>
                          <a:ea typeface="+mn-ea"/>
                          <a:cs typeface="+mn-cs"/>
                        </a:rPr>
                        <a:t>만듬</a:t>
                      </a:r>
                      <a:endParaRPr lang="en-US" altLang="ko-KR" sz="1800" kern="1200" dirty="0">
                        <a:solidFill>
                          <a:schemeClr val="dk1"/>
                        </a:solidFill>
                        <a:effectLst/>
                        <a:latin typeface="+mn-lt"/>
                        <a:ea typeface="+mn-ea"/>
                        <a:cs typeface="+mn-cs"/>
                      </a:endParaRPr>
                    </a:p>
                    <a:p>
                      <a:pPr marL="285750" indent="-285750" latinLnBrk="1">
                        <a:buFont typeface="Arial" panose="020B0604020202020204" pitchFamily="34" charset="0"/>
                        <a:buChar char="•"/>
                      </a:pPr>
                      <a:r>
                        <a:rPr lang="en-US" altLang="ko-KR" sz="1800" b="0" kern="1200" dirty="0">
                          <a:solidFill>
                            <a:schemeClr val="dk1"/>
                          </a:solidFill>
                          <a:effectLst/>
                          <a:latin typeface="+mn-lt"/>
                          <a:ea typeface="+mn-ea"/>
                          <a:cs typeface="+mn-cs"/>
                        </a:rPr>
                        <a:t>Ar1 : </a:t>
                      </a:r>
                      <a:r>
                        <a:rPr lang="ko-KR" altLang="ko-KR" sz="1800" b="0" kern="1200" dirty="0">
                          <a:solidFill>
                            <a:schemeClr val="dk1"/>
                          </a:solidFill>
                          <a:effectLst/>
                          <a:latin typeface="+mn-lt"/>
                          <a:ea typeface="+mn-ea"/>
                          <a:cs typeface="+mn-cs"/>
                        </a:rPr>
                        <a:t>예측 변수로서 시점이 </a:t>
                      </a:r>
                      <a:r>
                        <a:rPr lang="ko-KR" altLang="ko-KR" sz="1800" b="0" kern="1200" dirty="0" err="1">
                          <a:solidFill>
                            <a:schemeClr val="dk1"/>
                          </a:solidFill>
                          <a:effectLst/>
                          <a:latin typeface="+mn-lt"/>
                          <a:ea typeface="+mn-ea"/>
                          <a:cs typeface="+mn-cs"/>
                        </a:rPr>
                        <a:t>한시점</a:t>
                      </a:r>
                      <a:r>
                        <a:rPr lang="ko-KR" altLang="ko-KR" sz="1800" b="0" kern="1200" dirty="0">
                          <a:solidFill>
                            <a:schemeClr val="dk1"/>
                          </a:solidFill>
                          <a:effectLst/>
                          <a:latin typeface="+mn-lt"/>
                          <a:ea typeface="+mn-ea"/>
                          <a:cs typeface="+mn-cs"/>
                        </a:rPr>
                        <a:t> 전</a:t>
                      </a:r>
                      <a:r>
                        <a:rPr lang="en-US" altLang="ko-KR" sz="1800" b="0" kern="1200" dirty="0">
                          <a:solidFill>
                            <a:schemeClr val="dk1"/>
                          </a:solidFill>
                          <a:effectLst/>
                          <a:latin typeface="+mn-lt"/>
                          <a:ea typeface="+mn-ea"/>
                          <a:cs typeface="+mn-cs"/>
                        </a:rPr>
                        <a:t>(lag1)</a:t>
                      </a:r>
                      <a:r>
                        <a:rPr lang="ko-KR" altLang="ko-KR" sz="1800" b="0" kern="1200" dirty="0">
                          <a:solidFill>
                            <a:schemeClr val="dk1"/>
                          </a:solidFill>
                          <a:effectLst/>
                          <a:latin typeface="+mn-lt"/>
                          <a:ea typeface="+mn-ea"/>
                          <a:cs typeface="+mn-cs"/>
                        </a:rPr>
                        <a:t>을 </a:t>
                      </a:r>
                      <a:r>
                        <a:rPr lang="ko-KR" altLang="ko-KR" sz="1800" b="0" kern="1200" dirty="0" err="1">
                          <a:solidFill>
                            <a:schemeClr val="dk1"/>
                          </a:solidFill>
                          <a:effectLst/>
                          <a:latin typeface="+mn-lt"/>
                          <a:ea typeface="+mn-ea"/>
                          <a:cs typeface="+mn-cs"/>
                        </a:rPr>
                        <a:t>가져다가</a:t>
                      </a:r>
                      <a:r>
                        <a:rPr lang="ko-KR" altLang="ko-KR" sz="1800" b="0" kern="1200" dirty="0">
                          <a:solidFill>
                            <a:schemeClr val="dk1"/>
                          </a:solidFill>
                          <a:effectLst/>
                          <a:latin typeface="+mn-lt"/>
                          <a:ea typeface="+mn-ea"/>
                          <a:cs typeface="+mn-cs"/>
                        </a:rPr>
                        <a:t> 예측변수로 사용</a:t>
                      </a:r>
                      <a:r>
                        <a:rPr lang="ko-KR" altLang="en-US" sz="1800" b="0" kern="1200" dirty="0">
                          <a:solidFill>
                            <a:schemeClr val="dk1"/>
                          </a:solidFill>
                          <a:effectLst/>
                          <a:latin typeface="+mn-lt"/>
                          <a:ea typeface="+mn-ea"/>
                          <a:cs typeface="+mn-cs"/>
                        </a:rPr>
                        <a:t>한</a:t>
                      </a:r>
                      <a:r>
                        <a:rPr lang="en-US" altLang="ko-KR" sz="1800" b="0" kern="1200" dirty="0">
                          <a:solidFill>
                            <a:schemeClr val="dk1"/>
                          </a:solidFill>
                          <a:effectLst/>
                          <a:latin typeface="+mn-lt"/>
                          <a:ea typeface="+mn-ea"/>
                          <a:cs typeface="+mn-cs"/>
                        </a:rPr>
                        <a:t> </a:t>
                      </a:r>
                      <a:r>
                        <a:rPr lang="ko-KR" altLang="ko-KR" sz="1800" b="0" kern="1200" dirty="0">
                          <a:solidFill>
                            <a:schemeClr val="dk1"/>
                          </a:solidFill>
                          <a:effectLst/>
                          <a:latin typeface="+mn-lt"/>
                          <a:ea typeface="+mn-ea"/>
                          <a:cs typeface="+mn-cs"/>
                        </a:rPr>
                        <a:t>기울기 계수 </a:t>
                      </a:r>
                    </a:p>
                    <a:p>
                      <a:pPr marL="285750" indent="-285750" latinLnBrk="1">
                        <a:buFont typeface="Arial" panose="020B0604020202020204" pitchFamily="34" charset="0"/>
                        <a:buChar char="•"/>
                      </a:pPr>
                      <a:r>
                        <a:rPr lang="en-US" altLang="ko-KR" sz="1800" b="0" kern="1200" dirty="0">
                          <a:solidFill>
                            <a:schemeClr val="dk1"/>
                          </a:solidFill>
                          <a:effectLst/>
                          <a:latin typeface="+mn-lt"/>
                          <a:ea typeface="+mn-ea"/>
                          <a:cs typeface="+mn-cs"/>
                        </a:rPr>
                        <a:t>Ar1</a:t>
                      </a:r>
                      <a:r>
                        <a:rPr lang="ko-KR" altLang="ko-KR" sz="1800" b="0" kern="1200" dirty="0">
                          <a:solidFill>
                            <a:schemeClr val="dk1"/>
                          </a:solidFill>
                          <a:effectLst/>
                          <a:latin typeface="+mn-lt"/>
                          <a:ea typeface="+mn-ea"/>
                          <a:cs typeface="+mn-cs"/>
                        </a:rPr>
                        <a:t>의 회귀계수</a:t>
                      </a:r>
                      <a:r>
                        <a:rPr lang="en-US" altLang="ko-KR" sz="1800" b="0" kern="1200" dirty="0">
                          <a:solidFill>
                            <a:schemeClr val="dk1"/>
                          </a:solidFill>
                          <a:effectLst/>
                          <a:latin typeface="+mn-lt"/>
                          <a:ea typeface="+mn-ea"/>
                          <a:cs typeface="+mn-cs"/>
                        </a:rPr>
                        <a:t>(</a:t>
                      </a:r>
                      <a:r>
                        <a:rPr lang="ko-KR" altLang="ko-KR" sz="1800" b="0" kern="1200" dirty="0">
                          <a:solidFill>
                            <a:schemeClr val="dk1"/>
                          </a:solidFill>
                          <a:effectLst/>
                          <a:latin typeface="+mn-lt"/>
                          <a:ea typeface="+mn-ea"/>
                          <a:cs typeface="+mn-cs"/>
                        </a:rPr>
                        <a:t>베타 </a:t>
                      </a:r>
                      <a:r>
                        <a:rPr lang="en-US" altLang="ko-KR" sz="1800" b="0" kern="1200" dirty="0">
                          <a:solidFill>
                            <a:schemeClr val="dk1"/>
                          </a:solidFill>
                          <a:effectLst/>
                          <a:latin typeface="+mn-lt"/>
                          <a:ea typeface="+mn-ea"/>
                          <a:cs typeface="+mn-cs"/>
                        </a:rPr>
                        <a:t>1)</a:t>
                      </a:r>
                      <a:r>
                        <a:rPr lang="ko-KR" altLang="ko-KR" sz="1800" b="0" kern="1200" dirty="0">
                          <a:solidFill>
                            <a:schemeClr val="dk1"/>
                          </a:solidFill>
                          <a:effectLst/>
                          <a:latin typeface="+mn-lt"/>
                          <a:ea typeface="+mn-ea"/>
                          <a:cs typeface="+mn-cs"/>
                        </a:rPr>
                        <a:t>가 </a:t>
                      </a:r>
                      <a:r>
                        <a:rPr lang="en-US" altLang="ko-KR" sz="1800" b="0" kern="1200" dirty="0">
                          <a:solidFill>
                            <a:schemeClr val="dk1"/>
                          </a:solidFill>
                          <a:effectLst/>
                          <a:latin typeface="+mn-lt"/>
                          <a:ea typeface="+mn-ea"/>
                          <a:cs typeface="+mn-cs"/>
                        </a:rPr>
                        <a:t>1</a:t>
                      </a:r>
                      <a:r>
                        <a:rPr lang="ko-KR" altLang="ko-KR" sz="1800" b="0" kern="1200" dirty="0">
                          <a:solidFill>
                            <a:schemeClr val="dk1"/>
                          </a:solidFill>
                          <a:effectLst/>
                          <a:latin typeface="+mn-lt"/>
                          <a:ea typeface="+mn-ea"/>
                          <a:cs typeface="+mn-cs"/>
                        </a:rPr>
                        <a:t>에 거의 가깝다는 것은 원래계열이 </a:t>
                      </a:r>
                      <a:r>
                        <a:rPr lang="en-US" altLang="ko-KR" sz="1800" b="0" kern="1200" dirty="0">
                          <a:solidFill>
                            <a:schemeClr val="dk1"/>
                          </a:solidFill>
                          <a:effectLst/>
                          <a:latin typeface="+mn-lt"/>
                          <a:ea typeface="+mn-ea"/>
                          <a:cs typeface="+mn-cs"/>
                        </a:rPr>
                        <a:t>random walk </a:t>
                      </a:r>
                      <a:r>
                        <a:rPr lang="ko-KR" altLang="en-US" sz="1800" b="0" kern="1200" dirty="0">
                          <a:solidFill>
                            <a:schemeClr val="dk1"/>
                          </a:solidFill>
                          <a:effectLst/>
                          <a:latin typeface="+mn-lt"/>
                          <a:ea typeface="+mn-ea"/>
                          <a:cs typeface="+mn-cs"/>
                        </a:rPr>
                        <a:t>임</a:t>
                      </a:r>
                      <a:r>
                        <a:rPr lang="en-US" altLang="ko-KR" sz="1800" b="0" kern="1200" dirty="0">
                          <a:solidFill>
                            <a:schemeClr val="dk1"/>
                          </a:solidFill>
                          <a:effectLst/>
                          <a:latin typeface="+mn-lt"/>
                          <a:ea typeface="+mn-ea"/>
                          <a:cs typeface="+mn-cs"/>
                        </a:rPr>
                        <a:t>.</a:t>
                      </a:r>
                    </a:p>
                    <a:p>
                      <a:pPr marL="285750" marR="0" lvl="0" indent="-2857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ko-KR" sz="1800" kern="1200" dirty="0">
                          <a:solidFill>
                            <a:schemeClr val="dk1"/>
                          </a:solidFill>
                          <a:effectLst/>
                          <a:latin typeface="+mn-lt"/>
                          <a:ea typeface="+mn-ea"/>
                          <a:cs typeface="+mn-cs"/>
                        </a:rPr>
                        <a:t>첫번째 모델에서 베타가 </a:t>
                      </a:r>
                      <a:r>
                        <a:rPr lang="en-US" altLang="ko-KR" sz="1800" kern="1200" dirty="0">
                          <a:solidFill>
                            <a:schemeClr val="dk1"/>
                          </a:solidFill>
                          <a:effectLst/>
                          <a:latin typeface="+mn-lt"/>
                          <a:ea typeface="+mn-ea"/>
                          <a:cs typeface="+mn-cs"/>
                        </a:rPr>
                        <a:t>1</a:t>
                      </a:r>
                      <a:r>
                        <a:rPr lang="ko-KR" altLang="ko-KR" sz="1800" kern="1200" dirty="0">
                          <a:solidFill>
                            <a:schemeClr val="dk1"/>
                          </a:solidFill>
                          <a:effectLst/>
                          <a:latin typeface="+mn-lt"/>
                          <a:ea typeface="+mn-ea"/>
                          <a:cs typeface="+mn-cs"/>
                        </a:rPr>
                        <a:t>에 가깝고</a:t>
                      </a:r>
                      <a:r>
                        <a:rPr lang="en-US" altLang="ko-KR" sz="1800" kern="1200" dirty="0">
                          <a:solidFill>
                            <a:schemeClr val="dk1"/>
                          </a:solidFill>
                          <a:effectLst/>
                          <a:latin typeface="+mn-lt"/>
                          <a:ea typeface="+mn-ea"/>
                          <a:cs typeface="+mn-cs"/>
                        </a:rPr>
                        <a:t>, intercept</a:t>
                      </a:r>
                      <a:r>
                        <a:rPr lang="ko-KR" altLang="ko-KR" sz="1800" kern="1200" dirty="0">
                          <a:solidFill>
                            <a:schemeClr val="dk1"/>
                          </a:solidFill>
                          <a:effectLst/>
                          <a:latin typeface="+mn-lt"/>
                          <a:ea typeface="+mn-ea"/>
                          <a:cs typeface="+mn-cs"/>
                        </a:rPr>
                        <a:t>가 </a:t>
                      </a:r>
                      <a:r>
                        <a:rPr lang="en-US" altLang="ko-KR" sz="1800" kern="1200" dirty="0">
                          <a:solidFill>
                            <a:schemeClr val="dk1"/>
                          </a:solidFill>
                          <a:effectLst/>
                          <a:latin typeface="+mn-lt"/>
                          <a:ea typeface="+mn-ea"/>
                          <a:cs typeface="+mn-cs"/>
                        </a:rPr>
                        <a:t>52</a:t>
                      </a:r>
                      <a:r>
                        <a:rPr lang="ko-KR" altLang="ko-KR" sz="1800" kern="1200" dirty="0">
                          <a:solidFill>
                            <a:schemeClr val="dk1"/>
                          </a:solidFill>
                          <a:effectLst/>
                          <a:latin typeface="+mn-lt"/>
                          <a:ea typeface="+mn-ea"/>
                          <a:cs typeface="+mn-cs"/>
                        </a:rPr>
                        <a:t>라는 것은 추세가 있다라는 것이고</a:t>
                      </a:r>
                      <a:r>
                        <a:rPr lang="en-US" altLang="ko-KR" sz="1800" kern="1200" dirty="0">
                          <a:solidFill>
                            <a:schemeClr val="dk1"/>
                          </a:solidFill>
                          <a:effectLst/>
                          <a:latin typeface="+mn-lt"/>
                          <a:ea typeface="+mn-ea"/>
                          <a:cs typeface="+mn-cs"/>
                        </a:rPr>
                        <a:t> </a:t>
                      </a:r>
                      <a:r>
                        <a:rPr lang="ko-KR" altLang="ko-KR" sz="1800" kern="1200" dirty="0">
                          <a:solidFill>
                            <a:schemeClr val="dk1"/>
                          </a:solidFill>
                          <a:effectLst/>
                          <a:latin typeface="+mn-lt"/>
                          <a:ea typeface="+mn-ea"/>
                          <a:cs typeface="+mn-cs"/>
                        </a:rPr>
                        <a:t>시점이 미래로 갈수록 일정 부분만큼 증가를 한다는 것</a:t>
                      </a:r>
                      <a:r>
                        <a:rPr lang="ko-KR" altLang="en-US" sz="1800" kern="1200" dirty="0">
                          <a:solidFill>
                            <a:schemeClr val="dk1"/>
                          </a:solidFill>
                          <a:effectLst/>
                          <a:latin typeface="+mn-lt"/>
                          <a:ea typeface="+mn-ea"/>
                          <a:cs typeface="+mn-cs"/>
                        </a:rPr>
                        <a:t>이기도 함</a:t>
                      </a:r>
                      <a:r>
                        <a:rPr lang="en-US" altLang="ko-KR" sz="1800" kern="1200" dirty="0">
                          <a:solidFill>
                            <a:schemeClr val="dk1"/>
                          </a:solidFill>
                          <a:effectLst/>
                          <a:latin typeface="+mn-lt"/>
                          <a:ea typeface="+mn-ea"/>
                          <a:cs typeface="+mn-cs"/>
                        </a:rPr>
                        <a:t>.  </a:t>
                      </a:r>
                      <a:endParaRPr lang="en-US" altLang="ko-KR" sz="1800" b="0" kern="1200" dirty="0">
                        <a:solidFill>
                          <a:schemeClr val="dk1"/>
                        </a:solidFill>
                        <a:effectLst/>
                        <a:latin typeface="+mn-lt"/>
                        <a:ea typeface="+mn-ea"/>
                        <a:cs typeface="+mn-cs"/>
                      </a:endParaRPr>
                    </a:p>
                    <a:p>
                      <a:pPr marL="285750" indent="-285750" latinLnBrk="1">
                        <a:buFont typeface="Arial" panose="020B0604020202020204" pitchFamily="34" charset="0"/>
                        <a:buChar char="•"/>
                      </a:pPr>
                      <a:r>
                        <a:rPr lang="en-US" altLang="ko-KR" sz="1800" b="1" kern="1200" dirty="0">
                          <a:solidFill>
                            <a:schemeClr val="dk1"/>
                          </a:solidFill>
                          <a:effectLst/>
                          <a:latin typeface="+mn-lt"/>
                          <a:ea typeface="+mn-ea"/>
                          <a:cs typeface="+mn-cs"/>
                        </a:rPr>
                        <a:t>Random walk</a:t>
                      </a:r>
                      <a:r>
                        <a:rPr lang="ko-KR" altLang="ko-KR" sz="1800" b="1" kern="1200" dirty="0">
                          <a:solidFill>
                            <a:schemeClr val="dk1"/>
                          </a:solidFill>
                          <a:effectLst/>
                          <a:latin typeface="+mn-lt"/>
                          <a:ea typeface="+mn-ea"/>
                          <a:cs typeface="+mn-cs"/>
                        </a:rPr>
                        <a:t>이니깐 단순예측이 최선이라는 것을 </a:t>
                      </a:r>
                      <a:r>
                        <a:rPr lang="ko-KR" altLang="ko-KR" sz="1800" b="1" kern="1200" dirty="0" err="1">
                          <a:solidFill>
                            <a:schemeClr val="dk1"/>
                          </a:solidFill>
                          <a:effectLst/>
                          <a:latin typeface="+mn-lt"/>
                          <a:ea typeface="+mn-ea"/>
                          <a:cs typeface="+mn-cs"/>
                        </a:rPr>
                        <a:t>알수가</a:t>
                      </a:r>
                      <a:r>
                        <a:rPr lang="ko-KR" altLang="ko-KR" sz="1800" b="1" kern="1200" dirty="0">
                          <a:solidFill>
                            <a:schemeClr val="dk1"/>
                          </a:solidFill>
                          <a:effectLst/>
                          <a:latin typeface="+mn-lt"/>
                          <a:ea typeface="+mn-ea"/>
                          <a:cs typeface="+mn-cs"/>
                        </a:rPr>
                        <a:t> 있음</a:t>
                      </a:r>
                      <a:endParaRPr lang="en-US" altLang="ko-KR" sz="1800" b="1" kern="1200" dirty="0">
                        <a:solidFill>
                          <a:schemeClr val="dk1"/>
                        </a:solidFill>
                        <a:effectLst/>
                        <a:latin typeface="+mn-lt"/>
                        <a:ea typeface="+mn-ea"/>
                        <a:cs typeface="+mn-cs"/>
                      </a:endParaRPr>
                    </a:p>
                    <a:p>
                      <a:pPr marL="285750" indent="-285750" latinLnBrk="1">
                        <a:buFont typeface="Arial" panose="020B0604020202020204" pitchFamily="34" charset="0"/>
                        <a:buChar char="•"/>
                      </a:pPr>
                      <a:r>
                        <a:rPr lang="ko-KR" altLang="ko-KR" sz="1800" kern="1200" dirty="0">
                          <a:solidFill>
                            <a:schemeClr val="dk1"/>
                          </a:solidFill>
                          <a:effectLst/>
                          <a:latin typeface="+mn-lt"/>
                          <a:ea typeface="+mn-ea"/>
                          <a:cs typeface="+mn-cs"/>
                        </a:rPr>
                        <a:t>두번째 모델은 </a:t>
                      </a:r>
                      <a:r>
                        <a:rPr lang="en-US" altLang="ko-KR" sz="1800" kern="1200" dirty="0">
                          <a:solidFill>
                            <a:schemeClr val="dk1"/>
                          </a:solidFill>
                          <a:effectLst/>
                          <a:latin typeface="+mn-lt"/>
                          <a:ea typeface="+mn-ea"/>
                          <a:cs typeface="+mn-cs"/>
                        </a:rPr>
                        <a:t>ar1</a:t>
                      </a:r>
                      <a:r>
                        <a:rPr lang="ko-KR" altLang="ko-KR" sz="1800" kern="1200" dirty="0">
                          <a:solidFill>
                            <a:schemeClr val="dk1"/>
                          </a:solidFill>
                          <a:effectLst/>
                          <a:latin typeface="+mn-lt"/>
                          <a:ea typeface="+mn-ea"/>
                          <a:cs typeface="+mn-cs"/>
                        </a:rPr>
                        <a:t>이 </a:t>
                      </a:r>
                      <a:r>
                        <a:rPr lang="en-US" altLang="ko-KR" sz="1800" kern="1200" dirty="0">
                          <a:solidFill>
                            <a:schemeClr val="dk1"/>
                          </a:solidFill>
                          <a:effectLst/>
                          <a:latin typeface="+mn-lt"/>
                          <a:ea typeface="+mn-ea"/>
                          <a:cs typeface="+mn-cs"/>
                        </a:rPr>
                        <a:t>0</a:t>
                      </a:r>
                      <a:r>
                        <a:rPr lang="ko-KR" altLang="ko-KR" sz="1800" kern="1200" dirty="0">
                          <a:solidFill>
                            <a:schemeClr val="dk1"/>
                          </a:solidFill>
                          <a:effectLst/>
                          <a:latin typeface="+mn-lt"/>
                          <a:ea typeface="+mn-ea"/>
                          <a:cs typeface="+mn-cs"/>
                        </a:rPr>
                        <a:t>에 가깝기 때문에 </a:t>
                      </a:r>
                      <a:r>
                        <a:rPr lang="en-US" altLang="ko-KR" sz="1800" kern="1200" dirty="0">
                          <a:solidFill>
                            <a:schemeClr val="dk1"/>
                          </a:solidFill>
                          <a:effectLst/>
                          <a:latin typeface="+mn-lt"/>
                          <a:ea typeface="+mn-ea"/>
                          <a:cs typeface="+mn-cs"/>
                        </a:rPr>
                        <a:t>white noise</a:t>
                      </a:r>
                      <a:r>
                        <a:rPr lang="ko-KR" altLang="en-US" sz="1800" kern="1200" dirty="0">
                          <a:solidFill>
                            <a:schemeClr val="dk1"/>
                          </a:solidFill>
                          <a:effectLst/>
                          <a:latin typeface="+mn-lt"/>
                          <a:ea typeface="+mn-ea"/>
                          <a:cs typeface="+mn-cs"/>
                        </a:rPr>
                        <a:t>이기에</a:t>
                      </a:r>
                      <a:r>
                        <a:rPr lang="en-US" altLang="ko-KR" sz="1800" kern="1200" dirty="0">
                          <a:solidFill>
                            <a:schemeClr val="dk1"/>
                          </a:solidFill>
                          <a:effectLst/>
                          <a:latin typeface="+mn-lt"/>
                          <a:ea typeface="+mn-ea"/>
                          <a:cs typeface="+mn-cs"/>
                        </a:rPr>
                        <a:t> </a:t>
                      </a:r>
                      <a:r>
                        <a:rPr lang="ko-KR" altLang="ko-KR" sz="1800" kern="1200" dirty="0">
                          <a:solidFill>
                            <a:schemeClr val="dk1"/>
                          </a:solidFill>
                          <a:effectLst/>
                          <a:latin typeface="+mn-lt"/>
                          <a:ea typeface="+mn-ea"/>
                          <a:cs typeface="+mn-cs"/>
                        </a:rPr>
                        <a:t>차분은 </a:t>
                      </a:r>
                      <a:r>
                        <a:rPr lang="en-US" altLang="ko-KR" sz="1800" kern="1200" dirty="0">
                          <a:solidFill>
                            <a:schemeClr val="dk1"/>
                          </a:solidFill>
                          <a:effectLst/>
                          <a:latin typeface="+mn-lt"/>
                          <a:ea typeface="+mn-ea"/>
                          <a:cs typeface="+mn-cs"/>
                        </a:rPr>
                        <a:t>white noise.</a:t>
                      </a:r>
                    </a:p>
                    <a:p>
                      <a:pPr marL="285750" indent="-285750" latinLnBrk="1">
                        <a:buFont typeface="Arial" panose="020B0604020202020204" pitchFamily="34" charset="0"/>
                        <a:buChar char="•"/>
                      </a:pPr>
                      <a:r>
                        <a:rPr lang="en-US" altLang="ko-KR" sz="1800" b="1" kern="1200" dirty="0">
                          <a:solidFill>
                            <a:schemeClr val="dk1"/>
                          </a:solidFill>
                          <a:effectLst/>
                          <a:latin typeface="+mn-lt"/>
                          <a:ea typeface="+mn-ea"/>
                          <a:cs typeface="+mn-cs"/>
                        </a:rPr>
                        <a:t>Random walk</a:t>
                      </a:r>
                      <a:r>
                        <a:rPr lang="ko-KR" altLang="ko-KR" sz="1800" b="1" kern="1200" dirty="0">
                          <a:solidFill>
                            <a:schemeClr val="dk1"/>
                          </a:solidFill>
                          <a:effectLst/>
                          <a:latin typeface="+mn-lt"/>
                          <a:ea typeface="+mn-ea"/>
                          <a:cs typeface="+mn-cs"/>
                        </a:rPr>
                        <a:t>는 계열 자체가 랜덤워크가 아니라 차분을 보면 랜덤이라는 것</a:t>
                      </a:r>
                      <a:endParaRPr lang="en-US" altLang="ko-KR" sz="1800" kern="1200" dirty="0">
                        <a:solidFill>
                          <a:schemeClr val="dk1"/>
                        </a:solidFill>
                        <a:effectLst/>
                        <a:latin typeface="+mn-lt"/>
                        <a:ea typeface="+mn-ea"/>
                        <a:cs typeface="+mn-cs"/>
                      </a:endParaRPr>
                    </a:p>
                    <a:p>
                      <a:pPr marL="285750" lvl="0" indent="-285750" latinLnBrk="1">
                        <a:buFont typeface="Arial" panose="020B0604020202020204" pitchFamily="34" charset="0"/>
                        <a:buChar char="•"/>
                      </a:pPr>
                      <a:endParaRPr lang="ko-KR" altLang="ko-KR" sz="1800" b="1" kern="1200" dirty="0">
                        <a:solidFill>
                          <a:schemeClr val="dk1"/>
                        </a:solidFill>
                        <a:effectLst/>
                        <a:latin typeface="+mn-lt"/>
                        <a:ea typeface="+mn-ea"/>
                        <a:cs typeface="+mn-cs"/>
                      </a:endParaRPr>
                    </a:p>
                  </a:txBody>
                  <a:tcPr/>
                </a:tc>
                <a:extLst>
                  <a:ext uri="{0D108BD9-81ED-4DB2-BD59-A6C34878D82A}">
                    <a16:rowId xmlns:a16="http://schemas.microsoft.com/office/drawing/2014/main" val="398258525"/>
                  </a:ext>
                </a:extLst>
              </a:tr>
            </a:tbl>
          </a:graphicData>
        </a:graphic>
      </p:graphicFrame>
      <p:sp>
        <p:nvSpPr>
          <p:cNvPr id="11" name="직사각형 10">
            <a:extLst>
              <a:ext uri="{FF2B5EF4-FFF2-40B4-BE49-F238E27FC236}">
                <a16:creationId xmlns:a16="http://schemas.microsoft.com/office/drawing/2014/main" id="{7EA33CA5-8767-498A-975A-2C525DDEAD17}"/>
              </a:ext>
            </a:extLst>
          </p:cNvPr>
          <p:cNvSpPr/>
          <p:nvPr/>
        </p:nvSpPr>
        <p:spPr>
          <a:xfrm>
            <a:off x="2251559" y="284579"/>
            <a:ext cx="9768806" cy="141577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3200" b="1" i="0" u="none" strike="noStrike" kern="0" cap="none" spc="0" normalizeH="0" baseline="0" noProof="0" dirty="0" err="1">
                <a:ln>
                  <a:noFill/>
                </a:ln>
                <a:solidFill>
                  <a:srgbClr val="FFC000"/>
                </a:solidFill>
                <a:effectLst/>
                <a:uLnTx/>
                <a:uFillTx/>
                <a:latin typeface="맑은 고딕" panose="020F0502020204030204"/>
                <a:ea typeface="맑은 고딕" panose="020B0503020000020004" pitchFamily="50" charset="-127"/>
                <a:cs typeface="+mn-cs"/>
              </a:rPr>
              <a:t>Wal-mart</a:t>
            </a:r>
            <a:r>
              <a:rPr kumimoji="0" lang="en-US" altLang="ko-KR" sz="32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rPr>
              <a:t> Stock data </a:t>
            </a:r>
            <a:r>
              <a:rPr kumimoji="0" lang="en-US" altLang="ko-KR" sz="32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 </a:t>
            </a:r>
            <a:r>
              <a:rPr kumimoji="0" lang="en-US" altLang="ko-KR" sz="3200" b="1" i="0" u="none" strike="noStrike" kern="0" cap="none" spc="0" normalizeH="0" baseline="0" noProof="0" dirty="0" err="1">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Predictablity</a:t>
            </a:r>
            <a:endParaRPr kumimoji="0" lang="en-US" altLang="ko-KR" sz="32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(c) Recreate the AR(1) model output for the Close price series shown in the left of Table 7.4. Does the AR model indicate that this is a random walk? Explain how you reached your conclusion.</a:t>
            </a:r>
          </a:p>
        </p:txBody>
      </p:sp>
      <p:pic>
        <p:nvPicPr>
          <p:cNvPr id="3" name="그림 2">
            <a:extLst>
              <a:ext uri="{FF2B5EF4-FFF2-40B4-BE49-F238E27FC236}">
                <a16:creationId xmlns:a16="http://schemas.microsoft.com/office/drawing/2014/main" id="{C9814DB1-5B08-4484-B462-D23CD231C50A}"/>
              </a:ext>
            </a:extLst>
          </p:cNvPr>
          <p:cNvPicPr>
            <a:picLocks noChangeAspect="1"/>
          </p:cNvPicPr>
          <p:nvPr/>
        </p:nvPicPr>
        <p:blipFill>
          <a:blip r:embed="rId2"/>
          <a:stretch>
            <a:fillRect/>
          </a:stretch>
        </p:blipFill>
        <p:spPr>
          <a:xfrm>
            <a:off x="0" y="1948926"/>
            <a:ext cx="4866491" cy="2827261"/>
          </a:xfrm>
          <a:prstGeom prst="rect">
            <a:avLst/>
          </a:prstGeom>
        </p:spPr>
      </p:pic>
    </p:spTree>
    <p:extLst>
      <p:ext uri="{BB962C8B-B14F-4D97-AF65-F5344CB8AC3E}">
        <p14:creationId xmlns:p14="http://schemas.microsoft.com/office/powerpoint/2010/main" val="230156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54BA1"/>
        </a:solidFill>
        <a:effectLst/>
      </p:bgPr>
    </p:bg>
    <p:spTree>
      <p:nvGrpSpPr>
        <p:cNvPr id="1" name=""/>
        <p:cNvGrpSpPr/>
        <p:nvPr/>
      </p:nvGrpSpPr>
      <p:grpSpPr>
        <a:xfrm>
          <a:off x="0" y="0"/>
          <a:ext cx="0" cy="0"/>
          <a:chOff x="0" y="0"/>
          <a:chExt cx="0" cy="0"/>
        </a:xfrm>
      </p:grpSpPr>
      <p:sp>
        <p:nvSpPr>
          <p:cNvPr id="8" name="직사각형 7"/>
          <p:cNvSpPr/>
          <p:nvPr/>
        </p:nvSpPr>
        <p:spPr>
          <a:xfrm>
            <a:off x="378372" y="415772"/>
            <a:ext cx="1702676" cy="720000"/>
          </a:xfrm>
          <a:prstGeom prst="rect">
            <a:avLst/>
          </a:prstGeom>
          <a:noFill/>
          <a:ln w="19050">
            <a:solidFill>
              <a:srgbClr val="FFC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rPr>
              <a:t>1</a:t>
            </a:r>
            <a:endParaRPr kumimoji="0" lang="ko-KR" altLang="en-US"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endParaRPr>
          </a:p>
        </p:txBody>
      </p:sp>
      <p:graphicFrame>
        <p:nvGraphicFramePr>
          <p:cNvPr id="7" name="표 8">
            <a:extLst>
              <a:ext uri="{FF2B5EF4-FFF2-40B4-BE49-F238E27FC236}">
                <a16:creationId xmlns:a16="http://schemas.microsoft.com/office/drawing/2014/main" id="{C6BFB913-AC8E-4EF9-A8DC-8D24B342903A}"/>
              </a:ext>
            </a:extLst>
          </p:cNvPr>
          <p:cNvGraphicFramePr>
            <a:graphicFrameLocks noGrp="1"/>
          </p:cNvGraphicFramePr>
          <p:nvPr>
            <p:extLst>
              <p:ext uri="{D42A27DB-BD31-4B8C-83A1-F6EECF244321}">
                <p14:modId xmlns:p14="http://schemas.microsoft.com/office/powerpoint/2010/main" val="3205916794"/>
              </p:ext>
            </p:extLst>
          </p:nvPr>
        </p:nvGraphicFramePr>
        <p:xfrm>
          <a:off x="843377" y="2327767"/>
          <a:ext cx="9028592" cy="2590462"/>
        </p:xfrm>
        <a:graphic>
          <a:graphicData uri="http://schemas.openxmlformats.org/drawingml/2006/table">
            <a:tbl>
              <a:tblPr firstRow="1" bandRow="1">
                <a:tableStyleId>{5C22544A-7EE6-4342-B048-85BDC9FD1C3A}</a:tableStyleId>
              </a:tblPr>
              <a:tblGrid>
                <a:gridCol w="4514296">
                  <a:extLst>
                    <a:ext uri="{9D8B030D-6E8A-4147-A177-3AD203B41FA5}">
                      <a16:colId xmlns:a16="http://schemas.microsoft.com/office/drawing/2014/main" val="4093639860"/>
                    </a:ext>
                  </a:extLst>
                </a:gridCol>
                <a:gridCol w="4514296">
                  <a:extLst>
                    <a:ext uri="{9D8B030D-6E8A-4147-A177-3AD203B41FA5}">
                      <a16:colId xmlns:a16="http://schemas.microsoft.com/office/drawing/2014/main" val="286243656"/>
                    </a:ext>
                  </a:extLst>
                </a:gridCol>
              </a:tblGrid>
              <a:tr h="45567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800" b="1" kern="1200" dirty="0">
                          <a:solidFill>
                            <a:schemeClr val="lt1"/>
                          </a:solidFill>
                          <a:effectLst/>
                          <a:latin typeface="+mn-lt"/>
                          <a:ea typeface="+mn-ea"/>
                          <a:cs typeface="+mn-cs"/>
                        </a:rPr>
                        <a:t>올바른 문장</a:t>
                      </a:r>
                      <a:endParaRPr lang="ko-KR" altLang="ko-KR" sz="1800" b="1" kern="1200" dirty="0">
                        <a:solidFill>
                          <a:schemeClr val="lt1"/>
                        </a:solidFill>
                        <a:effectLst/>
                        <a:latin typeface="+mn-lt"/>
                        <a:ea typeface="+mn-ea"/>
                        <a:cs typeface="+mn-cs"/>
                      </a:endParaRPr>
                    </a:p>
                  </a:txBody>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ko-KR" sz="1800" b="1" kern="1200" dirty="0">
                        <a:solidFill>
                          <a:schemeClr val="lt1"/>
                        </a:solidFill>
                        <a:effectLst/>
                        <a:latin typeface="+mn-lt"/>
                        <a:ea typeface="+mn-ea"/>
                        <a:cs typeface="+mn-cs"/>
                      </a:endParaRPr>
                    </a:p>
                  </a:txBody>
                  <a:tcPr/>
                </a:tc>
                <a:extLst>
                  <a:ext uri="{0D108BD9-81ED-4DB2-BD59-A6C34878D82A}">
                    <a16:rowId xmlns:a16="http://schemas.microsoft.com/office/drawing/2014/main" val="3200778601"/>
                  </a:ext>
                </a:extLst>
              </a:tr>
              <a:tr h="2134791">
                <a:tc>
                  <a:txBody>
                    <a:bodyPr/>
                    <a:lstStyle/>
                    <a:p>
                      <a:pPr marL="285750" marR="0" lvl="0" indent="-2857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1800" kern="1200" dirty="0">
                          <a:solidFill>
                            <a:schemeClr val="dk1"/>
                          </a:solidFill>
                          <a:effectLst/>
                          <a:latin typeface="+mn-lt"/>
                          <a:ea typeface="+mn-ea"/>
                          <a:cs typeface="+mn-cs"/>
                        </a:rPr>
                        <a:t>It  is  impossible  to  obtain  useful  forecasts  of  the  series.</a:t>
                      </a:r>
                    </a:p>
                    <a:p>
                      <a:pPr marL="285750" marR="0" lvl="0" indent="-2857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1800" kern="1200" dirty="0">
                          <a:solidFill>
                            <a:schemeClr val="dk1"/>
                          </a:solidFill>
                          <a:effectLst/>
                          <a:latin typeface="+mn-lt"/>
                          <a:ea typeface="+mn-ea"/>
                          <a:cs typeface="+mn-cs"/>
                        </a:rPr>
                        <a:t>The  changes  in  the  series  from  one  period  to  the  other are  random.</a:t>
                      </a:r>
                      <a:endParaRPr lang="ko-KR" altLang="ko-KR" sz="1800" kern="1200" dirty="0">
                        <a:solidFill>
                          <a:schemeClr val="dk1"/>
                        </a:solidFill>
                        <a:effectLst/>
                        <a:latin typeface="+mn-lt"/>
                        <a:ea typeface="+mn-ea"/>
                        <a:cs typeface="+mn-cs"/>
                      </a:endParaRPr>
                    </a:p>
                  </a:txBody>
                  <a:tcPr/>
                </a:tc>
                <a:tc>
                  <a:txBody>
                    <a:bodyPr/>
                    <a:lstStyle/>
                    <a:p>
                      <a:pPr marL="285750" indent="-285750" latinLnBrk="1">
                        <a:buFont typeface="Arial" panose="020B0604020202020204" pitchFamily="34" charset="0"/>
                        <a:buChar char="•"/>
                      </a:pPr>
                      <a:r>
                        <a:rPr lang="en-US" altLang="ko-KR" sz="1800" kern="1200" dirty="0">
                          <a:solidFill>
                            <a:schemeClr val="dk1"/>
                          </a:solidFill>
                          <a:effectLst/>
                          <a:latin typeface="+mn-lt"/>
                          <a:ea typeface="+mn-ea"/>
                          <a:cs typeface="+mn-cs"/>
                        </a:rPr>
                        <a:t>Random walk</a:t>
                      </a:r>
                      <a:r>
                        <a:rPr lang="ko-KR" altLang="en-US" sz="1800" kern="1200" dirty="0">
                          <a:solidFill>
                            <a:schemeClr val="dk1"/>
                          </a:solidFill>
                          <a:effectLst/>
                          <a:latin typeface="+mn-lt"/>
                          <a:ea typeface="+mn-ea"/>
                          <a:cs typeface="+mn-cs"/>
                        </a:rPr>
                        <a:t>이면 단순예측이 최선</a:t>
                      </a:r>
                      <a:endParaRPr lang="en-US" altLang="ko-KR" sz="1800" kern="1200" dirty="0">
                        <a:solidFill>
                          <a:schemeClr val="dk1"/>
                        </a:solidFill>
                        <a:effectLst/>
                        <a:latin typeface="+mn-lt"/>
                        <a:ea typeface="+mn-ea"/>
                        <a:cs typeface="+mn-cs"/>
                      </a:endParaRPr>
                    </a:p>
                    <a:p>
                      <a:pPr marL="285750" indent="-285750" latinLnBrk="1">
                        <a:buFont typeface="Arial" panose="020B0604020202020204" pitchFamily="34" charset="0"/>
                        <a:buChar char="•"/>
                      </a:pPr>
                      <a:r>
                        <a:rPr lang="ko-KR" altLang="en-US" sz="1800" kern="1200" dirty="0">
                          <a:solidFill>
                            <a:schemeClr val="dk1"/>
                          </a:solidFill>
                          <a:effectLst/>
                          <a:latin typeface="+mn-lt"/>
                          <a:ea typeface="+mn-ea"/>
                          <a:cs typeface="+mn-cs"/>
                        </a:rPr>
                        <a:t>그렇기에 유용한 예측을 얻는 것은 힘들고 한 기간에서 다른 기간으로 계열 변경은 무작위임</a:t>
                      </a:r>
                      <a:r>
                        <a:rPr lang="en-US" altLang="ko-KR" sz="1800" kern="1200" dirty="0">
                          <a:solidFill>
                            <a:schemeClr val="dk1"/>
                          </a:solidFill>
                          <a:effectLst/>
                          <a:latin typeface="+mn-lt"/>
                          <a:ea typeface="+mn-ea"/>
                          <a:cs typeface="+mn-cs"/>
                        </a:rPr>
                        <a:t>.</a:t>
                      </a:r>
                      <a:endParaRPr lang="ko-KR" altLang="ko-KR" sz="1800" kern="1200" dirty="0">
                        <a:solidFill>
                          <a:schemeClr val="dk1"/>
                        </a:solidFill>
                        <a:effectLst/>
                        <a:latin typeface="+mn-lt"/>
                        <a:ea typeface="+mn-ea"/>
                        <a:cs typeface="+mn-cs"/>
                      </a:endParaRPr>
                    </a:p>
                  </a:txBody>
                  <a:tcPr/>
                </a:tc>
                <a:extLst>
                  <a:ext uri="{0D108BD9-81ED-4DB2-BD59-A6C34878D82A}">
                    <a16:rowId xmlns:a16="http://schemas.microsoft.com/office/drawing/2014/main" val="398258525"/>
                  </a:ext>
                </a:extLst>
              </a:tr>
            </a:tbl>
          </a:graphicData>
        </a:graphic>
      </p:graphicFrame>
      <p:sp>
        <p:nvSpPr>
          <p:cNvPr id="11" name="직사각형 10">
            <a:extLst>
              <a:ext uri="{FF2B5EF4-FFF2-40B4-BE49-F238E27FC236}">
                <a16:creationId xmlns:a16="http://schemas.microsoft.com/office/drawing/2014/main" id="{7EA33CA5-8767-498A-975A-2C525DDEAD17}"/>
              </a:ext>
            </a:extLst>
          </p:cNvPr>
          <p:cNvSpPr/>
          <p:nvPr/>
        </p:nvSpPr>
        <p:spPr>
          <a:xfrm>
            <a:off x="2251559" y="284579"/>
            <a:ext cx="9768806" cy="1138773"/>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3200" b="1" i="0" u="none" strike="noStrike" kern="0" cap="none" spc="0" normalizeH="0" baseline="0" noProof="0" dirty="0" err="1">
                <a:ln>
                  <a:noFill/>
                </a:ln>
                <a:solidFill>
                  <a:srgbClr val="FFC000"/>
                </a:solidFill>
                <a:effectLst/>
                <a:uLnTx/>
                <a:uFillTx/>
                <a:latin typeface="맑은 고딕" panose="020F0502020204030204"/>
                <a:ea typeface="맑은 고딕" panose="020B0503020000020004" pitchFamily="50" charset="-127"/>
                <a:cs typeface="+mn-cs"/>
              </a:rPr>
              <a:t>Wal-mart</a:t>
            </a:r>
            <a:r>
              <a:rPr kumimoji="0" lang="en-US" altLang="ko-KR" sz="32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rPr>
              <a:t> Stock data </a:t>
            </a:r>
            <a:r>
              <a:rPr kumimoji="0" lang="en-US" altLang="ko-KR" sz="32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 </a:t>
            </a:r>
            <a:r>
              <a:rPr kumimoji="0" lang="en-US" altLang="ko-KR" sz="3200" b="1" i="0" u="none" strike="noStrike" kern="0" cap="none" spc="0" normalizeH="0" baseline="0" noProof="0" dirty="0" err="1">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Predictablity</a:t>
            </a:r>
            <a:endParaRPr kumimoji="0" lang="en-US" altLang="ko-KR" sz="32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(d) What  are  the  implications  of  ﬁnding  that  a  time  series  is  a random  walk?  Choose  the  correct  statement(s)  below.</a:t>
            </a:r>
          </a:p>
        </p:txBody>
      </p:sp>
    </p:spTree>
    <p:extLst>
      <p:ext uri="{BB962C8B-B14F-4D97-AF65-F5344CB8AC3E}">
        <p14:creationId xmlns:p14="http://schemas.microsoft.com/office/powerpoint/2010/main" val="5120929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54BA1"/>
        </a:solidFill>
        <a:effectLst/>
      </p:bgPr>
    </p:bg>
    <p:spTree>
      <p:nvGrpSpPr>
        <p:cNvPr id="1" name=""/>
        <p:cNvGrpSpPr/>
        <p:nvPr/>
      </p:nvGrpSpPr>
      <p:grpSpPr>
        <a:xfrm>
          <a:off x="0" y="0"/>
          <a:ext cx="0" cy="0"/>
          <a:chOff x="0" y="0"/>
          <a:chExt cx="0" cy="0"/>
        </a:xfrm>
      </p:grpSpPr>
      <p:sp>
        <p:nvSpPr>
          <p:cNvPr id="8" name="직사각형 7"/>
          <p:cNvSpPr/>
          <p:nvPr/>
        </p:nvSpPr>
        <p:spPr>
          <a:xfrm>
            <a:off x="378372" y="415772"/>
            <a:ext cx="1702676" cy="720000"/>
          </a:xfrm>
          <a:prstGeom prst="rect">
            <a:avLst/>
          </a:prstGeom>
          <a:noFill/>
          <a:ln w="19050">
            <a:solidFill>
              <a:srgbClr val="FFC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2800" b="1" kern="0" dirty="0">
                <a:solidFill>
                  <a:srgbClr val="FFC000"/>
                </a:solidFill>
                <a:latin typeface="맑은 고딕" panose="020F0502020204030204"/>
                <a:ea typeface="맑은 고딕" panose="020B0503020000020004" pitchFamily="50" charset="-127"/>
              </a:rPr>
              <a:t>2</a:t>
            </a:r>
            <a:endParaRPr kumimoji="0" lang="ko-KR" altLang="en-US"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endParaRPr>
          </a:p>
        </p:txBody>
      </p:sp>
      <p:sp>
        <p:nvSpPr>
          <p:cNvPr id="11" name="직사각형 10">
            <a:extLst>
              <a:ext uri="{FF2B5EF4-FFF2-40B4-BE49-F238E27FC236}">
                <a16:creationId xmlns:a16="http://schemas.microsoft.com/office/drawing/2014/main" id="{7EA33CA5-8767-498A-975A-2C525DDEAD17}"/>
              </a:ext>
            </a:extLst>
          </p:cNvPr>
          <p:cNvSpPr/>
          <p:nvPr/>
        </p:nvSpPr>
        <p:spPr>
          <a:xfrm>
            <a:off x="2251559" y="284579"/>
            <a:ext cx="9768806" cy="141577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32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rPr>
              <a:t>Souvenir Sales data – ARIMA</a:t>
            </a:r>
          </a:p>
          <a:p>
            <a:pPr marL="342900" marR="0" lvl="0" indent="-342900" algn="l" defTabSz="914400" rtl="0" eaLnBrk="1" fontAlgn="auto" latinLnBrk="0" hangingPunct="1">
              <a:lnSpc>
                <a:spcPct val="100000"/>
              </a:lnSpc>
              <a:spcBef>
                <a:spcPts val="0"/>
              </a:spcBef>
              <a:spcAft>
                <a:spcPts val="0"/>
              </a:spcAft>
              <a:buClrTx/>
              <a:buSzTx/>
              <a:buFontTx/>
              <a:buAutoNum type="alphaLcParenBoth"/>
              <a:tabLst/>
              <a:defRPr/>
            </a:pPr>
            <a:r>
              <a:rPr kumimoji="0" lang="en-US" altLang="ko-KR" sz="1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Run  a  regression  model  with  log(Sales)  as  the  output variable  and  with  a  linear  trend  and  monthly  predictors. Remember  to  ﬁt  only  the  training  period.  Use  this  model  to forecast  the  sales  in  February  2002.</a:t>
            </a:r>
            <a:r>
              <a:rPr lang="en-US" altLang="ko-KR" b="1" kern="0" dirty="0">
                <a:solidFill>
                  <a:srgbClr val="FFC000"/>
                </a:solidFill>
                <a:latin typeface="맑은 고딕" panose="020F0502020204030204"/>
                <a:ea typeface="맑은 고딕" panose="020B0503020000020004" pitchFamily="50" charset="-127"/>
                <a:sym typeface="Wingdings" panose="05000000000000000000" pitchFamily="2" charset="2"/>
              </a:rPr>
              <a:t> (</a:t>
            </a:r>
            <a:r>
              <a:rPr lang="ko-KR" altLang="en-US" b="1" kern="0" dirty="0">
                <a:solidFill>
                  <a:srgbClr val="FFC000"/>
                </a:solidFill>
                <a:latin typeface="맑은 고딕" panose="020F0502020204030204"/>
                <a:ea typeface="맑은 고딕" panose="020B0503020000020004" pitchFamily="50" charset="-127"/>
                <a:sym typeface="Wingdings" panose="05000000000000000000" pitchFamily="2" charset="2"/>
              </a:rPr>
              <a:t>선형회귀 모델</a:t>
            </a:r>
            <a:r>
              <a:rPr lang="en-US" altLang="ko-KR" b="1" kern="0" dirty="0">
                <a:solidFill>
                  <a:srgbClr val="FFC000"/>
                </a:solidFill>
                <a:latin typeface="맑은 고딕" panose="020F0502020204030204"/>
                <a:ea typeface="맑은 고딕" panose="020B0503020000020004" pitchFamily="50" charset="-127"/>
                <a:sym typeface="Wingdings" panose="05000000000000000000" pitchFamily="2" charset="2"/>
              </a:rPr>
              <a:t>)</a:t>
            </a:r>
            <a:endParaRPr kumimoji="0" lang="en-US" altLang="ko-KR" sz="1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endParaRPr>
          </a:p>
        </p:txBody>
      </p:sp>
      <p:pic>
        <p:nvPicPr>
          <p:cNvPr id="5" name="그림 4">
            <a:extLst>
              <a:ext uri="{FF2B5EF4-FFF2-40B4-BE49-F238E27FC236}">
                <a16:creationId xmlns:a16="http://schemas.microsoft.com/office/drawing/2014/main" id="{8D0EBB41-A978-41D7-AC4C-2AA99CA66155}"/>
              </a:ext>
            </a:extLst>
          </p:cNvPr>
          <p:cNvPicPr>
            <a:picLocks noChangeAspect="1"/>
          </p:cNvPicPr>
          <p:nvPr/>
        </p:nvPicPr>
        <p:blipFill>
          <a:blip r:embed="rId2"/>
          <a:stretch>
            <a:fillRect/>
          </a:stretch>
        </p:blipFill>
        <p:spPr>
          <a:xfrm>
            <a:off x="294478" y="1998200"/>
            <a:ext cx="7082865" cy="4204316"/>
          </a:xfrm>
          <a:prstGeom prst="rect">
            <a:avLst/>
          </a:prstGeom>
        </p:spPr>
      </p:pic>
      <p:graphicFrame>
        <p:nvGraphicFramePr>
          <p:cNvPr id="9" name="표 8">
            <a:extLst>
              <a:ext uri="{FF2B5EF4-FFF2-40B4-BE49-F238E27FC236}">
                <a16:creationId xmlns:a16="http://schemas.microsoft.com/office/drawing/2014/main" id="{06376768-C6B0-4F5F-BB96-115BD93736A3}"/>
              </a:ext>
            </a:extLst>
          </p:cNvPr>
          <p:cNvGraphicFramePr>
            <a:graphicFrameLocks noGrp="1"/>
          </p:cNvGraphicFramePr>
          <p:nvPr>
            <p:extLst>
              <p:ext uri="{D42A27DB-BD31-4B8C-83A1-F6EECF244321}">
                <p14:modId xmlns:p14="http://schemas.microsoft.com/office/powerpoint/2010/main" val="3047755498"/>
              </p:ext>
            </p:extLst>
          </p:nvPr>
        </p:nvGraphicFramePr>
        <p:xfrm>
          <a:off x="7714694" y="1998200"/>
          <a:ext cx="4021585" cy="2108200"/>
        </p:xfrm>
        <a:graphic>
          <a:graphicData uri="http://schemas.openxmlformats.org/drawingml/2006/table">
            <a:tbl>
              <a:tblPr firstRow="1" bandRow="1">
                <a:tableStyleId>{5C22544A-7EE6-4342-B048-85BDC9FD1C3A}</a:tableStyleId>
              </a:tblPr>
              <a:tblGrid>
                <a:gridCol w="4021585">
                  <a:extLst>
                    <a:ext uri="{9D8B030D-6E8A-4147-A177-3AD203B41FA5}">
                      <a16:colId xmlns:a16="http://schemas.microsoft.com/office/drawing/2014/main" val="4093639860"/>
                    </a:ext>
                  </a:extLst>
                </a:gridCol>
              </a:tblGrid>
              <a:tr h="370840">
                <a:tc>
                  <a:txBody>
                    <a:bodyPr/>
                    <a:lstStyle/>
                    <a:p>
                      <a:pPr marL="285750" indent="-285750" latinLnBrk="1">
                        <a:buFont typeface="Arial" panose="020B0604020202020204" pitchFamily="34" charset="0"/>
                        <a:buChar char="•"/>
                      </a:pPr>
                      <a:endParaRPr lang="ko-KR" altLang="en-US"/>
                    </a:p>
                  </a:txBody>
                  <a:tcPr/>
                </a:tc>
                <a:extLst>
                  <a:ext uri="{0D108BD9-81ED-4DB2-BD59-A6C34878D82A}">
                    <a16:rowId xmlns:a16="http://schemas.microsoft.com/office/drawing/2014/main" val="3200778601"/>
                  </a:ext>
                </a:extLst>
              </a:tr>
              <a:tr h="370840">
                <a:tc>
                  <a:txBody>
                    <a:bodyPr/>
                    <a:lstStyle/>
                    <a:p>
                      <a:pPr marL="285750" indent="-285750" latinLnBrk="1">
                        <a:buFont typeface="Arial" panose="020B0604020202020204" pitchFamily="34" charset="0"/>
                        <a:buChar char="•"/>
                      </a:pPr>
                      <a:r>
                        <a:rPr lang="ko-KR" altLang="ko-KR" sz="1800" kern="1200" dirty="0">
                          <a:solidFill>
                            <a:schemeClr val="dk1"/>
                          </a:solidFill>
                          <a:effectLst/>
                          <a:latin typeface="+mn-lt"/>
                          <a:ea typeface="+mn-ea"/>
                          <a:cs typeface="+mn-cs"/>
                        </a:rPr>
                        <a:t>기념품 매출을 시점별로 나열</a:t>
                      </a:r>
                      <a:endParaRPr lang="en-US" altLang="ko-KR" sz="1800" kern="1200" dirty="0">
                        <a:solidFill>
                          <a:schemeClr val="dk1"/>
                        </a:solidFill>
                        <a:effectLst/>
                        <a:latin typeface="+mn-lt"/>
                        <a:ea typeface="+mn-ea"/>
                        <a:cs typeface="+mn-cs"/>
                      </a:endParaRPr>
                    </a:p>
                    <a:p>
                      <a:pPr marL="285750" indent="-285750" latinLnBrk="1">
                        <a:buFont typeface="Arial" panose="020B0604020202020204" pitchFamily="34" charset="0"/>
                        <a:buChar char="•"/>
                      </a:pPr>
                      <a:r>
                        <a:rPr lang="ko-KR" altLang="ko-KR" sz="1800" kern="1200" dirty="0">
                          <a:solidFill>
                            <a:schemeClr val="dk1"/>
                          </a:solidFill>
                          <a:effectLst/>
                          <a:latin typeface="+mn-lt"/>
                          <a:ea typeface="+mn-ea"/>
                          <a:cs typeface="+mn-cs"/>
                        </a:rPr>
                        <a:t>추세가 나타</a:t>
                      </a:r>
                      <a:r>
                        <a:rPr lang="ko-KR" altLang="en-US" sz="1800" kern="1200" dirty="0">
                          <a:solidFill>
                            <a:schemeClr val="dk1"/>
                          </a:solidFill>
                          <a:effectLst/>
                          <a:latin typeface="+mn-lt"/>
                          <a:ea typeface="+mn-ea"/>
                          <a:cs typeface="+mn-cs"/>
                        </a:rPr>
                        <a:t>나고 </a:t>
                      </a:r>
                      <a:r>
                        <a:rPr lang="ko-KR" altLang="ko-KR" sz="1800" kern="1200" dirty="0">
                          <a:solidFill>
                            <a:schemeClr val="dk1"/>
                          </a:solidFill>
                          <a:effectLst/>
                          <a:latin typeface="+mn-lt"/>
                          <a:ea typeface="+mn-ea"/>
                          <a:cs typeface="+mn-cs"/>
                        </a:rPr>
                        <a:t>선</a:t>
                      </a:r>
                      <a:r>
                        <a:rPr lang="ko-KR" altLang="en-US" sz="1800" kern="1200" dirty="0">
                          <a:solidFill>
                            <a:schemeClr val="dk1"/>
                          </a:solidFill>
                          <a:effectLst/>
                          <a:latin typeface="+mn-lt"/>
                          <a:ea typeface="+mn-ea"/>
                          <a:cs typeface="+mn-cs"/>
                        </a:rPr>
                        <a:t>형</a:t>
                      </a:r>
                      <a:r>
                        <a:rPr lang="ko-KR" altLang="ko-KR" sz="1800" kern="1200" dirty="0">
                          <a:solidFill>
                            <a:schemeClr val="dk1"/>
                          </a:solidFill>
                          <a:effectLst/>
                          <a:latin typeface="+mn-lt"/>
                          <a:ea typeface="+mn-ea"/>
                          <a:cs typeface="+mn-cs"/>
                        </a:rPr>
                        <a:t>보다는 급하고 직선보다는 빠르</a:t>
                      </a:r>
                      <a:r>
                        <a:rPr lang="ko-KR" altLang="en-US" sz="1800" kern="1200" dirty="0">
                          <a:solidFill>
                            <a:schemeClr val="dk1"/>
                          </a:solidFill>
                          <a:effectLst/>
                          <a:latin typeface="+mn-lt"/>
                          <a:ea typeface="+mn-ea"/>
                          <a:cs typeface="+mn-cs"/>
                        </a:rPr>
                        <a:t>기때문에</a:t>
                      </a:r>
                      <a:r>
                        <a:rPr lang="ko-KR" altLang="ko-KR" sz="1800" kern="1200" dirty="0">
                          <a:solidFill>
                            <a:schemeClr val="dk1"/>
                          </a:solidFill>
                          <a:effectLst/>
                          <a:latin typeface="+mn-lt"/>
                          <a:ea typeface="+mn-ea"/>
                          <a:cs typeface="+mn-cs"/>
                        </a:rPr>
                        <a:t> </a:t>
                      </a:r>
                      <a:r>
                        <a:rPr lang="en-US" altLang="ko-KR" sz="1800" kern="1200" dirty="0">
                          <a:solidFill>
                            <a:schemeClr val="dk1"/>
                          </a:solidFill>
                          <a:effectLst/>
                          <a:latin typeface="+mn-lt"/>
                          <a:ea typeface="+mn-ea"/>
                          <a:cs typeface="+mn-cs"/>
                        </a:rPr>
                        <a:t>Log</a:t>
                      </a:r>
                      <a:r>
                        <a:rPr lang="ko-KR" altLang="ko-KR" sz="1800" kern="1200" dirty="0">
                          <a:solidFill>
                            <a:schemeClr val="dk1"/>
                          </a:solidFill>
                          <a:effectLst/>
                          <a:latin typeface="+mn-lt"/>
                          <a:ea typeface="+mn-ea"/>
                          <a:cs typeface="+mn-cs"/>
                        </a:rPr>
                        <a:t>를 취해서 선형추세에 가깝게 만들고 모델을 </a:t>
                      </a:r>
                      <a:r>
                        <a:rPr lang="ko-KR" altLang="en-US" sz="1800" kern="1200" dirty="0">
                          <a:solidFill>
                            <a:schemeClr val="dk1"/>
                          </a:solidFill>
                          <a:effectLst/>
                          <a:latin typeface="+mn-lt"/>
                          <a:ea typeface="+mn-ea"/>
                          <a:cs typeface="+mn-cs"/>
                        </a:rPr>
                        <a:t>만들어서 </a:t>
                      </a:r>
                      <a:r>
                        <a:rPr lang="en-US" altLang="ko-KR" sz="1800" kern="1200" dirty="0">
                          <a:solidFill>
                            <a:schemeClr val="dk1"/>
                          </a:solidFill>
                          <a:effectLst/>
                          <a:latin typeface="+mn-lt"/>
                          <a:ea typeface="+mn-ea"/>
                          <a:cs typeface="+mn-cs"/>
                        </a:rPr>
                        <a:t>2002</a:t>
                      </a:r>
                      <a:r>
                        <a:rPr lang="ko-KR" altLang="en-US" sz="1800" kern="1200" dirty="0">
                          <a:solidFill>
                            <a:schemeClr val="dk1"/>
                          </a:solidFill>
                          <a:effectLst/>
                          <a:latin typeface="+mn-lt"/>
                          <a:ea typeface="+mn-ea"/>
                          <a:cs typeface="+mn-cs"/>
                        </a:rPr>
                        <a:t>년 </a:t>
                      </a:r>
                      <a:r>
                        <a:rPr lang="en-US" altLang="ko-KR" sz="1800" kern="1200" dirty="0">
                          <a:solidFill>
                            <a:schemeClr val="dk1"/>
                          </a:solidFill>
                          <a:effectLst/>
                          <a:latin typeface="+mn-lt"/>
                          <a:ea typeface="+mn-ea"/>
                          <a:cs typeface="+mn-cs"/>
                        </a:rPr>
                        <a:t>2</a:t>
                      </a:r>
                      <a:r>
                        <a:rPr lang="ko-KR" altLang="en-US" sz="1800" kern="1200" dirty="0">
                          <a:solidFill>
                            <a:schemeClr val="dk1"/>
                          </a:solidFill>
                          <a:effectLst/>
                          <a:latin typeface="+mn-lt"/>
                          <a:ea typeface="+mn-ea"/>
                          <a:cs typeface="+mn-cs"/>
                        </a:rPr>
                        <a:t>월을 예측</a:t>
                      </a:r>
                      <a:r>
                        <a:rPr lang="en-US" altLang="ko-KR" sz="1800" kern="1200" dirty="0">
                          <a:solidFill>
                            <a:schemeClr val="dk1"/>
                          </a:solidFill>
                          <a:effectLst/>
                          <a:latin typeface="+mn-lt"/>
                          <a:ea typeface="+mn-ea"/>
                          <a:cs typeface="+mn-cs"/>
                        </a:rPr>
                        <a:t>.</a:t>
                      </a:r>
                      <a:endParaRPr lang="ko-KR" altLang="ko-KR" sz="1800" kern="1200" dirty="0">
                        <a:solidFill>
                          <a:schemeClr val="dk1"/>
                        </a:solidFill>
                        <a:effectLst/>
                        <a:latin typeface="+mn-lt"/>
                        <a:ea typeface="+mn-ea"/>
                        <a:cs typeface="+mn-cs"/>
                      </a:endParaRPr>
                    </a:p>
                  </a:txBody>
                  <a:tcPr/>
                </a:tc>
                <a:extLst>
                  <a:ext uri="{0D108BD9-81ED-4DB2-BD59-A6C34878D82A}">
                    <a16:rowId xmlns:a16="http://schemas.microsoft.com/office/drawing/2014/main" val="398258525"/>
                  </a:ext>
                </a:extLst>
              </a:tr>
            </a:tbl>
          </a:graphicData>
        </a:graphic>
      </p:graphicFrame>
    </p:spTree>
    <p:extLst>
      <p:ext uri="{BB962C8B-B14F-4D97-AF65-F5344CB8AC3E}">
        <p14:creationId xmlns:p14="http://schemas.microsoft.com/office/powerpoint/2010/main" val="3425183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54BA1"/>
        </a:solidFill>
        <a:effectLst/>
      </p:bgPr>
    </p:bg>
    <p:spTree>
      <p:nvGrpSpPr>
        <p:cNvPr id="1" name=""/>
        <p:cNvGrpSpPr/>
        <p:nvPr/>
      </p:nvGrpSpPr>
      <p:grpSpPr>
        <a:xfrm>
          <a:off x="0" y="0"/>
          <a:ext cx="0" cy="0"/>
          <a:chOff x="0" y="0"/>
          <a:chExt cx="0" cy="0"/>
        </a:xfrm>
      </p:grpSpPr>
      <p:sp>
        <p:nvSpPr>
          <p:cNvPr id="8" name="직사각형 7"/>
          <p:cNvSpPr/>
          <p:nvPr/>
        </p:nvSpPr>
        <p:spPr>
          <a:xfrm>
            <a:off x="378372" y="415772"/>
            <a:ext cx="1702676" cy="720000"/>
          </a:xfrm>
          <a:prstGeom prst="rect">
            <a:avLst/>
          </a:prstGeom>
          <a:noFill/>
          <a:ln w="19050">
            <a:solidFill>
              <a:srgbClr val="FFC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rPr>
              <a:t>2</a:t>
            </a:r>
            <a:endParaRPr kumimoji="0" lang="ko-KR" altLang="en-US"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endParaRPr>
          </a:p>
        </p:txBody>
      </p:sp>
      <p:sp>
        <p:nvSpPr>
          <p:cNvPr id="11" name="직사각형 10">
            <a:extLst>
              <a:ext uri="{FF2B5EF4-FFF2-40B4-BE49-F238E27FC236}">
                <a16:creationId xmlns:a16="http://schemas.microsoft.com/office/drawing/2014/main" id="{7EA33CA5-8767-498A-975A-2C525DDEAD17}"/>
              </a:ext>
            </a:extLst>
          </p:cNvPr>
          <p:cNvSpPr/>
          <p:nvPr/>
        </p:nvSpPr>
        <p:spPr>
          <a:xfrm>
            <a:off x="2251559" y="284579"/>
            <a:ext cx="9768806" cy="141577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32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rPr>
              <a:t>Souvenir Sales data – ARIMA</a:t>
            </a:r>
          </a:p>
          <a:p>
            <a:pPr marL="342900" marR="0" lvl="0" indent="-342900" algn="l" defTabSz="914400" rtl="0" eaLnBrk="1" fontAlgn="auto" latinLnBrk="0" hangingPunct="1">
              <a:lnSpc>
                <a:spcPct val="100000"/>
              </a:lnSpc>
              <a:spcBef>
                <a:spcPts val="0"/>
              </a:spcBef>
              <a:spcAft>
                <a:spcPts val="0"/>
              </a:spcAft>
              <a:buClrTx/>
              <a:buSzTx/>
              <a:buFontTx/>
              <a:buAutoNum type="alphaLcParenBoth"/>
              <a:tabLst/>
              <a:defRPr/>
            </a:pPr>
            <a:r>
              <a:rPr kumimoji="0" lang="en-US" altLang="ko-KR" sz="1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Run  a  regression  model  with  log(Sales)  as  the  output variable  and  with  a  linear  trend  and  monthly  predictors. Remember  to  ﬁt  only  the  training  period.  Use  this  model  to forecast  the  sales  in  February  2002. (</a:t>
            </a:r>
            <a:r>
              <a:rPr kumimoji="0" lang="ko-KR" altLang="en-US" sz="1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선형회귀 모델</a:t>
            </a:r>
            <a:r>
              <a:rPr kumimoji="0" lang="en-US" altLang="ko-KR" sz="1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a:t>
            </a:r>
          </a:p>
        </p:txBody>
      </p:sp>
      <p:graphicFrame>
        <p:nvGraphicFramePr>
          <p:cNvPr id="9" name="표 8">
            <a:extLst>
              <a:ext uri="{FF2B5EF4-FFF2-40B4-BE49-F238E27FC236}">
                <a16:creationId xmlns:a16="http://schemas.microsoft.com/office/drawing/2014/main" id="{06376768-C6B0-4F5F-BB96-115BD93736A3}"/>
              </a:ext>
            </a:extLst>
          </p:cNvPr>
          <p:cNvGraphicFramePr>
            <a:graphicFrameLocks noGrp="1"/>
          </p:cNvGraphicFramePr>
          <p:nvPr>
            <p:extLst>
              <p:ext uri="{D42A27DB-BD31-4B8C-83A1-F6EECF244321}">
                <p14:modId xmlns:p14="http://schemas.microsoft.com/office/powerpoint/2010/main" val="3698521735"/>
              </p:ext>
            </p:extLst>
          </p:nvPr>
        </p:nvGraphicFramePr>
        <p:xfrm>
          <a:off x="7714694" y="1998200"/>
          <a:ext cx="4021585" cy="2108200"/>
        </p:xfrm>
        <a:graphic>
          <a:graphicData uri="http://schemas.openxmlformats.org/drawingml/2006/table">
            <a:tbl>
              <a:tblPr firstRow="1" bandRow="1">
                <a:tableStyleId>{5C22544A-7EE6-4342-B048-85BDC9FD1C3A}</a:tableStyleId>
              </a:tblPr>
              <a:tblGrid>
                <a:gridCol w="4021585">
                  <a:extLst>
                    <a:ext uri="{9D8B030D-6E8A-4147-A177-3AD203B41FA5}">
                      <a16:colId xmlns:a16="http://schemas.microsoft.com/office/drawing/2014/main" val="4093639860"/>
                    </a:ext>
                  </a:extLst>
                </a:gridCol>
              </a:tblGrid>
              <a:tr h="370840">
                <a:tc>
                  <a:txBody>
                    <a:bodyPr/>
                    <a:lstStyle/>
                    <a:p>
                      <a:pPr marL="285750" indent="-285750" latinLnBrk="1">
                        <a:buFont typeface="Arial" panose="020B0604020202020204" pitchFamily="34" charset="0"/>
                        <a:buChar char="•"/>
                      </a:pPr>
                      <a:endParaRPr lang="ko-KR" altLang="en-US"/>
                    </a:p>
                  </a:txBody>
                  <a:tcPr/>
                </a:tc>
                <a:extLst>
                  <a:ext uri="{0D108BD9-81ED-4DB2-BD59-A6C34878D82A}">
                    <a16:rowId xmlns:a16="http://schemas.microsoft.com/office/drawing/2014/main" val="3200778601"/>
                  </a:ext>
                </a:extLst>
              </a:tr>
              <a:tr h="370840">
                <a:tc>
                  <a:txBody>
                    <a:bodyPr/>
                    <a:lstStyle/>
                    <a:p>
                      <a:pPr marL="285750" indent="-285750" latinLnBrk="1">
                        <a:buFont typeface="Arial" panose="020B0604020202020204" pitchFamily="34" charset="0"/>
                        <a:buChar char="•"/>
                      </a:pPr>
                      <a:r>
                        <a:rPr lang="ko-KR" altLang="ko-KR" sz="1800" kern="1200" dirty="0">
                          <a:solidFill>
                            <a:schemeClr val="dk1"/>
                          </a:solidFill>
                          <a:effectLst/>
                          <a:latin typeface="+mn-lt"/>
                          <a:ea typeface="+mn-ea"/>
                          <a:cs typeface="+mn-cs"/>
                        </a:rPr>
                        <a:t>기념품 매출을 시점별로 나열</a:t>
                      </a:r>
                      <a:endParaRPr lang="en-US" altLang="ko-KR" sz="1800" kern="1200" dirty="0">
                        <a:solidFill>
                          <a:schemeClr val="dk1"/>
                        </a:solidFill>
                        <a:effectLst/>
                        <a:latin typeface="+mn-lt"/>
                        <a:ea typeface="+mn-ea"/>
                        <a:cs typeface="+mn-cs"/>
                      </a:endParaRPr>
                    </a:p>
                    <a:p>
                      <a:pPr marL="285750" indent="-285750" latinLnBrk="1">
                        <a:buFont typeface="Arial" panose="020B0604020202020204" pitchFamily="34" charset="0"/>
                        <a:buChar char="•"/>
                      </a:pPr>
                      <a:r>
                        <a:rPr lang="ko-KR" altLang="ko-KR" sz="1800" kern="1200" dirty="0">
                          <a:solidFill>
                            <a:schemeClr val="dk1"/>
                          </a:solidFill>
                          <a:effectLst/>
                          <a:latin typeface="+mn-lt"/>
                          <a:ea typeface="+mn-ea"/>
                          <a:cs typeface="+mn-cs"/>
                        </a:rPr>
                        <a:t>추세가 나타</a:t>
                      </a:r>
                      <a:r>
                        <a:rPr lang="ko-KR" altLang="en-US" sz="1800" kern="1200" dirty="0">
                          <a:solidFill>
                            <a:schemeClr val="dk1"/>
                          </a:solidFill>
                          <a:effectLst/>
                          <a:latin typeface="+mn-lt"/>
                          <a:ea typeface="+mn-ea"/>
                          <a:cs typeface="+mn-cs"/>
                        </a:rPr>
                        <a:t>나고 </a:t>
                      </a:r>
                      <a:r>
                        <a:rPr lang="ko-KR" altLang="ko-KR" sz="1800" kern="1200" dirty="0">
                          <a:solidFill>
                            <a:schemeClr val="dk1"/>
                          </a:solidFill>
                          <a:effectLst/>
                          <a:latin typeface="+mn-lt"/>
                          <a:ea typeface="+mn-ea"/>
                          <a:cs typeface="+mn-cs"/>
                        </a:rPr>
                        <a:t>선</a:t>
                      </a:r>
                      <a:r>
                        <a:rPr lang="ko-KR" altLang="en-US" sz="1800" kern="1200" dirty="0">
                          <a:solidFill>
                            <a:schemeClr val="dk1"/>
                          </a:solidFill>
                          <a:effectLst/>
                          <a:latin typeface="+mn-lt"/>
                          <a:ea typeface="+mn-ea"/>
                          <a:cs typeface="+mn-cs"/>
                        </a:rPr>
                        <a:t>형</a:t>
                      </a:r>
                      <a:r>
                        <a:rPr lang="ko-KR" altLang="ko-KR" sz="1800" kern="1200" dirty="0">
                          <a:solidFill>
                            <a:schemeClr val="dk1"/>
                          </a:solidFill>
                          <a:effectLst/>
                          <a:latin typeface="+mn-lt"/>
                          <a:ea typeface="+mn-ea"/>
                          <a:cs typeface="+mn-cs"/>
                        </a:rPr>
                        <a:t>보다는 급하고 직선보다는 빠르</a:t>
                      </a:r>
                      <a:r>
                        <a:rPr lang="ko-KR" altLang="en-US" sz="1800" kern="1200" dirty="0">
                          <a:solidFill>
                            <a:schemeClr val="dk1"/>
                          </a:solidFill>
                          <a:effectLst/>
                          <a:latin typeface="+mn-lt"/>
                          <a:ea typeface="+mn-ea"/>
                          <a:cs typeface="+mn-cs"/>
                        </a:rPr>
                        <a:t>기때문에</a:t>
                      </a:r>
                      <a:r>
                        <a:rPr lang="ko-KR" altLang="ko-KR" sz="1800" kern="1200" dirty="0">
                          <a:solidFill>
                            <a:schemeClr val="dk1"/>
                          </a:solidFill>
                          <a:effectLst/>
                          <a:latin typeface="+mn-lt"/>
                          <a:ea typeface="+mn-ea"/>
                          <a:cs typeface="+mn-cs"/>
                        </a:rPr>
                        <a:t> </a:t>
                      </a:r>
                      <a:r>
                        <a:rPr lang="en-US" altLang="ko-KR" sz="1800" kern="1200" dirty="0">
                          <a:solidFill>
                            <a:schemeClr val="dk1"/>
                          </a:solidFill>
                          <a:effectLst/>
                          <a:latin typeface="+mn-lt"/>
                          <a:ea typeface="+mn-ea"/>
                          <a:cs typeface="+mn-cs"/>
                        </a:rPr>
                        <a:t>Log</a:t>
                      </a:r>
                      <a:r>
                        <a:rPr lang="ko-KR" altLang="ko-KR" sz="1800" kern="1200" dirty="0">
                          <a:solidFill>
                            <a:schemeClr val="dk1"/>
                          </a:solidFill>
                          <a:effectLst/>
                          <a:latin typeface="+mn-lt"/>
                          <a:ea typeface="+mn-ea"/>
                          <a:cs typeface="+mn-cs"/>
                        </a:rPr>
                        <a:t>를 취해서 선형추세에 가깝게 만들고 모델을 </a:t>
                      </a:r>
                      <a:r>
                        <a:rPr lang="ko-KR" altLang="en-US" sz="1800" kern="1200" dirty="0">
                          <a:solidFill>
                            <a:schemeClr val="dk1"/>
                          </a:solidFill>
                          <a:effectLst/>
                          <a:latin typeface="+mn-lt"/>
                          <a:ea typeface="+mn-ea"/>
                          <a:cs typeface="+mn-cs"/>
                        </a:rPr>
                        <a:t>만들어서 </a:t>
                      </a:r>
                      <a:r>
                        <a:rPr lang="en-US" altLang="ko-KR" sz="1800" kern="1200" dirty="0">
                          <a:solidFill>
                            <a:schemeClr val="dk1"/>
                          </a:solidFill>
                          <a:effectLst/>
                          <a:latin typeface="+mn-lt"/>
                          <a:ea typeface="+mn-ea"/>
                          <a:cs typeface="+mn-cs"/>
                        </a:rPr>
                        <a:t>2002</a:t>
                      </a:r>
                      <a:r>
                        <a:rPr lang="ko-KR" altLang="en-US" sz="1800" kern="1200" dirty="0">
                          <a:solidFill>
                            <a:schemeClr val="dk1"/>
                          </a:solidFill>
                          <a:effectLst/>
                          <a:latin typeface="+mn-lt"/>
                          <a:ea typeface="+mn-ea"/>
                          <a:cs typeface="+mn-cs"/>
                        </a:rPr>
                        <a:t>년 </a:t>
                      </a:r>
                      <a:r>
                        <a:rPr lang="en-US" altLang="ko-KR" sz="1800" kern="1200" dirty="0">
                          <a:solidFill>
                            <a:schemeClr val="dk1"/>
                          </a:solidFill>
                          <a:effectLst/>
                          <a:latin typeface="+mn-lt"/>
                          <a:ea typeface="+mn-ea"/>
                          <a:cs typeface="+mn-cs"/>
                        </a:rPr>
                        <a:t>2</a:t>
                      </a:r>
                      <a:r>
                        <a:rPr lang="ko-KR" altLang="en-US" sz="1800" kern="1200" dirty="0">
                          <a:solidFill>
                            <a:schemeClr val="dk1"/>
                          </a:solidFill>
                          <a:effectLst/>
                          <a:latin typeface="+mn-lt"/>
                          <a:ea typeface="+mn-ea"/>
                          <a:cs typeface="+mn-cs"/>
                        </a:rPr>
                        <a:t>월을 예측했습니다</a:t>
                      </a:r>
                      <a:r>
                        <a:rPr lang="en-US" altLang="ko-KR" sz="1800" kern="1200" dirty="0">
                          <a:solidFill>
                            <a:schemeClr val="dk1"/>
                          </a:solidFill>
                          <a:effectLst/>
                          <a:latin typeface="+mn-lt"/>
                          <a:ea typeface="+mn-ea"/>
                          <a:cs typeface="+mn-cs"/>
                        </a:rPr>
                        <a:t>.</a:t>
                      </a:r>
                      <a:endParaRPr lang="ko-KR" altLang="ko-KR" sz="1800" kern="1200" dirty="0">
                        <a:solidFill>
                          <a:schemeClr val="dk1"/>
                        </a:solidFill>
                        <a:effectLst/>
                        <a:latin typeface="+mn-lt"/>
                        <a:ea typeface="+mn-ea"/>
                        <a:cs typeface="+mn-cs"/>
                      </a:endParaRPr>
                    </a:p>
                  </a:txBody>
                  <a:tcPr/>
                </a:tc>
                <a:extLst>
                  <a:ext uri="{0D108BD9-81ED-4DB2-BD59-A6C34878D82A}">
                    <a16:rowId xmlns:a16="http://schemas.microsoft.com/office/drawing/2014/main" val="398258525"/>
                  </a:ext>
                </a:extLst>
              </a:tr>
            </a:tbl>
          </a:graphicData>
        </a:graphic>
      </p:graphicFrame>
      <p:pic>
        <p:nvPicPr>
          <p:cNvPr id="3" name="그림 2">
            <a:extLst>
              <a:ext uri="{FF2B5EF4-FFF2-40B4-BE49-F238E27FC236}">
                <a16:creationId xmlns:a16="http://schemas.microsoft.com/office/drawing/2014/main" id="{E4E37A6D-E2E8-490A-B9C2-72CF4CB79A6A}"/>
              </a:ext>
            </a:extLst>
          </p:cNvPr>
          <p:cNvPicPr>
            <a:picLocks noChangeAspect="1"/>
          </p:cNvPicPr>
          <p:nvPr/>
        </p:nvPicPr>
        <p:blipFill>
          <a:blip r:embed="rId2"/>
          <a:stretch>
            <a:fillRect/>
          </a:stretch>
        </p:blipFill>
        <p:spPr>
          <a:xfrm>
            <a:off x="170323" y="1700351"/>
            <a:ext cx="4972744" cy="3638182"/>
          </a:xfrm>
          <a:prstGeom prst="rect">
            <a:avLst/>
          </a:prstGeom>
        </p:spPr>
      </p:pic>
      <p:pic>
        <p:nvPicPr>
          <p:cNvPr id="6" name="그림 5">
            <a:extLst>
              <a:ext uri="{FF2B5EF4-FFF2-40B4-BE49-F238E27FC236}">
                <a16:creationId xmlns:a16="http://schemas.microsoft.com/office/drawing/2014/main" id="{A0AAD350-AD57-44BE-9438-61E066334E69}"/>
              </a:ext>
            </a:extLst>
          </p:cNvPr>
          <p:cNvPicPr>
            <a:picLocks noChangeAspect="1"/>
          </p:cNvPicPr>
          <p:nvPr/>
        </p:nvPicPr>
        <p:blipFill>
          <a:blip r:embed="rId3"/>
          <a:stretch>
            <a:fillRect/>
          </a:stretch>
        </p:blipFill>
        <p:spPr>
          <a:xfrm>
            <a:off x="170323" y="5424255"/>
            <a:ext cx="9510081" cy="1330049"/>
          </a:xfrm>
          <a:prstGeom prst="rect">
            <a:avLst/>
          </a:prstGeom>
        </p:spPr>
      </p:pic>
      <p:pic>
        <p:nvPicPr>
          <p:cNvPr id="13" name="그림 12">
            <a:extLst>
              <a:ext uri="{FF2B5EF4-FFF2-40B4-BE49-F238E27FC236}">
                <a16:creationId xmlns:a16="http://schemas.microsoft.com/office/drawing/2014/main" id="{5BABFB36-56E0-4281-A2EE-E55E94165ACA}"/>
              </a:ext>
            </a:extLst>
          </p:cNvPr>
          <p:cNvPicPr>
            <a:picLocks noChangeAspect="1"/>
          </p:cNvPicPr>
          <p:nvPr/>
        </p:nvPicPr>
        <p:blipFill>
          <a:blip r:embed="rId4"/>
          <a:stretch>
            <a:fillRect/>
          </a:stretch>
        </p:blipFill>
        <p:spPr>
          <a:xfrm>
            <a:off x="5885639" y="4404249"/>
            <a:ext cx="1829055" cy="447737"/>
          </a:xfrm>
          <a:prstGeom prst="rect">
            <a:avLst/>
          </a:prstGeom>
        </p:spPr>
      </p:pic>
    </p:spTree>
    <p:extLst>
      <p:ext uri="{BB962C8B-B14F-4D97-AF65-F5344CB8AC3E}">
        <p14:creationId xmlns:p14="http://schemas.microsoft.com/office/powerpoint/2010/main" val="1150968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54BA1"/>
        </a:solidFill>
        <a:effectLst/>
      </p:bgPr>
    </p:bg>
    <p:spTree>
      <p:nvGrpSpPr>
        <p:cNvPr id="1" name=""/>
        <p:cNvGrpSpPr/>
        <p:nvPr/>
      </p:nvGrpSpPr>
      <p:grpSpPr>
        <a:xfrm>
          <a:off x="0" y="0"/>
          <a:ext cx="0" cy="0"/>
          <a:chOff x="0" y="0"/>
          <a:chExt cx="0" cy="0"/>
        </a:xfrm>
      </p:grpSpPr>
      <p:sp>
        <p:nvSpPr>
          <p:cNvPr id="8" name="직사각형 7"/>
          <p:cNvSpPr/>
          <p:nvPr/>
        </p:nvSpPr>
        <p:spPr>
          <a:xfrm>
            <a:off x="378372" y="415772"/>
            <a:ext cx="1702676" cy="720000"/>
          </a:xfrm>
          <a:prstGeom prst="rect">
            <a:avLst/>
          </a:prstGeom>
          <a:noFill/>
          <a:ln w="19050">
            <a:solidFill>
              <a:srgbClr val="FFC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rPr>
              <a:t>2</a:t>
            </a:r>
            <a:endParaRPr kumimoji="0" lang="ko-KR" altLang="en-US"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endParaRPr>
          </a:p>
        </p:txBody>
      </p:sp>
      <p:sp>
        <p:nvSpPr>
          <p:cNvPr id="11" name="직사각형 10">
            <a:extLst>
              <a:ext uri="{FF2B5EF4-FFF2-40B4-BE49-F238E27FC236}">
                <a16:creationId xmlns:a16="http://schemas.microsoft.com/office/drawing/2014/main" id="{7EA33CA5-8767-498A-975A-2C525DDEAD17}"/>
              </a:ext>
            </a:extLst>
          </p:cNvPr>
          <p:cNvSpPr/>
          <p:nvPr/>
        </p:nvSpPr>
        <p:spPr>
          <a:xfrm>
            <a:off x="2251559" y="284579"/>
            <a:ext cx="9768806" cy="1138773"/>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32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rPr>
              <a:t>Souvenir Sales data – ARIMA</a:t>
            </a:r>
          </a:p>
          <a:p>
            <a:pPr marR="0" lvl="0" algn="l" defTabSz="914400" rtl="0" eaLnBrk="1" fontAlgn="auto" latinLnBrk="0" hangingPunct="1">
              <a:lnSpc>
                <a:spcPct val="100000"/>
              </a:lnSpc>
              <a:spcBef>
                <a:spcPts val="0"/>
              </a:spcBef>
              <a:spcAft>
                <a:spcPts val="0"/>
              </a:spcAft>
              <a:buClrTx/>
              <a:buSzTx/>
              <a:tabLst/>
              <a:defRPr/>
            </a:pPr>
            <a:r>
              <a:rPr kumimoji="0" lang="en-US" altLang="ko-KR" sz="1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(b) Create an ACF plot until lag-15 for the forecast errors. Now ﬁt an AR model with lag-2 [ARIMA(2, 0, 0)] to the forecast errors.(</a:t>
            </a:r>
            <a:r>
              <a:rPr kumimoji="0" lang="ko-KR" altLang="en-US" sz="1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오차에 대한 </a:t>
            </a:r>
            <a:r>
              <a:rPr kumimoji="0" lang="en-US" altLang="ko-KR" sz="1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ARIMA </a:t>
            </a:r>
            <a:r>
              <a:rPr kumimoji="0" lang="ko-KR" altLang="en-US" sz="1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모델</a:t>
            </a:r>
            <a:r>
              <a:rPr kumimoji="0" lang="en-US" altLang="ko-KR" sz="1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a:t>
            </a:r>
          </a:p>
        </p:txBody>
      </p:sp>
      <p:graphicFrame>
        <p:nvGraphicFramePr>
          <p:cNvPr id="9" name="표 8">
            <a:extLst>
              <a:ext uri="{FF2B5EF4-FFF2-40B4-BE49-F238E27FC236}">
                <a16:creationId xmlns:a16="http://schemas.microsoft.com/office/drawing/2014/main" id="{06376768-C6B0-4F5F-BB96-115BD93736A3}"/>
              </a:ext>
            </a:extLst>
          </p:cNvPr>
          <p:cNvGraphicFramePr>
            <a:graphicFrameLocks noGrp="1"/>
          </p:cNvGraphicFramePr>
          <p:nvPr>
            <p:extLst>
              <p:ext uri="{D42A27DB-BD31-4B8C-83A1-F6EECF244321}">
                <p14:modId xmlns:p14="http://schemas.microsoft.com/office/powerpoint/2010/main" val="131666969"/>
              </p:ext>
            </p:extLst>
          </p:nvPr>
        </p:nvGraphicFramePr>
        <p:xfrm>
          <a:off x="7714694" y="1998200"/>
          <a:ext cx="4021585" cy="1010920"/>
        </p:xfrm>
        <a:graphic>
          <a:graphicData uri="http://schemas.openxmlformats.org/drawingml/2006/table">
            <a:tbl>
              <a:tblPr firstRow="1" bandRow="1">
                <a:tableStyleId>{5C22544A-7EE6-4342-B048-85BDC9FD1C3A}</a:tableStyleId>
              </a:tblPr>
              <a:tblGrid>
                <a:gridCol w="4021585">
                  <a:extLst>
                    <a:ext uri="{9D8B030D-6E8A-4147-A177-3AD203B41FA5}">
                      <a16:colId xmlns:a16="http://schemas.microsoft.com/office/drawing/2014/main" val="4093639860"/>
                    </a:ext>
                  </a:extLst>
                </a:gridCol>
              </a:tblGrid>
              <a:tr h="370840">
                <a:tc>
                  <a:txBody>
                    <a:bodyPr/>
                    <a:lstStyle/>
                    <a:p>
                      <a:pPr marL="285750" indent="-285750" latinLnBrk="1">
                        <a:buFont typeface="Arial" panose="020B0604020202020204" pitchFamily="34" charset="0"/>
                        <a:buChar char="•"/>
                      </a:pPr>
                      <a:endParaRPr lang="ko-KR" altLang="en-US" dirty="0"/>
                    </a:p>
                  </a:txBody>
                  <a:tcPr/>
                </a:tc>
                <a:extLst>
                  <a:ext uri="{0D108BD9-81ED-4DB2-BD59-A6C34878D82A}">
                    <a16:rowId xmlns:a16="http://schemas.microsoft.com/office/drawing/2014/main" val="3200778601"/>
                  </a:ext>
                </a:extLst>
              </a:tr>
              <a:tr h="370840">
                <a:tc>
                  <a:txBody>
                    <a:bodyPr/>
                    <a:lstStyle/>
                    <a:p>
                      <a:pPr marL="285750" indent="-285750" latinLnBrk="1">
                        <a:buFont typeface="Arial" panose="020B0604020202020204" pitchFamily="34" charset="0"/>
                        <a:buChar char="•"/>
                      </a:pPr>
                      <a:r>
                        <a:rPr lang="en-US" altLang="ko-KR" sz="1800" kern="1200" dirty="0">
                          <a:solidFill>
                            <a:schemeClr val="dk1"/>
                          </a:solidFill>
                          <a:effectLst/>
                          <a:latin typeface="+mn-lt"/>
                          <a:ea typeface="+mn-ea"/>
                          <a:cs typeface="+mn-cs"/>
                        </a:rPr>
                        <a:t>Lag 15</a:t>
                      </a:r>
                      <a:r>
                        <a:rPr lang="ko-KR" altLang="en-US" sz="1800" kern="1200" dirty="0">
                          <a:solidFill>
                            <a:schemeClr val="dk1"/>
                          </a:solidFill>
                          <a:effectLst/>
                          <a:latin typeface="+mn-lt"/>
                          <a:ea typeface="+mn-ea"/>
                          <a:cs typeface="+mn-cs"/>
                        </a:rPr>
                        <a:t>까지 </a:t>
                      </a:r>
                      <a:r>
                        <a:rPr lang="en-US" altLang="ko-KR" sz="1800" kern="1200" dirty="0">
                          <a:solidFill>
                            <a:schemeClr val="dk1"/>
                          </a:solidFill>
                          <a:effectLst/>
                          <a:latin typeface="+mn-lt"/>
                          <a:ea typeface="+mn-ea"/>
                          <a:cs typeface="+mn-cs"/>
                        </a:rPr>
                        <a:t>ACF plot</a:t>
                      </a:r>
                      <a:r>
                        <a:rPr lang="ko-KR" altLang="en-US" sz="1800" kern="1200" dirty="0">
                          <a:solidFill>
                            <a:schemeClr val="dk1"/>
                          </a:solidFill>
                          <a:effectLst/>
                          <a:latin typeface="+mn-lt"/>
                          <a:ea typeface="+mn-ea"/>
                          <a:cs typeface="+mn-cs"/>
                        </a:rPr>
                        <a:t>을 생성했고 </a:t>
                      </a:r>
                      <a:r>
                        <a:rPr lang="en-US" altLang="ko-KR" sz="1800" kern="1200" dirty="0">
                          <a:solidFill>
                            <a:schemeClr val="dk1"/>
                          </a:solidFill>
                          <a:effectLst/>
                          <a:latin typeface="+mn-lt"/>
                          <a:ea typeface="+mn-ea"/>
                          <a:cs typeface="+mn-cs"/>
                        </a:rPr>
                        <a:t>ARIMA(2,0,0) </a:t>
                      </a:r>
                      <a:r>
                        <a:rPr lang="ko-KR" altLang="en-US" sz="1800" kern="1200" dirty="0">
                          <a:solidFill>
                            <a:schemeClr val="dk1"/>
                          </a:solidFill>
                          <a:effectLst/>
                          <a:latin typeface="+mn-lt"/>
                          <a:ea typeface="+mn-ea"/>
                          <a:cs typeface="+mn-cs"/>
                        </a:rPr>
                        <a:t>모델을 </a:t>
                      </a:r>
                      <a:r>
                        <a:rPr lang="ko-KR" altLang="en-US" sz="1800" kern="1200" dirty="0" err="1">
                          <a:solidFill>
                            <a:schemeClr val="dk1"/>
                          </a:solidFill>
                          <a:effectLst/>
                          <a:latin typeface="+mn-lt"/>
                          <a:ea typeface="+mn-ea"/>
                          <a:cs typeface="+mn-cs"/>
                        </a:rPr>
                        <a:t>만듬</a:t>
                      </a:r>
                      <a:r>
                        <a:rPr lang="en-US" altLang="ko-KR" sz="1800" kern="1200" dirty="0">
                          <a:solidFill>
                            <a:schemeClr val="dk1"/>
                          </a:solidFill>
                          <a:effectLst/>
                          <a:latin typeface="+mn-lt"/>
                          <a:ea typeface="+mn-ea"/>
                          <a:cs typeface="+mn-cs"/>
                        </a:rPr>
                        <a:t>.</a:t>
                      </a:r>
                      <a:endParaRPr lang="ko-KR" altLang="ko-KR" sz="1800" kern="1200" dirty="0">
                        <a:solidFill>
                          <a:schemeClr val="dk1"/>
                        </a:solidFill>
                        <a:effectLst/>
                        <a:latin typeface="+mn-lt"/>
                        <a:ea typeface="+mn-ea"/>
                        <a:cs typeface="+mn-cs"/>
                      </a:endParaRPr>
                    </a:p>
                  </a:txBody>
                  <a:tcPr/>
                </a:tc>
                <a:extLst>
                  <a:ext uri="{0D108BD9-81ED-4DB2-BD59-A6C34878D82A}">
                    <a16:rowId xmlns:a16="http://schemas.microsoft.com/office/drawing/2014/main" val="398258525"/>
                  </a:ext>
                </a:extLst>
              </a:tr>
            </a:tbl>
          </a:graphicData>
        </a:graphic>
      </p:graphicFrame>
      <p:pic>
        <p:nvPicPr>
          <p:cNvPr id="4" name="그림 3">
            <a:extLst>
              <a:ext uri="{FF2B5EF4-FFF2-40B4-BE49-F238E27FC236}">
                <a16:creationId xmlns:a16="http://schemas.microsoft.com/office/drawing/2014/main" id="{4C48B7C0-EE18-48F5-996C-4A49AB03CAF7}"/>
              </a:ext>
            </a:extLst>
          </p:cNvPr>
          <p:cNvPicPr>
            <a:picLocks noChangeAspect="1"/>
          </p:cNvPicPr>
          <p:nvPr/>
        </p:nvPicPr>
        <p:blipFill>
          <a:blip r:embed="rId2"/>
          <a:stretch>
            <a:fillRect/>
          </a:stretch>
        </p:blipFill>
        <p:spPr>
          <a:xfrm>
            <a:off x="455721" y="1678604"/>
            <a:ext cx="6598636" cy="4357590"/>
          </a:xfrm>
          <a:prstGeom prst="rect">
            <a:avLst/>
          </a:prstGeom>
        </p:spPr>
      </p:pic>
      <p:pic>
        <p:nvPicPr>
          <p:cNvPr id="7" name="그림 6">
            <a:extLst>
              <a:ext uri="{FF2B5EF4-FFF2-40B4-BE49-F238E27FC236}">
                <a16:creationId xmlns:a16="http://schemas.microsoft.com/office/drawing/2014/main" id="{0222AC30-175A-4A25-9A10-26E1CD0EAA70}"/>
              </a:ext>
            </a:extLst>
          </p:cNvPr>
          <p:cNvPicPr>
            <a:picLocks noChangeAspect="1"/>
          </p:cNvPicPr>
          <p:nvPr/>
        </p:nvPicPr>
        <p:blipFill>
          <a:blip r:embed="rId3"/>
          <a:stretch>
            <a:fillRect/>
          </a:stretch>
        </p:blipFill>
        <p:spPr>
          <a:xfrm>
            <a:off x="7563816" y="3732627"/>
            <a:ext cx="4323340" cy="1565797"/>
          </a:xfrm>
          <a:prstGeom prst="rect">
            <a:avLst/>
          </a:prstGeom>
        </p:spPr>
      </p:pic>
    </p:spTree>
    <p:extLst>
      <p:ext uri="{BB962C8B-B14F-4D97-AF65-F5344CB8AC3E}">
        <p14:creationId xmlns:p14="http://schemas.microsoft.com/office/powerpoint/2010/main" val="37659725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54BA1"/>
        </a:solidFill>
        <a:effectLst/>
      </p:bgPr>
    </p:bg>
    <p:spTree>
      <p:nvGrpSpPr>
        <p:cNvPr id="1" name=""/>
        <p:cNvGrpSpPr/>
        <p:nvPr/>
      </p:nvGrpSpPr>
      <p:grpSpPr>
        <a:xfrm>
          <a:off x="0" y="0"/>
          <a:ext cx="0" cy="0"/>
          <a:chOff x="0" y="0"/>
          <a:chExt cx="0" cy="0"/>
        </a:xfrm>
      </p:grpSpPr>
      <p:sp>
        <p:nvSpPr>
          <p:cNvPr id="8" name="직사각형 7"/>
          <p:cNvSpPr/>
          <p:nvPr/>
        </p:nvSpPr>
        <p:spPr>
          <a:xfrm>
            <a:off x="378372" y="415772"/>
            <a:ext cx="1702676" cy="720000"/>
          </a:xfrm>
          <a:prstGeom prst="rect">
            <a:avLst/>
          </a:prstGeom>
          <a:noFill/>
          <a:ln w="19050">
            <a:solidFill>
              <a:srgbClr val="FFC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rPr>
              <a:t>2</a:t>
            </a:r>
            <a:endParaRPr kumimoji="0" lang="ko-KR" altLang="en-US"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endParaRPr>
          </a:p>
        </p:txBody>
      </p:sp>
      <p:sp>
        <p:nvSpPr>
          <p:cNvPr id="11" name="직사각형 10">
            <a:extLst>
              <a:ext uri="{FF2B5EF4-FFF2-40B4-BE49-F238E27FC236}">
                <a16:creationId xmlns:a16="http://schemas.microsoft.com/office/drawing/2014/main" id="{7EA33CA5-8767-498A-975A-2C525DDEAD17}"/>
              </a:ext>
            </a:extLst>
          </p:cNvPr>
          <p:cNvSpPr/>
          <p:nvPr/>
        </p:nvSpPr>
        <p:spPr>
          <a:xfrm>
            <a:off x="2251559" y="284579"/>
            <a:ext cx="9768806" cy="141577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32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rPr>
              <a:t>Souvenir Sales data – ARIMA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(b) </a:t>
            </a:r>
            <a:r>
              <a:rPr kumimoji="0" lang="en-US" altLang="ko-KR" sz="1800" b="1" i="0" u="none" strike="noStrike" kern="0" cap="none" spc="0" normalizeH="0" baseline="0" noProof="0" dirty="0" err="1">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i</a:t>
            </a:r>
            <a:r>
              <a:rPr kumimoji="0" lang="en-US" altLang="ko-KR" sz="1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 Examining the ACF plot and the estimated coefﬁcients of the AR(2) model (and their statistical signiﬁcance), what can we learn about the regression forecasts?.(</a:t>
            </a:r>
            <a:r>
              <a:rPr kumimoji="0" lang="ko-KR" altLang="en-US" sz="1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오차에 대한 </a:t>
            </a:r>
            <a:r>
              <a:rPr kumimoji="0" lang="en-US" altLang="ko-KR" sz="1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ARIMA </a:t>
            </a:r>
            <a:r>
              <a:rPr kumimoji="0" lang="ko-KR" altLang="en-US" sz="1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모델</a:t>
            </a:r>
            <a:r>
              <a:rPr kumimoji="0" lang="en-US" altLang="ko-KR" sz="1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a:t>
            </a:r>
          </a:p>
        </p:txBody>
      </p:sp>
      <p:graphicFrame>
        <p:nvGraphicFramePr>
          <p:cNvPr id="9" name="표 8">
            <a:extLst>
              <a:ext uri="{FF2B5EF4-FFF2-40B4-BE49-F238E27FC236}">
                <a16:creationId xmlns:a16="http://schemas.microsoft.com/office/drawing/2014/main" id="{06376768-C6B0-4F5F-BB96-115BD93736A3}"/>
              </a:ext>
            </a:extLst>
          </p:cNvPr>
          <p:cNvGraphicFramePr>
            <a:graphicFrameLocks noGrp="1"/>
          </p:cNvGraphicFramePr>
          <p:nvPr>
            <p:extLst>
              <p:ext uri="{D42A27DB-BD31-4B8C-83A1-F6EECF244321}">
                <p14:modId xmlns:p14="http://schemas.microsoft.com/office/powerpoint/2010/main" val="622508862"/>
              </p:ext>
            </p:extLst>
          </p:nvPr>
        </p:nvGraphicFramePr>
        <p:xfrm>
          <a:off x="1229711" y="2179744"/>
          <a:ext cx="8926343" cy="2108200"/>
        </p:xfrm>
        <a:graphic>
          <a:graphicData uri="http://schemas.openxmlformats.org/drawingml/2006/table">
            <a:tbl>
              <a:tblPr firstRow="1" bandRow="1">
                <a:tableStyleId>{5C22544A-7EE6-4342-B048-85BDC9FD1C3A}</a:tableStyleId>
              </a:tblPr>
              <a:tblGrid>
                <a:gridCol w="8926343">
                  <a:extLst>
                    <a:ext uri="{9D8B030D-6E8A-4147-A177-3AD203B41FA5}">
                      <a16:colId xmlns:a16="http://schemas.microsoft.com/office/drawing/2014/main" val="4093639860"/>
                    </a:ext>
                  </a:extLst>
                </a:gridCol>
              </a:tblGrid>
              <a:tr h="370840">
                <a:tc>
                  <a:txBody>
                    <a:bodyPr/>
                    <a:lstStyle/>
                    <a:p>
                      <a:pPr marL="285750" indent="-285750" latinLnBrk="1">
                        <a:buFont typeface="Arial" panose="020B0604020202020204" pitchFamily="34" charset="0"/>
                        <a:buChar char="•"/>
                      </a:pPr>
                      <a:endParaRPr lang="ko-KR" altLang="en-US" dirty="0"/>
                    </a:p>
                  </a:txBody>
                  <a:tcPr/>
                </a:tc>
                <a:extLst>
                  <a:ext uri="{0D108BD9-81ED-4DB2-BD59-A6C34878D82A}">
                    <a16:rowId xmlns:a16="http://schemas.microsoft.com/office/drawing/2014/main" val="3200778601"/>
                  </a:ext>
                </a:extLst>
              </a:tr>
              <a:tr h="370840">
                <a:tc>
                  <a:txBody>
                    <a:bodyPr/>
                    <a:lstStyle/>
                    <a:p>
                      <a:pPr marL="285750" indent="-285750" latinLnBrk="1">
                        <a:buFont typeface="Arial" panose="020B0604020202020204" pitchFamily="34" charset="0"/>
                        <a:buChar char="•"/>
                      </a:pPr>
                      <a:r>
                        <a:rPr lang="en-US" altLang="ko-KR" sz="1800" kern="1200" dirty="0">
                          <a:solidFill>
                            <a:schemeClr val="dk1"/>
                          </a:solidFill>
                          <a:effectLst/>
                          <a:latin typeface="+mn-lt"/>
                          <a:ea typeface="+mn-ea"/>
                          <a:cs typeface="+mn-cs"/>
                        </a:rPr>
                        <a:t>2</a:t>
                      </a:r>
                      <a:r>
                        <a:rPr lang="ko-KR" altLang="ko-KR" sz="1800" kern="1200" dirty="0">
                          <a:solidFill>
                            <a:schemeClr val="dk1"/>
                          </a:solidFill>
                          <a:effectLst/>
                          <a:latin typeface="+mn-lt"/>
                          <a:ea typeface="+mn-ea"/>
                          <a:cs typeface="+mn-cs"/>
                        </a:rPr>
                        <a:t>단계모델</a:t>
                      </a:r>
                    </a:p>
                    <a:p>
                      <a:pPr marL="285750" indent="-285750" latinLnBrk="1">
                        <a:buFont typeface="Arial" panose="020B0604020202020204" pitchFamily="34" charset="0"/>
                        <a:buChar char="•"/>
                      </a:pPr>
                      <a:r>
                        <a:rPr lang="ko-KR" altLang="ko-KR" sz="1800" kern="1200" dirty="0">
                          <a:solidFill>
                            <a:schemeClr val="dk1"/>
                          </a:solidFill>
                          <a:effectLst/>
                          <a:latin typeface="+mn-lt"/>
                          <a:ea typeface="+mn-ea"/>
                          <a:cs typeface="+mn-cs"/>
                        </a:rPr>
                        <a:t>선형회귀 모델을 만들어</a:t>
                      </a:r>
                      <a:r>
                        <a:rPr lang="en-US" altLang="ko-KR" sz="1800" kern="1200" dirty="0">
                          <a:solidFill>
                            <a:schemeClr val="dk1"/>
                          </a:solidFill>
                          <a:effectLst/>
                          <a:latin typeface="+mn-lt"/>
                          <a:ea typeface="+mn-ea"/>
                          <a:cs typeface="+mn-cs"/>
                        </a:rPr>
                        <a:t> </a:t>
                      </a:r>
                      <a:r>
                        <a:rPr lang="ko-KR" altLang="ko-KR" sz="1800" kern="1200" dirty="0">
                          <a:solidFill>
                            <a:schemeClr val="dk1"/>
                          </a:solidFill>
                          <a:effectLst/>
                          <a:latin typeface="+mn-lt"/>
                          <a:ea typeface="+mn-ea"/>
                          <a:cs typeface="+mn-cs"/>
                        </a:rPr>
                        <a:t>놓고 원래계열을 예측을 하는 것</a:t>
                      </a:r>
                    </a:p>
                    <a:p>
                      <a:pPr marL="285750" indent="-285750" latinLnBrk="1">
                        <a:buFont typeface="Arial" panose="020B0604020202020204" pitchFamily="34" charset="0"/>
                        <a:buChar char="•"/>
                      </a:pPr>
                      <a:r>
                        <a:rPr lang="ko-KR" altLang="ko-KR" sz="1800" kern="1200" dirty="0">
                          <a:solidFill>
                            <a:schemeClr val="dk1"/>
                          </a:solidFill>
                          <a:effectLst/>
                          <a:latin typeface="+mn-lt"/>
                          <a:ea typeface="+mn-ea"/>
                          <a:cs typeface="+mn-cs"/>
                        </a:rPr>
                        <a:t>회귀모델을 만들어서 추세와 계절성을 잡아</a:t>
                      </a:r>
                      <a:r>
                        <a:rPr lang="ko-KR" altLang="en-US" sz="1800" kern="1200" dirty="0">
                          <a:solidFill>
                            <a:schemeClr val="dk1"/>
                          </a:solidFill>
                          <a:effectLst/>
                          <a:latin typeface="+mn-lt"/>
                          <a:ea typeface="+mn-ea"/>
                          <a:cs typeface="+mn-cs"/>
                        </a:rPr>
                        <a:t>낼 수 있고 </a:t>
                      </a:r>
                      <a:r>
                        <a:rPr lang="ko-KR" altLang="ko-KR" sz="1800" kern="1200" dirty="0">
                          <a:solidFill>
                            <a:schemeClr val="dk1"/>
                          </a:solidFill>
                          <a:effectLst/>
                          <a:latin typeface="+mn-lt"/>
                          <a:ea typeface="+mn-ea"/>
                          <a:cs typeface="+mn-cs"/>
                        </a:rPr>
                        <a:t>모델을 만들면 계열에 대해서 예측을 할 수가 </a:t>
                      </a:r>
                      <a:r>
                        <a:rPr lang="ko-KR" altLang="en-US" sz="1800" kern="1200" dirty="0">
                          <a:solidFill>
                            <a:schemeClr val="dk1"/>
                          </a:solidFill>
                          <a:effectLst/>
                          <a:latin typeface="+mn-lt"/>
                          <a:ea typeface="+mn-ea"/>
                          <a:cs typeface="+mn-cs"/>
                        </a:rPr>
                        <a:t>있음</a:t>
                      </a:r>
                      <a:r>
                        <a:rPr lang="en-US" altLang="ko-KR" sz="1800" kern="1200" dirty="0">
                          <a:solidFill>
                            <a:schemeClr val="dk1"/>
                          </a:solidFill>
                          <a:effectLst/>
                          <a:latin typeface="+mn-lt"/>
                          <a:ea typeface="+mn-ea"/>
                          <a:cs typeface="+mn-cs"/>
                        </a:rPr>
                        <a:t>.</a:t>
                      </a:r>
                      <a:endParaRPr lang="ko-KR" altLang="ko-KR" sz="1800" kern="1200" dirty="0">
                        <a:solidFill>
                          <a:schemeClr val="dk1"/>
                        </a:solidFill>
                        <a:effectLst/>
                        <a:latin typeface="+mn-lt"/>
                        <a:ea typeface="+mn-ea"/>
                        <a:cs typeface="+mn-cs"/>
                      </a:endParaRPr>
                    </a:p>
                    <a:p>
                      <a:pPr marL="285750" indent="-285750" latinLnBrk="1">
                        <a:buFont typeface="Arial" panose="020B0604020202020204" pitchFamily="34" charset="0"/>
                        <a:buChar char="•"/>
                      </a:pPr>
                      <a:r>
                        <a:rPr lang="ko-KR" altLang="en-US" sz="1800" kern="1200" dirty="0">
                          <a:solidFill>
                            <a:schemeClr val="dk1"/>
                          </a:solidFill>
                          <a:effectLst/>
                          <a:latin typeface="+mn-lt"/>
                          <a:ea typeface="+mn-ea"/>
                          <a:cs typeface="+mn-cs"/>
                        </a:rPr>
                        <a:t>또한 </a:t>
                      </a:r>
                      <a:r>
                        <a:rPr lang="ko-KR" altLang="ko-KR" sz="1800" kern="1200" dirty="0">
                          <a:solidFill>
                            <a:schemeClr val="dk1"/>
                          </a:solidFill>
                          <a:effectLst/>
                          <a:latin typeface="+mn-lt"/>
                          <a:ea typeface="+mn-ea"/>
                          <a:cs typeface="+mn-cs"/>
                        </a:rPr>
                        <a:t>각 시점에 대해서 </a:t>
                      </a:r>
                      <a:r>
                        <a:rPr lang="ko-KR" altLang="ko-KR" sz="1800" kern="1200" dirty="0" err="1">
                          <a:solidFill>
                            <a:schemeClr val="dk1"/>
                          </a:solidFill>
                          <a:effectLst/>
                          <a:latin typeface="+mn-lt"/>
                          <a:ea typeface="+mn-ea"/>
                          <a:cs typeface="+mn-cs"/>
                        </a:rPr>
                        <a:t>오차값</a:t>
                      </a:r>
                      <a:r>
                        <a:rPr lang="en-US" altLang="ko-KR" sz="1800" kern="1200" dirty="0">
                          <a:solidFill>
                            <a:schemeClr val="dk1"/>
                          </a:solidFill>
                          <a:effectLst/>
                          <a:latin typeface="+mn-lt"/>
                          <a:ea typeface="+mn-ea"/>
                          <a:cs typeface="+mn-cs"/>
                        </a:rPr>
                        <a:t> </a:t>
                      </a:r>
                      <a:r>
                        <a:rPr lang="ko-KR" altLang="ko-KR" sz="1800" kern="1200" dirty="0">
                          <a:solidFill>
                            <a:schemeClr val="dk1"/>
                          </a:solidFill>
                          <a:effectLst/>
                          <a:latin typeface="+mn-lt"/>
                          <a:ea typeface="+mn-ea"/>
                          <a:cs typeface="+mn-cs"/>
                        </a:rPr>
                        <a:t>을 구할 수 있고</a:t>
                      </a:r>
                      <a:r>
                        <a:rPr lang="en-US" altLang="ko-KR" sz="1800" kern="1200" dirty="0">
                          <a:solidFill>
                            <a:schemeClr val="dk1"/>
                          </a:solidFill>
                          <a:effectLst/>
                          <a:latin typeface="+mn-lt"/>
                          <a:ea typeface="+mn-ea"/>
                          <a:cs typeface="+mn-cs"/>
                        </a:rPr>
                        <a:t> Lag2</a:t>
                      </a:r>
                      <a:r>
                        <a:rPr lang="ko-KR" altLang="ko-KR" sz="1800" kern="1200" dirty="0">
                          <a:solidFill>
                            <a:schemeClr val="dk1"/>
                          </a:solidFill>
                          <a:effectLst/>
                          <a:latin typeface="+mn-lt"/>
                          <a:ea typeface="+mn-ea"/>
                          <a:cs typeface="+mn-cs"/>
                        </a:rPr>
                        <a:t>에 대한 </a:t>
                      </a:r>
                      <a:r>
                        <a:rPr lang="en-US" altLang="ko-KR" sz="1800" kern="1200" dirty="0" err="1">
                          <a:solidFill>
                            <a:schemeClr val="dk1"/>
                          </a:solidFill>
                          <a:effectLst/>
                          <a:latin typeface="+mn-lt"/>
                          <a:ea typeface="+mn-ea"/>
                          <a:cs typeface="+mn-cs"/>
                        </a:rPr>
                        <a:t>arima</a:t>
                      </a:r>
                      <a:r>
                        <a:rPr lang="ko-KR" altLang="ko-KR" sz="1800" kern="1200" dirty="0">
                          <a:solidFill>
                            <a:schemeClr val="dk1"/>
                          </a:solidFill>
                          <a:effectLst/>
                          <a:latin typeface="+mn-lt"/>
                          <a:ea typeface="+mn-ea"/>
                          <a:cs typeface="+mn-cs"/>
                        </a:rPr>
                        <a:t>모델을 만들어 보자는 것</a:t>
                      </a:r>
                    </a:p>
                  </a:txBody>
                  <a:tcPr/>
                </a:tc>
                <a:extLst>
                  <a:ext uri="{0D108BD9-81ED-4DB2-BD59-A6C34878D82A}">
                    <a16:rowId xmlns:a16="http://schemas.microsoft.com/office/drawing/2014/main" val="398258525"/>
                  </a:ext>
                </a:extLst>
              </a:tr>
            </a:tbl>
          </a:graphicData>
        </a:graphic>
      </p:graphicFrame>
    </p:spTree>
    <p:extLst>
      <p:ext uri="{BB962C8B-B14F-4D97-AF65-F5344CB8AC3E}">
        <p14:creationId xmlns:p14="http://schemas.microsoft.com/office/powerpoint/2010/main" val="16130777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354BA1"/>
        </a:solidFill>
        <a:effectLst/>
      </p:bgPr>
    </p:bg>
    <p:spTree>
      <p:nvGrpSpPr>
        <p:cNvPr id="1" name=""/>
        <p:cNvGrpSpPr/>
        <p:nvPr/>
      </p:nvGrpSpPr>
      <p:grpSpPr>
        <a:xfrm>
          <a:off x="0" y="0"/>
          <a:ext cx="0" cy="0"/>
          <a:chOff x="0" y="0"/>
          <a:chExt cx="0" cy="0"/>
        </a:xfrm>
      </p:grpSpPr>
      <p:sp>
        <p:nvSpPr>
          <p:cNvPr id="8" name="직사각형 7"/>
          <p:cNvSpPr/>
          <p:nvPr/>
        </p:nvSpPr>
        <p:spPr>
          <a:xfrm>
            <a:off x="378372" y="415772"/>
            <a:ext cx="1702676" cy="720000"/>
          </a:xfrm>
          <a:prstGeom prst="rect">
            <a:avLst/>
          </a:prstGeom>
          <a:noFill/>
          <a:ln w="19050">
            <a:solidFill>
              <a:srgbClr val="FFC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rPr>
              <a:t>2</a:t>
            </a:r>
            <a:endParaRPr kumimoji="0" lang="ko-KR" altLang="en-US"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endParaRPr>
          </a:p>
        </p:txBody>
      </p:sp>
      <p:sp>
        <p:nvSpPr>
          <p:cNvPr id="11" name="직사각형 10">
            <a:extLst>
              <a:ext uri="{FF2B5EF4-FFF2-40B4-BE49-F238E27FC236}">
                <a16:creationId xmlns:a16="http://schemas.microsoft.com/office/drawing/2014/main" id="{7EA33CA5-8767-498A-975A-2C525DDEAD17}"/>
              </a:ext>
            </a:extLst>
          </p:cNvPr>
          <p:cNvSpPr/>
          <p:nvPr/>
        </p:nvSpPr>
        <p:spPr>
          <a:xfrm>
            <a:off x="2251559" y="284579"/>
            <a:ext cx="9768806" cy="1138773"/>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32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rPr>
              <a:t>Souvenir Sales data – ARIMA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(b) </a:t>
            </a:r>
            <a:r>
              <a:rPr lang="en-US" altLang="ko-KR" b="1" kern="0" dirty="0">
                <a:solidFill>
                  <a:srgbClr val="FFC000"/>
                </a:solidFill>
                <a:latin typeface="맑은 고딕" panose="020F0502020204030204"/>
                <a:ea typeface="맑은 고딕" panose="020B0503020000020004" pitchFamily="50" charset="-127"/>
                <a:sym typeface="Wingdings" panose="05000000000000000000" pitchFamily="2" charset="2"/>
              </a:rPr>
              <a:t>ii)</a:t>
            </a:r>
            <a:r>
              <a:rPr lang="ko-KR" altLang="en-US" b="1" kern="0" dirty="0">
                <a:solidFill>
                  <a:srgbClr val="FFC000"/>
                </a:solidFill>
                <a:latin typeface="맑은 고딕" panose="020F0502020204030204"/>
                <a:ea typeface="맑은 고딕" panose="020B0503020000020004" pitchFamily="50" charset="-127"/>
                <a:sym typeface="Wingdings" panose="05000000000000000000" pitchFamily="2" charset="2"/>
              </a:rPr>
              <a:t> </a:t>
            </a:r>
            <a:r>
              <a:rPr kumimoji="0" lang="en-US" altLang="ko-KR" sz="1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Use  the  autocorrelation  information  to  compute  a  fore- cast  for  January  2002,  using  the  regression  model  and the  AR(2)  model  above.</a:t>
            </a:r>
          </a:p>
        </p:txBody>
      </p:sp>
      <p:graphicFrame>
        <p:nvGraphicFramePr>
          <p:cNvPr id="9" name="표 8">
            <a:extLst>
              <a:ext uri="{FF2B5EF4-FFF2-40B4-BE49-F238E27FC236}">
                <a16:creationId xmlns:a16="http://schemas.microsoft.com/office/drawing/2014/main" id="{06376768-C6B0-4F5F-BB96-115BD93736A3}"/>
              </a:ext>
            </a:extLst>
          </p:cNvPr>
          <p:cNvGraphicFramePr>
            <a:graphicFrameLocks noGrp="1"/>
          </p:cNvGraphicFramePr>
          <p:nvPr>
            <p:extLst>
              <p:ext uri="{D42A27DB-BD31-4B8C-83A1-F6EECF244321}">
                <p14:modId xmlns:p14="http://schemas.microsoft.com/office/powerpoint/2010/main" val="3317287963"/>
              </p:ext>
            </p:extLst>
          </p:nvPr>
        </p:nvGraphicFramePr>
        <p:xfrm>
          <a:off x="6535369" y="1563435"/>
          <a:ext cx="5484996" cy="1833880"/>
        </p:xfrm>
        <a:graphic>
          <a:graphicData uri="http://schemas.openxmlformats.org/drawingml/2006/table">
            <a:tbl>
              <a:tblPr firstRow="1" bandRow="1">
                <a:tableStyleId>{5C22544A-7EE6-4342-B048-85BDC9FD1C3A}</a:tableStyleId>
              </a:tblPr>
              <a:tblGrid>
                <a:gridCol w="5484996">
                  <a:extLst>
                    <a:ext uri="{9D8B030D-6E8A-4147-A177-3AD203B41FA5}">
                      <a16:colId xmlns:a16="http://schemas.microsoft.com/office/drawing/2014/main" val="4093639860"/>
                    </a:ext>
                  </a:extLst>
                </a:gridCol>
              </a:tblGrid>
              <a:tr h="370840">
                <a:tc>
                  <a:txBody>
                    <a:bodyPr/>
                    <a:lstStyle/>
                    <a:p>
                      <a:pPr marL="285750" indent="-285750" latinLnBrk="1">
                        <a:buFont typeface="Arial" panose="020B0604020202020204" pitchFamily="34" charset="0"/>
                        <a:buChar char="•"/>
                      </a:pPr>
                      <a:endParaRPr lang="ko-KR" altLang="en-US" dirty="0"/>
                    </a:p>
                  </a:txBody>
                  <a:tcPr/>
                </a:tc>
                <a:extLst>
                  <a:ext uri="{0D108BD9-81ED-4DB2-BD59-A6C34878D82A}">
                    <a16:rowId xmlns:a16="http://schemas.microsoft.com/office/drawing/2014/main" val="3200778601"/>
                  </a:ext>
                </a:extLst>
              </a:tr>
              <a:tr h="370840">
                <a:tc>
                  <a:txBody>
                    <a:bodyPr/>
                    <a:lstStyle/>
                    <a:p>
                      <a:pPr marL="285750" indent="-285750" latinLnBrk="1">
                        <a:buFont typeface="Arial" panose="020B0604020202020204" pitchFamily="34" charset="0"/>
                        <a:buChar char="•"/>
                      </a:pPr>
                      <a:r>
                        <a:rPr lang="en-US" altLang="ko-KR" sz="1800" kern="1200" dirty="0" err="1">
                          <a:solidFill>
                            <a:schemeClr val="dk1"/>
                          </a:solidFill>
                          <a:effectLst/>
                          <a:latin typeface="+mn-lt"/>
                          <a:ea typeface="+mn-ea"/>
                          <a:cs typeface="+mn-cs"/>
                        </a:rPr>
                        <a:t>Tslm</a:t>
                      </a:r>
                      <a:r>
                        <a:rPr lang="ko-KR" altLang="en-US" sz="1800" kern="1200" dirty="0">
                          <a:solidFill>
                            <a:schemeClr val="dk1"/>
                          </a:solidFill>
                          <a:effectLst/>
                          <a:latin typeface="+mn-lt"/>
                          <a:ea typeface="+mn-ea"/>
                          <a:cs typeface="+mn-cs"/>
                        </a:rPr>
                        <a:t>함수를 이용해서 </a:t>
                      </a:r>
                      <a:r>
                        <a:rPr lang="en-US" altLang="ko-KR" sz="1800" kern="1200" dirty="0">
                          <a:solidFill>
                            <a:schemeClr val="dk1"/>
                          </a:solidFill>
                          <a:effectLst/>
                          <a:latin typeface="+mn-lt"/>
                          <a:ea typeface="+mn-ea"/>
                          <a:cs typeface="+mn-cs"/>
                        </a:rPr>
                        <a:t>trend</a:t>
                      </a:r>
                      <a:r>
                        <a:rPr lang="ko-KR" altLang="en-US" sz="1800" kern="1200" dirty="0">
                          <a:solidFill>
                            <a:schemeClr val="dk1"/>
                          </a:solidFill>
                          <a:effectLst/>
                          <a:latin typeface="+mn-lt"/>
                          <a:ea typeface="+mn-ea"/>
                          <a:cs typeface="+mn-cs"/>
                        </a:rPr>
                        <a:t>와 </a:t>
                      </a:r>
                      <a:r>
                        <a:rPr lang="en-US" altLang="ko-KR" sz="1800" kern="1200" dirty="0">
                          <a:solidFill>
                            <a:schemeClr val="dk1"/>
                          </a:solidFill>
                          <a:effectLst/>
                          <a:latin typeface="+mn-lt"/>
                          <a:ea typeface="+mn-ea"/>
                          <a:cs typeface="+mn-cs"/>
                        </a:rPr>
                        <a:t>season</a:t>
                      </a:r>
                      <a:r>
                        <a:rPr lang="ko-KR" altLang="en-US" sz="1800" kern="1200" dirty="0">
                          <a:solidFill>
                            <a:schemeClr val="dk1"/>
                          </a:solidFill>
                          <a:effectLst/>
                          <a:latin typeface="+mn-lt"/>
                          <a:ea typeface="+mn-ea"/>
                          <a:cs typeface="+mn-cs"/>
                        </a:rPr>
                        <a:t>을 자동으로 추출한 후에 그것의 </a:t>
                      </a:r>
                      <a:r>
                        <a:rPr lang="en-US" altLang="ko-KR" sz="1800" kern="1200" dirty="0">
                          <a:solidFill>
                            <a:schemeClr val="dk1"/>
                          </a:solidFill>
                          <a:effectLst/>
                          <a:latin typeface="+mn-lt"/>
                          <a:ea typeface="+mn-ea"/>
                          <a:cs typeface="+mn-cs"/>
                        </a:rPr>
                        <a:t>ACF</a:t>
                      </a:r>
                      <a:r>
                        <a:rPr lang="ko-KR" altLang="en-US" sz="1800" kern="1200" dirty="0">
                          <a:solidFill>
                            <a:schemeClr val="dk1"/>
                          </a:solidFill>
                          <a:effectLst/>
                          <a:latin typeface="+mn-lt"/>
                          <a:ea typeface="+mn-ea"/>
                          <a:cs typeface="+mn-cs"/>
                        </a:rPr>
                        <a:t>와 </a:t>
                      </a:r>
                      <a:r>
                        <a:rPr lang="en-US" altLang="ko-KR" sz="1800" kern="1200" dirty="0">
                          <a:solidFill>
                            <a:schemeClr val="dk1"/>
                          </a:solidFill>
                          <a:effectLst/>
                          <a:latin typeface="+mn-lt"/>
                          <a:ea typeface="+mn-ea"/>
                          <a:cs typeface="+mn-cs"/>
                        </a:rPr>
                        <a:t>ARIMA(2)</a:t>
                      </a:r>
                      <a:r>
                        <a:rPr lang="ko-KR" altLang="en-US" sz="1800" kern="1200" dirty="0">
                          <a:solidFill>
                            <a:schemeClr val="dk1"/>
                          </a:solidFill>
                          <a:effectLst/>
                          <a:latin typeface="+mn-lt"/>
                          <a:ea typeface="+mn-ea"/>
                          <a:cs typeface="+mn-cs"/>
                        </a:rPr>
                        <a:t>모델을 </a:t>
                      </a:r>
                      <a:r>
                        <a:rPr lang="en-US" altLang="ko-KR" sz="1800" kern="1200" dirty="0">
                          <a:solidFill>
                            <a:schemeClr val="dk1"/>
                          </a:solidFill>
                          <a:effectLst/>
                          <a:latin typeface="+mn-lt"/>
                          <a:ea typeface="+mn-ea"/>
                          <a:cs typeface="+mn-cs"/>
                        </a:rPr>
                        <a:t>forecast </a:t>
                      </a:r>
                      <a:r>
                        <a:rPr lang="ko-KR" altLang="en-US" sz="1800" kern="1200" dirty="0">
                          <a:solidFill>
                            <a:schemeClr val="dk1"/>
                          </a:solidFill>
                          <a:effectLst/>
                          <a:latin typeface="+mn-lt"/>
                          <a:ea typeface="+mn-ea"/>
                          <a:cs typeface="+mn-cs"/>
                        </a:rPr>
                        <a:t>함수로 예측한 값을 지수함수를 이용해서 더하게 되면 아래의 </a:t>
                      </a:r>
                      <a:r>
                        <a:rPr lang="en-US" altLang="ko-KR" sz="1800" kern="1200" dirty="0">
                          <a:solidFill>
                            <a:schemeClr val="dk1"/>
                          </a:solidFill>
                          <a:effectLst/>
                          <a:latin typeface="+mn-lt"/>
                          <a:ea typeface="+mn-ea"/>
                          <a:cs typeface="+mn-cs"/>
                        </a:rPr>
                        <a:t>2001</a:t>
                      </a:r>
                      <a:r>
                        <a:rPr lang="ko-KR" altLang="en-US" sz="1800" kern="1200" dirty="0">
                          <a:solidFill>
                            <a:schemeClr val="dk1"/>
                          </a:solidFill>
                          <a:effectLst/>
                          <a:latin typeface="+mn-lt"/>
                          <a:ea typeface="+mn-ea"/>
                          <a:cs typeface="+mn-cs"/>
                        </a:rPr>
                        <a:t>년의 전체 값을 예측 할 수 가 있음</a:t>
                      </a:r>
                      <a:r>
                        <a:rPr lang="en-US" altLang="ko-KR" sz="1800" kern="1200" dirty="0">
                          <a:solidFill>
                            <a:schemeClr val="dk1"/>
                          </a:solidFill>
                          <a:effectLst/>
                          <a:latin typeface="+mn-lt"/>
                          <a:ea typeface="+mn-ea"/>
                          <a:cs typeface="+mn-cs"/>
                        </a:rPr>
                        <a:t>.</a:t>
                      </a:r>
                      <a:endParaRPr lang="ko-KR" altLang="ko-KR" sz="1800" kern="1200" dirty="0">
                        <a:solidFill>
                          <a:schemeClr val="dk1"/>
                        </a:solidFill>
                        <a:effectLst/>
                        <a:latin typeface="+mn-lt"/>
                        <a:ea typeface="+mn-ea"/>
                        <a:cs typeface="+mn-cs"/>
                      </a:endParaRPr>
                    </a:p>
                  </a:txBody>
                  <a:tcPr/>
                </a:tc>
                <a:extLst>
                  <a:ext uri="{0D108BD9-81ED-4DB2-BD59-A6C34878D82A}">
                    <a16:rowId xmlns:a16="http://schemas.microsoft.com/office/drawing/2014/main" val="398258525"/>
                  </a:ext>
                </a:extLst>
              </a:tr>
            </a:tbl>
          </a:graphicData>
        </a:graphic>
      </p:graphicFrame>
      <p:pic>
        <p:nvPicPr>
          <p:cNvPr id="3" name="그림 2">
            <a:extLst>
              <a:ext uri="{FF2B5EF4-FFF2-40B4-BE49-F238E27FC236}">
                <a16:creationId xmlns:a16="http://schemas.microsoft.com/office/drawing/2014/main" id="{A70FB4A2-49ED-452B-A541-C769F97618B9}"/>
              </a:ext>
            </a:extLst>
          </p:cNvPr>
          <p:cNvPicPr>
            <a:picLocks noChangeAspect="1"/>
          </p:cNvPicPr>
          <p:nvPr/>
        </p:nvPicPr>
        <p:blipFill>
          <a:blip r:embed="rId2"/>
          <a:stretch>
            <a:fillRect/>
          </a:stretch>
        </p:blipFill>
        <p:spPr>
          <a:xfrm>
            <a:off x="569572" y="1563435"/>
            <a:ext cx="5125165" cy="2029108"/>
          </a:xfrm>
          <a:prstGeom prst="rect">
            <a:avLst/>
          </a:prstGeom>
        </p:spPr>
      </p:pic>
      <p:pic>
        <p:nvPicPr>
          <p:cNvPr id="6" name="그림 5">
            <a:extLst>
              <a:ext uri="{FF2B5EF4-FFF2-40B4-BE49-F238E27FC236}">
                <a16:creationId xmlns:a16="http://schemas.microsoft.com/office/drawing/2014/main" id="{D78A2011-4EDE-4A6E-945B-DF6E0107E5D1}"/>
              </a:ext>
            </a:extLst>
          </p:cNvPr>
          <p:cNvPicPr>
            <a:picLocks noChangeAspect="1"/>
          </p:cNvPicPr>
          <p:nvPr/>
        </p:nvPicPr>
        <p:blipFill>
          <a:blip r:embed="rId3"/>
          <a:stretch>
            <a:fillRect/>
          </a:stretch>
        </p:blipFill>
        <p:spPr>
          <a:xfrm>
            <a:off x="569573" y="3732626"/>
            <a:ext cx="5125165" cy="2010056"/>
          </a:xfrm>
          <a:prstGeom prst="rect">
            <a:avLst/>
          </a:prstGeom>
        </p:spPr>
      </p:pic>
      <p:pic>
        <p:nvPicPr>
          <p:cNvPr id="14" name="그림 13">
            <a:extLst>
              <a:ext uri="{FF2B5EF4-FFF2-40B4-BE49-F238E27FC236}">
                <a16:creationId xmlns:a16="http://schemas.microsoft.com/office/drawing/2014/main" id="{F8FDE229-3ED1-4B83-A325-51408D4A607D}"/>
              </a:ext>
            </a:extLst>
          </p:cNvPr>
          <p:cNvPicPr>
            <a:picLocks noChangeAspect="1"/>
          </p:cNvPicPr>
          <p:nvPr/>
        </p:nvPicPr>
        <p:blipFill>
          <a:blip r:embed="rId4"/>
          <a:stretch>
            <a:fillRect/>
          </a:stretch>
        </p:blipFill>
        <p:spPr>
          <a:xfrm>
            <a:off x="569572" y="6004017"/>
            <a:ext cx="9735909" cy="438211"/>
          </a:xfrm>
          <a:prstGeom prst="rect">
            <a:avLst/>
          </a:prstGeom>
        </p:spPr>
      </p:pic>
    </p:spTree>
    <p:extLst>
      <p:ext uri="{BB962C8B-B14F-4D97-AF65-F5344CB8AC3E}">
        <p14:creationId xmlns:p14="http://schemas.microsoft.com/office/powerpoint/2010/main" val="26677307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354BA1"/>
        </a:solidFill>
        <a:effectLst/>
      </p:bgPr>
    </p:bg>
    <p:spTree>
      <p:nvGrpSpPr>
        <p:cNvPr id="1" name=""/>
        <p:cNvGrpSpPr/>
        <p:nvPr/>
      </p:nvGrpSpPr>
      <p:grpSpPr>
        <a:xfrm>
          <a:off x="0" y="0"/>
          <a:ext cx="0" cy="0"/>
          <a:chOff x="0" y="0"/>
          <a:chExt cx="0" cy="0"/>
        </a:xfrm>
      </p:grpSpPr>
      <p:sp>
        <p:nvSpPr>
          <p:cNvPr id="8" name="직사각형 7"/>
          <p:cNvSpPr/>
          <p:nvPr/>
        </p:nvSpPr>
        <p:spPr>
          <a:xfrm>
            <a:off x="378372" y="415772"/>
            <a:ext cx="1702676" cy="720000"/>
          </a:xfrm>
          <a:prstGeom prst="rect">
            <a:avLst/>
          </a:prstGeom>
          <a:noFill/>
          <a:ln w="19050">
            <a:solidFill>
              <a:srgbClr val="FFC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2800" b="1" kern="0" dirty="0">
                <a:solidFill>
                  <a:srgbClr val="FFC000"/>
                </a:solidFill>
                <a:latin typeface="맑은 고딕" panose="020F0502020204030204"/>
                <a:ea typeface="맑은 고딕" panose="020B0503020000020004" pitchFamily="50" charset="-127"/>
              </a:rPr>
              <a:t>3</a:t>
            </a:r>
            <a:endParaRPr kumimoji="0" lang="ko-KR" altLang="en-US"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endParaRPr>
          </a:p>
        </p:txBody>
      </p:sp>
      <p:sp>
        <p:nvSpPr>
          <p:cNvPr id="11" name="직사각형 10">
            <a:extLst>
              <a:ext uri="{FF2B5EF4-FFF2-40B4-BE49-F238E27FC236}">
                <a16:creationId xmlns:a16="http://schemas.microsoft.com/office/drawing/2014/main" id="{7EA33CA5-8767-498A-975A-2C525DDEAD17}"/>
              </a:ext>
            </a:extLst>
          </p:cNvPr>
          <p:cNvSpPr/>
          <p:nvPr/>
        </p:nvSpPr>
        <p:spPr>
          <a:xfrm>
            <a:off x="2251559" y="284579"/>
            <a:ext cx="9768806" cy="1138773"/>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ko-KR" sz="3200" b="1" kern="0" dirty="0">
                <a:solidFill>
                  <a:srgbClr val="FFC000"/>
                </a:solidFill>
                <a:sym typeface="Wingdings" panose="05000000000000000000" pitchFamily="2" charset="2"/>
              </a:rPr>
              <a:t>Walmart Sales data – </a:t>
            </a:r>
            <a:r>
              <a:rPr lang="ko-KR" altLang="en-US" sz="3200" b="1" kern="0" dirty="0">
                <a:solidFill>
                  <a:srgbClr val="FFC000"/>
                </a:solidFill>
                <a:sym typeface="Wingdings" panose="05000000000000000000" pitchFamily="2" charset="2"/>
              </a:rPr>
              <a:t>외부 변수 관련</a:t>
            </a:r>
            <a:endParaRPr lang="en-US" altLang="ko-KR" sz="3200" b="1" kern="0" dirty="0">
              <a:solidFill>
                <a:srgbClr val="FFC000"/>
              </a:solidFill>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(a) Recreate  the  time  plot  of  the  weekly  sales  data.  Which systematic  patterns  appear  in  this  series?</a:t>
            </a:r>
          </a:p>
        </p:txBody>
      </p:sp>
      <p:graphicFrame>
        <p:nvGraphicFramePr>
          <p:cNvPr id="9" name="표 8">
            <a:extLst>
              <a:ext uri="{FF2B5EF4-FFF2-40B4-BE49-F238E27FC236}">
                <a16:creationId xmlns:a16="http://schemas.microsoft.com/office/drawing/2014/main" id="{06376768-C6B0-4F5F-BB96-115BD93736A3}"/>
              </a:ext>
            </a:extLst>
          </p:cNvPr>
          <p:cNvGraphicFramePr>
            <a:graphicFrameLocks noGrp="1"/>
          </p:cNvGraphicFramePr>
          <p:nvPr>
            <p:extLst>
              <p:ext uri="{D42A27DB-BD31-4B8C-83A1-F6EECF244321}">
                <p14:modId xmlns:p14="http://schemas.microsoft.com/office/powerpoint/2010/main" val="1712609775"/>
              </p:ext>
            </p:extLst>
          </p:nvPr>
        </p:nvGraphicFramePr>
        <p:xfrm>
          <a:off x="6968971" y="1563435"/>
          <a:ext cx="5051394" cy="4851400"/>
        </p:xfrm>
        <a:graphic>
          <a:graphicData uri="http://schemas.openxmlformats.org/drawingml/2006/table">
            <a:tbl>
              <a:tblPr firstRow="1" bandRow="1">
                <a:tableStyleId>{5C22544A-7EE6-4342-B048-85BDC9FD1C3A}</a:tableStyleId>
              </a:tblPr>
              <a:tblGrid>
                <a:gridCol w="5051394">
                  <a:extLst>
                    <a:ext uri="{9D8B030D-6E8A-4147-A177-3AD203B41FA5}">
                      <a16:colId xmlns:a16="http://schemas.microsoft.com/office/drawing/2014/main" val="4093639860"/>
                    </a:ext>
                  </a:extLst>
                </a:gridCol>
              </a:tblGrid>
              <a:tr h="370840">
                <a:tc>
                  <a:txBody>
                    <a:bodyPr/>
                    <a:lstStyle/>
                    <a:p>
                      <a:pPr marL="285750" indent="-285750" latinLnBrk="1">
                        <a:buFont typeface="Arial" panose="020B0604020202020204" pitchFamily="34" charset="0"/>
                        <a:buChar char="•"/>
                      </a:pPr>
                      <a:endParaRPr lang="ko-KR" altLang="en-US" dirty="0"/>
                    </a:p>
                  </a:txBody>
                  <a:tcPr/>
                </a:tc>
                <a:extLst>
                  <a:ext uri="{0D108BD9-81ED-4DB2-BD59-A6C34878D82A}">
                    <a16:rowId xmlns:a16="http://schemas.microsoft.com/office/drawing/2014/main" val="3200778601"/>
                  </a:ext>
                </a:extLst>
              </a:tr>
              <a:tr h="370840">
                <a:tc>
                  <a:txBody>
                    <a:bodyPr/>
                    <a:lstStyle/>
                    <a:p>
                      <a:pPr marL="285750" indent="-285750" latinLnBrk="1">
                        <a:buFont typeface="Arial" panose="020B0604020202020204" pitchFamily="34" charset="0"/>
                        <a:buChar char="•"/>
                      </a:pPr>
                      <a:r>
                        <a:rPr lang="ko-KR" altLang="en-US" sz="1800" kern="1200" dirty="0">
                          <a:solidFill>
                            <a:schemeClr val="dk1"/>
                          </a:solidFill>
                          <a:effectLst/>
                          <a:latin typeface="+mn-lt"/>
                          <a:ea typeface="+mn-ea"/>
                          <a:cs typeface="+mn-cs"/>
                        </a:rPr>
                        <a:t>데이터의 </a:t>
                      </a:r>
                      <a:r>
                        <a:rPr lang="en-US" altLang="ko-KR" sz="1800" kern="1200" dirty="0" err="1">
                          <a:solidFill>
                            <a:schemeClr val="dk1"/>
                          </a:solidFill>
                          <a:effectLst/>
                          <a:latin typeface="+mn-lt"/>
                          <a:ea typeface="+mn-ea"/>
                          <a:cs typeface="+mn-cs"/>
                        </a:rPr>
                        <a:t>Weekly_Sales</a:t>
                      </a:r>
                      <a:r>
                        <a:rPr lang="en-US" altLang="ko-KR" sz="1800" kern="1200" dirty="0">
                          <a:solidFill>
                            <a:schemeClr val="dk1"/>
                          </a:solidFill>
                          <a:effectLst/>
                          <a:latin typeface="+mn-lt"/>
                          <a:ea typeface="+mn-ea"/>
                          <a:cs typeface="+mn-cs"/>
                        </a:rPr>
                        <a:t> </a:t>
                      </a:r>
                      <a:r>
                        <a:rPr lang="ko-KR" altLang="en-US" sz="1800" kern="1200" dirty="0">
                          <a:solidFill>
                            <a:schemeClr val="dk1"/>
                          </a:solidFill>
                          <a:effectLst/>
                          <a:latin typeface="+mn-lt"/>
                          <a:ea typeface="+mn-ea"/>
                          <a:cs typeface="+mn-cs"/>
                        </a:rPr>
                        <a:t>열을 가지고 </a:t>
                      </a:r>
                      <a:r>
                        <a:rPr lang="en-US" altLang="ko-KR" sz="1800" kern="1200" dirty="0">
                          <a:solidFill>
                            <a:schemeClr val="dk1"/>
                          </a:solidFill>
                          <a:effectLst/>
                          <a:latin typeface="+mn-lt"/>
                          <a:ea typeface="+mn-ea"/>
                          <a:cs typeface="+mn-cs"/>
                        </a:rPr>
                        <a:t>plot</a:t>
                      </a:r>
                    </a:p>
                    <a:p>
                      <a:pPr marL="285750" indent="-285750" latinLnBrk="1">
                        <a:buFont typeface="Arial" panose="020B0604020202020204" pitchFamily="34" charset="0"/>
                        <a:buChar char="•"/>
                      </a:pPr>
                      <a:r>
                        <a:rPr lang="ko-KR" altLang="ko-KR" sz="1800" kern="1200" dirty="0">
                          <a:solidFill>
                            <a:schemeClr val="dk1"/>
                          </a:solidFill>
                          <a:effectLst/>
                          <a:latin typeface="+mn-lt"/>
                          <a:ea typeface="+mn-ea"/>
                          <a:cs typeface="+mn-cs"/>
                        </a:rPr>
                        <a:t>매출은 계절성이 있고</a:t>
                      </a:r>
                      <a:r>
                        <a:rPr lang="en-US" altLang="ko-KR" sz="1800" kern="1200" dirty="0">
                          <a:solidFill>
                            <a:schemeClr val="dk1"/>
                          </a:solidFill>
                          <a:effectLst/>
                          <a:latin typeface="+mn-lt"/>
                          <a:ea typeface="+mn-ea"/>
                          <a:cs typeface="+mn-cs"/>
                        </a:rPr>
                        <a:t>, </a:t>
                      </a:r>
                      <a:r>
                        <a:rPr lang="ko-KR" altLang="ko-KR" sz="1800" kern="1200" dirty="0">
                          <a:solidFill>
                            <a:schemeClr val="dk1"/>
                          </a:solidFill>
                          <a:effectLst/>
                          <a:latin typeface="+mn-lt"/>
                          <a:ea typeface="+mn-ea"/>
                          <a:cs typeface="+mn-cs"/>
                        </a:rPr>
                        <a:t>약간의 추세도 있</a:t>
                      </a:r>
                      <a:r>
                        <a:rPr lang="ko-KR" altLang="en-US" sz="1800" kern="1200" dirty="0">
                          <a:solidFill>
                            <a:schemeClr val="dk1"/>
                          </a:solidFill>
                          <a:effectLst/>
                          <a:latin typeface="+mn-lt"/>
                          <a:ea typeface="+mn-ea"/>
                          <a:cs typeface="+mn-cs"/>
                        </a:rPr>
                        <a:t>음</a:t>
                      </a:r>
                      <a:r>
                        <a:rPr lang="en-US" altLang="ko-KR" sz="1800" kern="1200" dirty="0">
                          <a:solidFill>
                            <a:schemeClr val="dk1"/>
                          </a:solidFill>
                          <a:effectLst/>
                          <a:latin typeface="+mn-lt"/>
                          <a:ea typeface="+mn-ea"/>
                          <a:cs typeface="+mn-cs"/>
                        </a:rPr>
                        <a:t>.(</a:t>
                      </a:r>
                      <a:r>
                        <a:rPr lang="ko-KR" altLang="en-US" sz="1800" kern="1200" dirty="0">
                          <a:solidFill>
                            <a:schemeClr val="dk1"/>
                          </a:solidFill>
                          <a:effectLst/>
                          <a:latin typeface="+mn-lt"/>
                          <a:ea typeface="+mn-ea"/>
                          <a:cs typeface="+mn-cs"/>
                        </a:rPr>
                        <a:t>경제 활동에는 추세가 있기 마련입니다</a:t>
                      </a:r>
                      <a:r>
                        <a:rPr lang="en-US" altLang="ko-KR" sz="1800" kern="1200" dirty="0">
                          <a:solidFill>
                            <a:schemeClr val="dk1"/>
                          </a:solidFill>
                          <a:effectLst/>
                          <a:latin typeface="+mn-lt"/>
                          <a:ea typeface="+mn-ea"/>
                          <a:cs typeface="+mn-cs"/>
                        </a:rPr>
                        <a:t>)</a:t>
                      </a:r>
                    </a:p>
                    <a:p>
                      <a:pPr marL="285750" indent="-285750" latinLnBrk="1">
                        <a:buFont typeface="Arial" panose="020B0604020202020204" pitchFamily="34" charset="0"/>
                        <a:buChar char="•"/>
                      </a:pPr>
                      <a:r>
                        <a:rPr lang="ko-KR" altLang="ko-KR" sz="1800" kern="1200" dirty="0">
                          <a:solidFill>
                            <a:schemeClr val="dk1"/>
                          </a:solidFill>
                          <a:effectLst/>
                          <a:latin typeface="+mn-lt"/>
                          <a:ea typeface="+mn-ea"/>
                          <a:cs typeface="+mn-cs"/>
                        </a:rPr>
                        <a:t>시계열만 사용을 했지만 자기</a:t>
                      </a:r>
                      <a:r>
                        <a:rPr lang="en-US" altLang="ko-KR" sz="1800" kern="1200" dirty="0">
                          <a:solidFill>
                            <a:schemeClr val="dk1"/>
                          </a:solidFill>
                          <a:effectLst/>
                          <a:latin typeface="+mn-lt"/>
                          <a:ea typeface="+mn-ea"/>
                          <a:cs typeface="+mn-cs"/>
                        </a:rPr>
                        <a:t> </a:t>
                      </a:r>
                      <a:r>
                        <a:rPr lang="ko-KR" altLang="ko-KR" sz="1800" kern="1200" dirty="0">
                          <a:solidFill>
                            <a:schemeClr val="dk1"/>
                          </a:solidFill>
                          <a:effectLst/>
                          <a:latin typeface="+mn-lt"/>
                          <a:ea typeface="+mn-ea"/>
                          <a:cs typeface="+mn-cs"/>
                        </a:rPr>
                        <a:t>값을 가지고 미래의 예측을 하는 것</a:t>
                      </a:r>
                      <a:r>
                        <a:rPr lang="ko-KR" altLang="en-US" sz="1800" kern="1200" dirty="0">
                          <a:solidFill>
                            <a:schemeClr val="dk1"/>
                          </a:solidFill>
                          <a:effectLst/>
                          <a:latin typeface="+mn-lt"/>
                          <a:ea typeface="+mn-ea"/>
                          <a:cs typeface="+mn-cs"/>
                        </a:rPr>
                        <a:t>입니다</a:t>
                      </a:r>
                      <a:r>
                        <a:rPr lang="en-US" altLang="ko-KR" sz="1800" kern="1200" dirty="0">
                          <a:solidFill>
                            <a:schemeClr val="dk1"/>
                          </a:solidFill>
                          <a:effectLst/>
                          <a:latin typeface="+mn-lt"/>
                          <a:ea typeface="+mn-ea"/>
                          <a:cs typeface="+mn-cs"/>
                        </a:rPr>
                        <a:t>.</a:t>
                      </a:r>
                    </a:p>
                    <a:p>
                      <a:pPr marL="285750" indent="-285750" latinLnBrk="1">
                        <a:buFont typeface="Arial" panose="020B0604020202020204" pitchFamily="34" charset="0"/>
                        <a:buChar char="•"/>
                      </a:pPr>
                      <a:r>
                        <a:rPr lang="ko-KR" altLang="ko-KR" sz="1800" kern="1200" dirty="0">
                          <a:solidFill>
                            <a:schemeClr val="dk1"/>
                          </a:solidFill>
                          <a:effectLst/>
                          <a:latin typeface="+mn-lt"/>
                          <a:ea typeface="+mn-ea"/>
                          <a:cs typeface="+mn-cs"/>
                        </a:rPr>
                        <a:t>매출을 예측하는데 있어서 온도를 </a:t>
                      </a:r>
                      <a:r>
                        <a:rPr lang="ko-KR" altLang="ko-KR" sz="1800" kern="1200" dirty="0" err="1">
                          <a:solidFill>
                            <a:schemeClr val="dk1"/>
                          </a:solidFill>
                          <a:effectLst/>
                          <a:latin typeface="+mn-lt"/>
                          <a:ea typeface="+mn-ea"/>
                          <a:cs typeface="+mn-cs"/>
                        </a:rPr>
                        <a:t>사용한다던지</a:t>
                      </a:r>
                      <a:r>
                        <a:rPr lang="ko-KR" altLang="ko-KR" sz="1800" kern="1200" dirty="0">
                          <a:solidFill>
                            <a:schemeClr val="dk1"/>
                          </a:solidFill>
                          <a:effectLst/>
                          <a:latin typeface="+mn-lt"/>
                          <a:ea typeface="+mn-ea"/>
                          <a:cs typeface="+mn-cs"/>
                        </a:rPr>
                        <a:t> 자기 변수</a:t>
                      </a:r>
                      <a:r>
                        <a:rPr lang="en-US" altLang="ko-KR" sz="1800" kern="1200" dirty="0">
                          <a:solidFill>
                            <a:schemeClr val="dk1"/>
                          </a:solidFill>
                          <a:effectLst/>
                          <a:latin typeface="+mn-lt"/>
                          <a:ea typeface="+mn-ea"/>
                          <a:cs typeface="+mn-cs"/>
                        </a:rPr>
                        <a:t> </a:t>
                      </a:r>
                      <a:r>
                        <a:rPr lang="ko-KR" altLang="ko-KR" sz="1800" kern="1200" dirty="0">
                          <a:solidFill>
                            <a:schemeClr val="dk1"/>
                          </a:solidFill>
                          <a:effectLst/>
                          <a:latin typeface="+mn-lt"/>
                          <a:ea typeface="+mn-ea"/>
                          <a:cs typeface="+mn-cs"/>
                        </a:rPr>
                        <a:t>외에 변수를 사용을 하는 것</a:t>
                      </a:r>
                      <a:r>
                        <a:rPr lang="ko-KR" altLang="en-US" sz="1800" kern="1200" dirty="0">
                          <a:solidFill>
                            <a:schemeClr val="dk1"/>
                          </a:solidFill>
                          <a:effectLst/>
                          <a:latin typeface="+mn-lt"/>
                          <a:ea typeface="+mn-ea"/>
                          <a:cs typeface="+mn-cs"/>
                        </a:rPr>
                        <a:t>입니다</a:t>
                      </a:r>
                      <a:r>
                        <a:rPr lang="en-US" altLang="ko-KR" sz="1800" kern="1200" dirty="0">
                          <a:solidFill>
                            <a:schemeClr val="dk1"/>
                          </a:solidFill>
                          <a:effectLst/>
                          <a:latin typeface="+mn-lt"/>
                          <a:ea typeface="+mn-ea"/>
                          <a:cs typeface="+mn-cs"/>
                        </a:rPr>
                        <a:t>.</a:t>
                      </a:r>
                    </a:p>
                    <a:p>
                      <a:pPr marL="285750" indent="-285750" latinLnBrk="1">
                        <a:buFont typeface="Arial" panose="020B0604020202020204" pitchFamily="34" charset="0"/>
                        <a:buChar char="•"/>
                      </a:pPr>
                      <a:r>
                        <a:rPr lang="ko-KR" altLang="ko-KR" sz="1800" kern="1200" dirty="0">
                          <a:solidFill>
                            <a:schemeClr val="dk1"/>
                          </a:solidFill>
                          <a:effectLst/>
                          <a:latin typeface="+mn-lt"/>
                          <a:ea typeface="+mn-ea"/>
                          <a:cs typeface="+mn-cs"/>
                        </a:rPr>
                        <a:t>월마트 데이터는 시계열 데이터고 </a:t>
                      </a:r>
                      <a:r>
                        <a:rPr lang="en-US" altLang="ko-KR" sz="1800" kern="1200" dirty="0">
                          <a:solidFill>
                            <a:schemeClr val="dk1"/>
                          </a:solidFill>
                          <a:effectLst/>
                          <a:latin typeface="+mn-lt"/>
                          <a:ea typeface="+mn-ea"/>
                          <a:cs typeface="+mn-cs"/>
                        </a:rPr>
                        <a:t>Date</a:t>
                      </a:r>
                      <a:r>
                        <a:rPr lang="ko-KR" altLang="ko-KR" sz="1800" kern="1200" dirty="0">
                          <a:solidFill>
                            <a:schemeClr val="dk1"/>
                          </a:solidFill>
                          <a:effectLst/>
                          <a:latin typeface="+mn-lt"/>
                          <a:ea typeface="+mn-ea"/>
                          <a:cs typeface="+mn-cs"/>
                        </a:rPr>
                        <a:t>가 주별로 </a:t>
                      </a:r>
                      <a:r>
                        <a:rPr lang="en-US" altLang="ko-KR" sz="1800" kern="1200" dirty="0">
                          <a:solidFill>
                            <a:schemeClr val="dk1"/>
                          </a:solidFill>
                          <a:effectLst/>
                          <a:latin typeface="+mn-lt"/>
                          <a:ea typeface="+mn-ea"/>
                          <a:cs typeface="+mn-cs"/>
                        </a:rPr>
                        <a:t>7</a:t>
                      </a:r>
                      <a:r>
                        <a:rPr lang="ko-KR" altLang="ko-KR" sz="1800" kern="1200" dirty="0">
                          <a:solidFill>
                            <a:schemeClr val="dk1"/>
                          </a:solidFill>
                          <a:effectLst/>
                          <a:latin typeface="+mn-lt"/>
                          <a:ea typeface="+mn-ea"/>
                          <a:cs typeface="+mn-cs"/>
                        </a:rPr>
                        <a:t>일</a:t>
                      </a:r>
                      <a:r>
                        <a:rPr lang="en-US" altLang="ko-KR" sz="1800" kern="1200" dirty="0">
                          <a:solidFill>
                            <a:schemeClr val="dk1"/>
                          </a:solidFill>
                          <a:effectLst/>
                          <a:latin typeface="+mn-lt"/>
                          <a:ea typeface="+mn-ea"/>
                          <a:cs typeface="+mn-cs"/>
                        </a:rPr>
                        <a:t> </a:t>
                      </a:r>
                      <a:r>
                        <a:rPr lang="ko-KR" altLang="ko-KR" sz="1800" kern="1200" dirty="0">
                          <a:solidFill>
                            <a:schemeClr val="dk1"/>
                          </a:solidFill>
                          <a:effectLst/>
                          <a:latin typeface="+mn-lt"/>
                          <a:ea typeface="+mn-ea"/>
                          <a:cs typeface="+mn-cs"/>
                        </a:rPr>
                        <a:t>간격이고</a:t>
                      </a:r>
                      <a:r>
                        <a:rPr lang="en-US" altLang="ko-KR" sz="1800" kern="1200" dirty="0">
                          <a:solidFill>
                            <a:schemeClr val="dk1"/>
                          </a:solidFill>
                          <a:effectLst/>
                          <a:latin typeface="+mn-lt"/>
                          <a:ea typeface="+mn-ea"/>
                          <a:cs typeface="+mn-cs"/>
                        </a:rPr>
                        <a:t>, </a:t>
                      </a:r>
                      <a:r>
                        <a:rPr lang="ko-KR" altLang="ko-KR" sz="1800" kern="1200" dirty="0">
                          <a:solidFill>
                            <a:schemeClr val="dk1"/>
                          </a:solidFill>
                          <a:effectLst/>
                          <a:latin typeface="+mn-lt"/>
                          <a:ea typeface="+mn-ea"/>
                          <a:cs typeface="+mn-cs"/>
                        </a:rPr>
                        <a:t>온도</a:t>
                      </a:r>
                      <a:r>
                        <a:rPr lang="en-US" altLang="ko-KR" sz="1800" kern="1200" dirty="0">
                          <a:solidFill>
                            <a:schemeClr val="dk1"/>
                          </a:solidFill>
                          <a:effectLst/>
                          <a:latin typeface="+mn-lt"/>
                          <a:ea typeface="+mn-ea"/>
                          <a:cs typeface="+mn-cs"/>
                        </a:rPr>
                        <a:t>, </a:t>
                      </a:r>
                      <a:r>
                        <a:rPr lang="ko-KR" altLang="en-US" sz="1800" kern="1200" dirty="0">
                          <a:solidFill>
                            <a:schemeClr val="dk1"/>
                          </a:solidFill>
                          <a:effectLst/>
                          <a:latin typeface="+mn-lt"/>
                          <a:ea typeface="+mn-ea"/>
                          <a:cs typeface="+mn-cs"/>
                        </a:rPr>
                        <a:t>연료</a:t>
                      </a:r>
                      <a:r>
                        <a:rPr lang="en-US" altLang="ko-KR" sz="1800" kern="1200" dirty="0">
                          <a:solidFill>
                            <a:schemeClr val="dk1"/>
                          </a:solidFill>
                          <a:effectLst/>
                          <a:latin typeface="+mn-lt"/>
                          <a:ea typeface="+mn-ea"/>
                          <a:cs typeface="+mn-cs"/>
                        </a:rPr>
                        <a:t>,</a:t>
                      </a:r>
                      <a:r>
                        <a:rPr lang="ko-KR" altLang="ko-KR" sz="1800" kern="1200" dirty="0">
                          <a:solidFill>
                            <a:schemeClr val="dk1"/>
                          </a:solidFill>
                          <a:effectLst/>
                          <a:latin typeface="+mn-lt"/>
                          <a:ea typeface="+mn-ea"/>
                          <a:cs typeface="+mn-cs"/>
                        </a:rPr>
                        <a:t> 마크다운</a:t>
                      </a:r>
                      <a:r>
                        <a:rPr lang="en-US" altLang="ko-KR" sz="1800" kern="1200" dirty="0">
                          <a:solidFill>
                            <a:schemeClr val="dk1"/>
                          </a:solidFill>
                          <a:effectLst/>
                          <a:latin typeface="+mn-lt"/>
                          <a:ea typeface="+mn-ea"/>
                          <a:cs typeface="+mn-cs"/>
                        </a:rPr>
                        <a:t>(</a:t>
                      </a:r>
                      <a:r>
                        <a:rPr lang="ko-KR" altLang="ko-KR" sz="1800" kern="1200" dirty="0">
                          <a:solidFill>
                            <a:schemeClr val="dk1"/>
                          </a:solidFill>
                          <a:effectLst/>
                          <a:latin typeface="+mn-lt"/>
                          <a:ea typeface="+mn-ea"/>
                          <a:cs typeface="+mn-cs"/>
                        </a:rPr>
                        <a:t>할인율</a:t>
                      </a:r>
                      <a:r>
                        <a:rPr lang="en-US" altLang="ko-KR" sz="1800" kern="1200" dirty="0">
                          <a:solidFill>
                            <a:schemeClr val="dk1"/>
                          </a:solidFill>
                          <a:effectLst/>
                          <a:latin typeface="+mn-lt"/>
                          <a:ea typeface="+mn-ea"/>
                          <a:cs typeface="+mn-cs"/>
                        </a:rPr>
                        <a:t>)</a:t>
                      </a:r>
                      <a:r>
                        <a:rPr lang="ko-KR" altLang="ko-KR" sz="1800" kern="1200" dirty="0">
                          <a:solidFill>
                            <a:schemeClr val="dk1"/>
                          </a:solidFill>
                          <a:effectLst/>
                          <a:latin typeface="+mn-lt"/>
                          <a:ea typeface="+mn-ea"/>
                          <a:cs typeface="+mn-cs"/>
                        </a:rPr>
                        <a:t>과 </a:t>
                      </a:r>
                      <a:r>
                        <a:rPr lang="en-US" altLang="ko-KR" sz="1800" kern="1200" dirty="0">
                          <a:solidFill>
                            <a:schemeClr val="dk1"/>
                          </a:solidFill>
                          <a:effectLst/>
                          <a:latin typeface="+mn-lt"/>
                          <a:ea typeface="+mn-ea"/>
                          <a:cs typeface="+mn-cs"/>
                        </a:rPr>
                        <a:t>CPI(</a:t>
                      </a:r>
                      <a:r>
                        <a:rPr lang="ko-KR" altLang="ko-KR" sz="1800" kern="1200" dirty="0">
                          <a:solidFill>
                            <a:schemeClr val="dk1"/>
                          </a:solidFill>
                          <a:effectLst/>
                          <a:latin typeface="+mn-lt"/>
                          <a:ea typeface="+mn-ea"/>
                          <a:cs typeface="+mn-cs"/>
                        </a:rPr>
                        <a:t>소비지출율</a:t>
                      </a:r>
                      <a:r>
                        <a:rPr lang="en-US" altLang="ko-KR" sz="1800" kern="1200" dirty="0">
                          <a:solidFill>
                            <a:schemeClr val="dk1"/>
                          </a:solidFill>
                          <a:effectLst/>
                          <a:latin typeface="+mn-lt"/>
                          <a:ea typeface="+mn-ea"/>
                          <a:cs typeface="+mn-cs"/>
                        </a:rPr>
                        <a:t>), unemployment(</a:t>
                      </a:r>
                      <a:r>
                        <a:rPr lang="ko-KR" altLang="ko-KR" sz="1800" kern="1200" dirty="0">
                          <a:solidFill>
                            <a:schemeClr val="dk1"/>
                          </a:solidFill>
                          <a:effectLst/>
                          <a:latin typeface="+mn-lt"/>
                          <a:ea typeface="+mn-ea"/>
                          <a:cs typeface="+mn-cs"/>
                        </a:rPr>
                        <a:t>실</a:t>
                      </a:r>
                      <a:r>
                        <a:rPr lang="ko-KR" altLang="en-US" sz="1800" kern="1200" dirty="0">
                          <a:solidFill>
                            <a:schemeClr val="dk1"/>
                          </a:solidFill>
                          <a:effectLst/>
                          <a:latin typeface="+mn-lt"/>
                          <a:ea typeface="+mn-ea"/>
                          <a:cs typeface="+mn-cs"/>
                        </a:rPr>
                        <a:t>업률</a:t>
                      </a:r>
                      <a:r>
                        <a:rPr lang="en-US" altLang="ko-KR" sz="1800" kern="1200" dirty="0">
                          <a:solidFill>
                            <a:schemeClr val="dk1"/>
                          </a:solidFill>
                          <a:effectLst/>
                          <a:latin typeface="+mn-lt"/>
                          <a:ea typeface="+mn-ea"/>
                          <a:cs typeface="+mn-cs"/>
                        </a:rPr>
                        <a:t>), </a:t>
                      </a:r>
                      <a:r>
                        <a:rPr lang="en-US" altLang="ko-KR" sz="1800" kern="1200" dirty="0" err="1">
                          <a:solidFill>
                            <a:schemeClr val="dk1"/>
                          </a:solidFill>
                          <a:effectLst/>
                          <a:latin typeface="+mn-lt"/>
                          <a:ea typeface="+mn-ea"/>
                          <a:cs typeface="+mn-cs"/>
                        </a:rPr>
                        <a:t>IsHoliday</a:t>
                      </a:r>
                      <a:r>
                        <a:rPr lang="en-US" altLang="ko-KR" sz="1800" kern="1200" dirty="0">
                          <a:solidFill>
                            <a:schemeClr val="dk1"/>
                          </a:solidFill>
                          <a:effectLst/>
                          <a:latin typeface="+mn-lt"/>
                          <a:ea typeface="+mn-ea"/>
                          <a:cs typeface="+mn-cs"/>
                        </a:rPr>
                        <a:t> (</a:t>
                      </a:r>
                      <a:r>
                        <a:rPr lang="ko-KR" altLang="ko-KR" sz="1800" kern="1200" dirty="0">
                          <a:solidFill>
                            <a:schemeClr val="dk1"/>
                          </a:solidFill>
                          <a:effectLst/>
                          <a:latin typeface="+mn-lt"/>
                          <a:ea typeface="+mn-ea"/>
                          <a:cs typeface="+mn-cs"/>
                        </a:rPr>
                        <a:t>공휴일</a:t>
                      </a:r>
                      <a:r>
                        <a:rPr lang="en-US" altLang="ko-KR" sz="1800" kern="1200" dirty="0">
                          <a:solidFill>
                            <a:schemeClr val="dk1"/>
                          </a:solidFill>
                          <a:effectLst/>
                          <a:latin typeface="+mn-lt"/>
                          <a:ea typeface="+mn-ea"/>
                          <a:cs typeface="+mn-cs"/>
                        </a:rPr>
                        <a:t> check)</a:t>
                      </a:r>
                    </a:p>
                    <a:p>
                      <a:pPr marL="285750" indent="-285750" latinLnBrk="1">
                        <a:buFont typeface="Arial" panose="020B0604020202020204" pitchFamily="34" charset="0"/>
                        <a:buChar char="•"/>
                      </a:pPr>
                      <a:r>
                        <a:rPr lang="ko-KR" altLang="en-US" sz="1800" kern="1200" dirty="0">
                          <a:solidFill>
                            <a:schemeClr val="dk1"/>
                          </a:solidFill>
                          <a:effectLst/>
                          <a:latin typeface="+mn-lt"/>
                          <a:ea typeface="+mn-ea"/>
                          <a:cs typeface="+mn-cs"/>
                        </a:rPr>
                        <a:t>이때 </a:t>
                      </a:r>
                      <a:r>
                        <a:rPr lang="en-US" altLang="ko-KR" sz="1800" kern="1200" dirty="0" err="1">
                          <a:solidFill>
                            <a:schemeClr val="dk1"/>
                          </a:solidFill>
                          <a:effectLst/>
                          <a:latin typeface="+mn-lt"/>
                          <a:ea typeface="+mn-ea"/>
                          <a:cs typeface="+mn-cs"/>
                        </a:rPr>
                        <a:t>ISHoliday</a:t>
                      </a:r>
                      <a:r>
                        <a:rPr lang="ko-KR" altLang="en-US" sz="1800" kern="1200" dirty="0">
                          <a:solidFill>
                            <a:schemeClr val="dk1"/>
                          </a:solidFill>
                          <a:effectLst/>
                          <a:latin typeface="+mn-lt"/>
                          <a:ea typeface="+mn-ea"/>
                          <a:cs typeface="+mn-cs"/>
                        </a:rPr>
                        <a:t>는 </a:t>
                      </a:r>
                      <a:r>
                        <a:rPr lang="ko-KR" altLang="ko-KR" sz="1800" kern="1200" dirty="0">
                          <a:solidFill>
                            <a:schemeClr val="dk1"/>
                          </a:solidFill>
                          <a:effectLst/>
                          <a:latin typeface="+mn-lt"/>
                          <a:ea typeface="+mn-ea"/>
                          <a:cs typeface="+mn-cs"/>
                        </a:rPr>
                        <a:t>명목형</a:t>
                      </a:r>
                      <a:r>
                        <a:rPr lang="en-US" altLang="ko-KR" sz="1800" kern="1200" dirty="0">
                          <a:solidFill>
                            <a:schemeClr val="dk1"/>
                          </a:solidFill>
                          <a:effectLst/>
                          <a:latin typeface="+mn-lt"/>
                          <a:ea typeface="+mn-ea"/>
                          <a:cs typeface="+mn-cs"/>
                        </a:rPr>
                        <a:t> </a:t>
                      </a:r>
                      <a:r>
                        <a:rPr lang="ko-KR" altLang="ko-KR" sz="1800" kern="1200" dirty="0">
                          <a:solidFill>
                            <a:schemeClr val="dk1"/>
                          </a:solidFill>
                          <a:effectLst/>
                          <a:latin typeface="+mn-lt"/>
                          <a:ea typeface="+mn-ea"/>
                          <a:cs typeface="+mn-cs"/>
                        </a:rPr>
                        <a:t>변수</a:t>
                      </a:r>
                      <a:r>
                        <a:rPr lang="ko-KR" altLang="en-US" sz="1800" kern="1200" dirty="0">
                          <a:solidFill>
                            <a:schemeClr val="dk1"/>
                          </a:solidFill>
                          <a:effectLst/>
                          <a:latin typeface="+mn-lt"/>
                          <a:ea typeface="+mn-ea"/>
                          <a:cs typeface="+mn-cs"/>
                        </a:rPr>
                        <a:t>임으로</a:t>
                      </a:r>
                      <a:r>
                        <a:rPr lang="en-US" altLang="ko-KR" sz="1800" kern="1200" dirty="0">
                          <a:solidFill>
                            <a:schemeClr val="dk1"/>
                          </a:solidFill>
                          <a:effectLst/>
                          <a:latin typeface="+mn-lt"/>
                          <a:ea typeface="+mn-ea"/>
                          <a:cs typeface="+mn-cs"/>
                        </a:rPr>
                        <a:t> </a:t>
                      </a:r>
                      <a:r>
                        <a:rPr lang="ko-KR" altLang="ko-KR" sz="1800" kern="1200" dirty="0">
                          <a:solidFill>
                            <a:schemeClr val="dk1"/>
                          </a:solidFill>
                          <a:effectLst/>
                          <a:latin typeface="+mn-lt"/>
                          <a:ea typeface="+mn-ea"/>
                          <a:cs typeface="+mn-cs"/>
                        </a:rPr>
                        <a:t>회귀에서는 명목형은 못</a:t>
                      </a:r>
                      <a:r>
                        <a:rPr lang="en-US" altLang="ko-KR" sz="1800" kern="1200" dirty="0">
                          <a:solidFill>
                            <a:schemeClr val="dk1"/>
                          </a:solidFill>
                          <a:effectLst/>
                          <a:latin typeface="+mn-lt"/>
                          <a:ea typeface="+mn-ea"/>
                          <a:cs typeface="+mn-cs"/>
                        </a:rPr>
                        <a:t> </a:t>
                      </a:r>
                      <a:r>
                        <a:rPr lang="ko-KR" altLang="ko-KR" sz="1800" kern="1200" dirty="0" err="1">
                          <a:solidFill>
                            <a:schemeClr val="dk1"/>
                          </a:solidFill>
                          <a:effectLst/>
                          <a:latin typeface="+mn-lt"/>
                          <a:ea typeface="+mn-ea"/>
                          <a:cs typeface="+mn-cs"/>
                        </a:rPr>
                        <a:t>하니깐</a:t>
                      </a:r>
                      <a:r>
                        <a:rPr lang="ko-KR" altLang="ko-KR" sz="1800" kern="1200" dirty="0">
                          <a:solidFill>
                            <a:schemeClr val="dk1"/>
                          </a:solidFill>
                          <a:effectLst/>
                          <a:latin typeface="+mn-lt"/>
                          <a:ea typeface="+mn-ea"/>
                          <a:cs typeface="+mn-cs"/>
                        </a:rPr>
                        <a:t> 수치형으로 </a:t>
                      </a:r>
                      <a:r>
                        <a:rPr lang="en-US" altLang="ko-KR" sz="1800" kern="1200" dirty="0">
                          <a:solidFill>
                            <a:schemeClr val="dk1"/>
                          </a:solidFill>
                          <a:effectLst/>
                          <a:latin typeface="+mn-lt"/>
                          <a:ea typeface="+mn-ea"/>
                          <a:cs typeface="+mn-cs"/>
                        </a:rPr>
                        <a:t>1,0</a:t>
                      </a:r>
                      <a:r>
                        <a:rPr lang="ko-KR" altLang="ko-KR" sz="1800" kern="1200" dirty="0">
                          <a:solidFill>
                            <a:schemeClr val="dk1"/>
                          </a:solidFill>
                          <a:effectLst/>
                          <a:latin typeface="+mn-lt"/>
                          <a:ea typeface="+mn-ea"/>
                          <a:cs typeface="+mn-cs"/>
                        </a:rPr>
                        <a:t>으로 변환을 해서 회</a:t>
                      </a:r>
                      <a:r>
                        <a:rPr lang="ko-KR" altLang="en-US" sz="1800" kern="1200" dirty="0">
                          <a:solidFill>
                            <a:schemeClr val="dk1"/>
                          </a:solidFill>
                          <a:effectLst/>
                          <a:latin typeface="+mn-lt"/>
                          <a:ea typeface="+mn-ea"/>
                          <a:cs typeface="+mn-cs"/>
                        </a:rPr>
                        <a:t>귀</a:t>
                      </a:r>
                      <a:r>
                        <a:rPr lang="ko-KR" altLang="ko-KR" sz="1800" kern="1200" dirty="0">
                          <a:solidFill>
                            <a:schemeClr val="dk1"/>
                          </a:solidFill>
                          <a:effectLst/>
                          <a:latin typeface="+mn-lt"/>
                          <a:ea typeface="+mn-ea"/>
                          <a:cs typeface="+mn-cs"/>
                        </a:rPr>
                        <a:t>모델에다가 집어넣을 수가 있습니다</a:t>
                      </a:r>
                      <a:r>
                        <a:rPr lang="en-US" altLang="ko-KR" sz="1800" kern="1200" dirty="0">
                          <a:solidFill>
                            <a:schemeClr val="dk1"/>
                          </a:solidFill>
                          <a:effectLst/>
                          <a:latin typeface="+mn-lt"/>
                          <a:ea typeface="+mn-ea"/>
                          <a:cs typeface="+mn-cs"/>
                        </a:rPr>
                        <a:t>.</a:t>
                      </a:r>
                      <a:endParaRPr lang="ko-KR" altLang="ko-KR" sz="1800" kern="1200" dirty="0">
                        <a:solidFill>
                          <a:schemeClr val="dk1"/>
                        </a:solidFill>
                        <a:effectLst/>
                        <a:latin typeface="+mn-lt"/>
                        <a:ea typeface="+mn-ea"/>
                        <a:cs typeface="+mn-cs"/>
                      </a:endParaRPr>
                    </a:p>
                  </a:txBody>
                  <a:tcPr/>
                </a:tc>
                <a:extLst>
                  <a:ext uri="{0D108BD9-81ED-4DB2-BD59-A6C34878D82A}">
                    <a16:rowId xmlns:a16="http://schemas.microsoft.com/office/drawing/2014/main" val="398258525"/>
                  </a:ext>
                </a:extLst>
              </a:tr>
            </a:tbl>
          </a:graphicData>
        </a:graphic>
      </p:graphicFrame>
      <p:pic>
        <p:nvPicPr>
          <p:cNvPr id="19" name="그림 18">
            <a:extLst>
              <a:ext uri="{FF2B5EF4-FFF2-40B4-BE49-F238E27FC236}">
                <a16:creationId xmlns:a16="http://schemas.microsoft.com/office/drawing/2014/main" id="{D5D2908F-6C2D-4557-ACD0-74739C3DD7DB}"/>
              </a:ext>
            </a:extLst>
          </p:cNvPr>
          <p:cNvPicPr>
            <a:picLocks noChangeAspect="1"/>
          </p:cNvPicPr>
          <p:nvPr/>
        </p:nvPicPr>
        <p:blipFill>
          <a:blip r:embed="rId2"/>
          <a:stretch>
            <a:fillRect/>
          </a:stretch>
        </p:blipFill>
        <p:spPr>
          <a:xfrm>
            <a:off x="93942" y="1563436"/>
            <a:ext cx="6801799" cy="4916834"/>
          </a:xfrm>
          <a:prstGeom prst="rect">
            <a:avLst/>
          </a:prstGeom>
        </p:spPr>
      </p:pic>
    </p:spTree>
    <p:extLst>
      <p:ext uri="{BB962C8B-B14F-4D97-AF65-F5344CB8AC3E}">
        <p14:creationId xmlns:p14="http://schemas.microsoft.com/office/powerpoint/2010/main" val="313194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354BA1"/>
        </a:solidFill>
        <a:effectLst/>
      </p:bgPr>
    </p:bg>
    <p:spTree>
      <p:nvGrpSpPr>
        <p:cNvPr id="1" name=""/>
        <p:cNvGrpSpPr/>
        <p:nvPr/>
      </p:nvGrpSpPr>
      <p:grpSpPr>
        <a:xfrm>
          <a:off x="0" y="0"/>
          <a:ext cx="0" cy="0"/>
          <a:chOff x="0" y="0"/>
          <a:chExt cx="0" cy="0"/>
        </a:xfrm>
      </p:grpSpPr>
      <p:sp>
        <p:nvSpPr>
          <p:cNvPr id="8" name="직사각형 7"/>
          <p:cNvSpPr/>
          <p:nvPr/>
        </p:nvSpPr>
        <p:spPr>
          <a:xfrm>
            <a:off x="378372" y="415772"/>
            <a:ext cx="1702676" cy="720000"/>
          </a:xfrm>
          <a:prstGeom prst="rect">
            <a:avLst/>
          </a:prstGeom>
          <a:noFill/>
          <a:ln w="19050">
            <a:solidFill>
              <a:srgbClr val="FFC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rPr>
              <a:t>3</a:t>
            </a:r>
            <a:endParaRPr kumimoji="0" lang="ko-KR" altLang="en-US"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endParaRPr>
          </a:p>
        </p:txBody>
      </p:sp>
      <p:sp>
        <p:nvSpPr>
          <p:cNvPr id="11" name="직사각형 10">
            <a:extLst>
              <a:ext uri="{FF2B5EF4-FFF2-40B4-BE49-F238E27FC236}">
                <a16:creationId xmlns:a16="http://schemas.microsoft.com/office/drawing/2014/main" id="{7EA33CA5-8767-498A-975A-2C525DDEAD17}"/>
              </a:ext>
            </a:extLst>
          </p:cNvPr>
          <p:cNvSpPr/>
          <p:nvPr/>
        </p:nvSpPr>
        <p:spPr>
          <a:xfrm>
            <a:off x="2251559" y="284579"/>
            <a:ext cx="9768806" cy="181588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32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Walmart Sales data – </a:t>
            </a:r>
            <a:r>
              <a:rPr kumimoji="0" lang="ko-KR" altLang="en-US" sz="32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외부 변수 관련</a:t>
            </a:r>
            <a:endParaRPr kumimoji="0" lang="en-US" altLang="ko-KR" sz="32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6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(b) Create  time  plots  of  the  other  numerical  series  (Temper- </a:t>
            </a:r>
            <a:r>
              <a:rPr kumimoji="0" lang="en-US" altLang="ko-KR" sz="1600" b="1" i="0" u="none" strike="noStrike" kern="0" cap="none" spc="0" normalizeH="0" baseline="0" noProof="0" dirty="0" err="1">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ature</a:t>
            </a:r>
            <a:r>
              <a:rPr kumimoji="0" lang="en-US" altLang="ko-KR" sz="16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  </a:t>
            </a:r>
            <a:r>
              <a:rPr kumimoji="0" lang="en-US" altLang="ko-KR" sz="1600" b="1" i="0" u="none" strike="noStrike" kern="0" cap="none" spc="0" normalizeH="0" baseline="0" noProof="0" dirty="0" err="1">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Fuel_Price</a:t>
            </a:r>
            <a:r>
              <a:rPr kumimoji="0" lang="en-US" altLang="ko-KR" sz="16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  CPI,  and  Unemployment).  Also  create scatter  plots  of  the  sales  series  against  each  of  these  four  se- </a:t>
            </a:r>
            <a:r>
              <a:rPr kumimoji="0" lang="en-US" altLang="ko-KR" sz="1600" b="1" i="0" u="none" strike="noStrike" kern="0" cap="none" spc="0" normalizeH="0" baseline="0" noProof="0" dirty="0" err="1">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ries</a:t>
            </a:r>
            <a:r>
              <a:rPr kumimoji="0" lang="en-US" altLang="ko-KR" sz="16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  (each  point  in  the  scatter  plot  will  be  a  week).  From  the charts,  which  of  the  four  series  would  potentially  be  useful as  external  predictors  in  a  regression  model  for  forecasting sales?</a:t>
            </a:r>
          </a:p>
        </p:txBody>
      </p:sp>
      <p:graphicFrame>
        <p:nvGraphicFramePr>
          <p:cNvPr id="9" name="표 8">
            <a:extLst>
              <a:ext uri="{FF2B5EF4-FFF2-40B4-BE49-F238E27FC236}">
                <a16:creationId xmlns:a16="http://schemas.microsoft.com/office/drawing/2014/main" id="{06376768-C6B0-4F5F-BB96-115BD93736A3}"/>
              </a:ext>
            </a:extLst>
          </p:cNvPr>
          <p:cNvGraphicFramePr>
            <a:graphicFrameLocks noGrp="1"/>
          </p:cNvGraphicFramePr>
          <p:nvPr>
            <p:extLst>
              <p:ext uri="{D42A27DB-BD31-4B8C-83A1-F6EECF244321}">
                <p14:modId xmlns:p14="http://schemas.microsoft.com/office/powerpoint/2010/main" val="633335803"/>
              </p:ext>
            </p:extLst>
          </p:nvPr>
        </p:nvGraphicFramePr>
        <p:xfrm>
          <a:off x="6773148" y="2512060"/>
          <a:ext cx="5258540" cy="1010920"/>
        </p:xfrm>
        <a:graphic>
          <a:graphicData uri="http://schemas.openxmlformats.org/drawingml/2006/table">
            <a:tbl>
              <a:tblPr firstRow="1" bandRow="1">
                <a:tableStyleId>{5C22544A-7EE6-4342-B048-85BDC9FD1C3A}</a:tableStyleId>
              </a:tblPr>
              <a:tblGrid>
                <a:gridCol w="5258540">
                  <a:extLst>
                    <a:ext uri="{9D8B030D-6E8A-4147-A177-3AD203B41FA5}">
                      <a16:colId xmlns:a16="http://schemas.microsoft.com/office/drawing/2014/main" val="4093639860"/>
                    </a:ext>
                  </a:extLst>
                </a:gridCol>
              </a:tblGrid>
              <a:tr h="370840">
                <a:tc>
                  <a:txBody>
                    <a:bodyPr/>
                    <a:lstStyle/>
                    <a:p>
                      <a:pPr marL="285750" indent="-285750" latinLnBrk="1">
                        <a:buFont typeface="Arial" panose="020B0604020202020204" pitchFamily="34" charset="0"/>
                        <a:buChar char="•"/>
                      </a:pPr>
                      <a:endParaRPr lang="ko-KR" altLang="en-US" dirty="0"/>
                    </a:p>
                  </a:txBody>
                  <a:tcPr/>
                </a:tc>
                <a:extLst>
                  <a:ext uri="{0D108BD9-81ED-4DB2-BD59-A6C34878D82A}">
                    <a16:rowId xmlns:a16="http://schemas.microsoft.com/office/drawing/2014/main" val="3200778601"/>
                  </a:ext>
                </a:extLst>
              </a:tr>
              <a:tr h="392714">
                <a:tc>
                  <a:txBody>
                    <a:bodyPr/>
                    <a:lstStyle/>
                    <a:p>
                      <a:pPr marL="285750" indent="-285750" latinLnBrk="1">
                        <a:buFont typeface="Arial" panose="020B0604020202020204" pitchFamily="34" charset="0"/>
                        <a:buChar char="•"/>
                      </a:pPr>
                      <a:r>
                        <a:rPr lang="en-US" altLang="ko-KR" sz="1800" kern="1200" dirty="0">
                          <a:solidFill>
                            <a:schemeClr val="dk1"/>
                          </a:solidFill>
                          <a:effectLst/>
                          <a:latin typeface="+mn-lt"/>
                          <a:ea typeface="+mn-ea"/>
                          <a:cs typeface="+mn-cs"/>
                        </a:rPr>
                        <a:t>Temper- </a:t>
                      </a:r>
                      <a:r>
                        <a:rPr lang="en-US" altLang="ko-KR" sz="1800" kern="1200" dirty="0" err="1">
                          <a:solidFill>
                            <a:schemeClr val="dk1"/>
                          </a:solidFill>
                          <a:effectLst/>
                          <a:latin typeface="+mn-lt"/>
                          <a:ea typeface="+mn-ea"/>
                          <a:cs typeface="+mn-cs"/>
                        </a:rPr>
                        <a:t>ature</a:t>
                      </a:r>
                      <a:r>
                        <a:rPr lang="en-US" altLang="ko-KR" sz="1800" kern="1200" dirty="0">
                          <a:solidFill>
                            <a:schemeClr val="dk1"/>
                          </a:solidFill>
                          <a:effectLst/>
                          <a:latin typeface="+mn-lt"/>
                          <a:ea typeface="+mn-ea"/>
                          <a:cs typeface="+mn-cs"/>
                        </a:rPr>
                        <a:t>,  </a:t>
                      </a:r>
                      <a:r>
                        <a:rPr lang="en-US" altLang="ko-KR" sz="1800" kern="1200" dirty="0" err="1">
                          <a:solidFill>
                            <a:schemeClr val="dk1"/>
                          </a:solidFill>
                          <a:effectLst/>
                          <a:latin typeface="+mn-lt"/>
                          <a:ea typeface="+mn-ea"/>
                          <a:cs typeface="+mn-cs"/>
                        </a:rPr>
                        <a:t>Fuel_Price</a:t>
                      </a:r>
                      <a:r>
                        <a:rPr lang="en-US" altLang="ko-KR" sz="1800" kern="1200" dirty="0">
                          <a:solidFill>
                            <a:schemeClr val="dk1"/>
                          </a:solidFill>
                          <a:effectLst/>
                          <a:latin typeface="+mn-lt"/>
                          <a:ea typeface="+mn-ea"/>
                          <a:cs typeface="+mn-cs"/>
                        </a:rPr>
                        <a:t>,  CPI,  and  Unemployment</a:t>
                      </a:r>
                      <a:r>
                        <a:rPr lang="ko-KR" altLang="en-US" sz="1800" kern="1200" dirty="0">
                          <a:solidFill>
                            <a:schemeClr val="dk1"/>
                          </a:solidFill>
                          <a:effectLst/>
                          <a:latin typeface="+mn-lt"/>
                          <a:ea typeface="+mn-ea"/>
                          <a:cs typeface="+mn-cs"/>
                        </a:rPr>
                        <a:t>에 대한 </a:t>
                      </a:r>
                      <a:r>
                        <a:rPr lang="ko-KR" altLang="en-US" sz="1800" kern="1200" dirty="0" err="1">
                          <a:solidFill>
                            <a:schemeClr val="dk1"/>
                          </a:solidFill>
                          <a:effectLst/>
                          <a:latin typeface="+mn-lt"/>
                          <a:ea typeface="+mn-ea"/>
                          <a:cs typeface="+mn-cs"/>
                        </a:rPr>
                        <a:t>산점도</a:t>
                      </a:r>
                      <a:endParaRPr lang="en-US" altLang="ko-KR" sz="1800" kern="1200" dirty="0">
                        <a:solidFill>
                          <a:schemeClr val="dk1"/>
                        </a:solidFill>
                        <a:effectLst/>
                        <a:latin typeface="+mn-lt"/>
                        <a:ea typeface="+mn-ea"/>
                        <a:cs typeface="+mn-cs"/>
                      </a:endParaRPr>
                    </a:p>
                  </a:txBody>
                  <a:tcPr/>
                </a:tc>
                <a:extLst>
                  <a:ext uri="{0D108BD9-81ED-4DB2-BD59-A6C34878D82A}">
                    <a16:rowId xmlns:a16="http://schemas.microsoft.com/office/drawing/2014/main" val="398258525"/>
                  </a:ext>
                </a:extLst>
              </a:tr>
            </a:tbl>
          </a:graphicData>
        </a:graphic>
      </p:graphicFrame>
      <p:pic>
        <p:nvPicPr>
          <p:cNvPr id="3" name="그림 2">
            <a:extLst>
              <a:ext uri="{FF2B5EF4-FFF2-40B4-BE49-F238E27FC236}">
                <a16:creationId xmlns:a16="http://schemas.microsoft.com/office/drawing/2014/main" id="{6CF1E079-2C8A-44F1-8F03-873A159FC0C2}"/>
              </a:ext>
            </a:extLst>
          </p:cNvPr>
          <p:cNvPicPr>
            <a:picLocks noChangeAspect="1"/>
          </p:cNvPicPr>
          <p:nvPr/>
        </p:nvPicPr>
        <p:blipFill>
          <a:blip r:embed="rId2"/>
          <a:stretch>
            <a:fillRect/>
          </a:stretch>
        </p:blipFill>
        <p:spPr>
          <a:xfrm>
            <a:off x="312120" y="2201720"/>
            <a:ext cx="6203576" cy="4125099"/>
          </a:xfrm>
          <a:prstGeom prst="rect">
            <a:avLst/>
          </a:prstGeom>
        </p:spPr>
      </p:pic>
    </p:spTree>
    <p:extLst>
      <p:ext uri="{BB962C8B-B14F-4D97-AF65-F5344CB8AC3E}">
        <p14:creationId xmlns:p14="http://schemas.microsoft.com/office/powerpoint/2010/main" val="4414475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354BA1"/>
        </a:solidFill>
        <a:effectLst/>
      </p:bgPr>
    </p:bg>
    <p:spTree>
      <p:nvGrpSpPr>
        <p:cNvPr id="1" name=""/>
        <p:cNvGrpSpPr/>
        <p:nvPr/>
      </p:nvGrpSpPr>
      <p:grpSpPr>
        <a:xfrm>
          <a:off x="0" y="0"/>
          <a:ext cx="0" cy="0"/>
          <a:chOff x="0" y="0"/>
          <a:chExt cx="0" cy="0"/>
        </a:xfrm>
      </p:grpSpPr>
      <p:sp>
        <p:nvSpPr>
          <p:cNvPr id="8" name="직사각형 7"/>
          <p:cNvSpPr/>
          <p:nvPr/>
        </p:nvSpPr>
        <p:spPr>
          <a:xfrm>
            <a:off x="378372" y="415772"/>
            <a:ext cx="1702676" cy="720000"/>
          </a:xfrm>
          <a:prstGeom prst="rect">
            <a:avLst/>
          </a:prstGeom>
          <a:noFill/>
          <a:ln w="19050">
            <a:solidFill>
              <a:srgbClr val="FFC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rPr>
              <a:t>3</a:t>
            </a:r>
            <a:endParaRPr kumimoji="0" lang="ko-KR" altLang="en-US"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endParaRPr>
          </a:p>
        </p:txBody>
      </p:sp>
      <p:sp>
        <p:nvSpPr>
          <p:cNvPr id="11" name="직사각형 10">
            <a:extLst>
              <a:ext uri="{FF2B5EF4-FFF2-40B4-BE49-F238E27FC236}">
                <a16:creationId xmlns:a16="http://schemas.microsoft.com/office/drawing/2014/main" id="{7EA33CA5-8767-498A-975A-2C525DDEAD17}"/>
              </a:ext>
            </a:extLst>
          </p:cNvPr>
          <p:cNvSpPr/>
          <p:nvPr/>
        </p:nvSpPr>
        <p:spPr>
          <a:xfrm>
            <a:off x="2251559" y="284579"/>
            <a:ext cx="9768806" cy="132343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32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Walmart Sales data – </a:t>
            </a:r>
            <a:r>
              <a:rPr kumimoji="0" lang="ko-KR" altLang="en-US" sz="32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외부 변수 관련</a:t>
            </a:r>
            <a:endParaRPr kumimoji="0" lang="en-US" altLang="ko-KR" sz="32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6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(c) The  period  to  forecast  is  November  2,  2012  to  July  26, 2013.  For  which  of  the  series  does  the  ﬁle  include  data  for this  forecasting  period?  For  which  series  is  there  no  data for  this  period?  Explain  why.</a:t>
            </a:r>
          </a:p>
        </p:txBody>
      </p:sp>
      <p:graphicFrame>
        <p:nvGraphicFramePr>
          <p:cNvPr id="6" name="표 5">
            <a:extLst>
              <a:ext uri="{FF2B5EF4-FFF2-40B4-BE49-F238E27FC236}">
                <a16:creationId xmlns:a16="http://schemas.microsoft.com/office/drawing/2014/main" id="{3FB744B3-9E61-43FF-92DE-7BD20AE6D307}"/>
              </a:ext>
            </a:extLst>
          </p:cNvPr>
          <p:cNvGraphicFramePr>
            <a:graphicFrameLocks noGrp="1"/>
          </p:cNvGraphicFramePr>
          <p:nvPr>
            <p:extLst>
              <p:ext uri="{D42A27DB-BD31-4B8C-83A1-F6EECF244321}">
                <p14:modId xmlns:p14="http://schemas.microsoft.com/office/powerpoint/2010/main" val="200943964"/>
              </p:ext>
            </p:extLst>
          </p:nvPr>
        </p:nvGraphicFramePr>
        <p:xfrm>
          <a:off x="1229710" y="2176188"/>
          <a:ext cx="9392575" cy="2108200"/>
        </p:xfrm>
        <a:graphic>
          <a:graphicData uri="http://schemas.openxmlformats.org/drawingml/2006/table">
            <a:tbl>
              <a:tblPr firstRow="1" bandRow="1">
                <a:tableStyleId>{5C22544A-7EE6-4342-B048-85BDC9FD1C3A}</a:tableStyleId>
              </a:tblPr>
              <a:tblGrid>
                <a:gridCol w="9392575">
                  <a:extLst>
                    <a:ext uri="{9D8B030D-6E8A-4147-A177-3AD203B41FA5}">
                      <a16:colId xmlns:a16="http://schemas.microsoft.com/office/drawing/2014/main" val="4093639860"/>
                    </a:ext>
                  </a:extLst>
                </a:gridCol>
              </a:tblGrid>
              <a:tr h="370840">
                <a:tc>
                  <a:txBody>
                    <a:bodyPr/>
                    <a:lstStyle/>
                    <a:p>
                      <a:pPr marL="285750" indent="-285750" latinLnBrk="1">
                        <a:buFont typeface="Arial" panose="020B0604020202020204" pitchFamily="34" charset="0"/>
                        <a:buChar char="•"/>
                      </a:pPr>
                      <a:endParaRPr lang="ko-KR" altLang="en-US" dirty="0"/>
                    </a:p>
                  </a:txBody>
                  <a:tcPr/>
                </a:tc>
                <a:extLst>
                  <a:ext uri="{0D108BD9-81ED-4DB2-BD59-A6C34878D82A}">
                    <a16:rowId xmlns:a16="http://schemas.microsoft.com/office/drawing/2014/main" val="3200778601"/>
                  </a:ext>
                </a:extLst>
              </a:tr>
              <a:tr h="0">
                <a:tc>
                  <a:txBody>
                    <a:bodyPr/>
                    <a:lstStyle/>
                    <a:p>
                      <a:pPr marL="285750" indent="-285750" latinLnBrk="1">
                        <a:buFont typeface="Arial" panose="020B0604020202020204" pitchFamily="34" charset="0"/>
                        <a:buChar char="•"/>
                      </a:pPr>
                      <a:r>
                        <a:rPr lang="ko-KR" altLang="ko-KR" sz="1800" kern="1200" dirty="0">
                          <a:solidFill>
                            <a:schemeClr val="dk1"/>
                          </a:solidFill>
                          <a:effectLst/>
                          <a:latin typeface="+mn-lt"/>
                          <a:ea typeface="+mn-ea"/>
                          <a:cs typeface="+mn-cs"/>
                        </a:rPr>
                        <a:t>마크다운</a:t>
                      </a:r>
                      <a:r>
                        <a:rPr lang="en-US" altLang="ko-KR" sz="1800" kern="1200" dirty="0">
                          <a:solidFill>
                            <a:schemeClr val="dk1"/>
                          </a:solidFill>
                          <a:effectLst/>
                          <a:latin typeface="+mn-lt"/>
                          <a:ea typeface="+mn-ea"/>
                          <a:cs typeface="+mn-cs"/>
                        </a:rPr>
                        <a:t>(</a:t>
                      </a:r>
                      <a:r>
                        <a:rPr lang="ko-KR" altLang="ko-KR" sz="1800" kern="1200" dirty="0">
                          <a:solidFill>
                            <a:schemeClr val="dk1"/>
                          </a:solidFill>
                          <a:effectLst/>
                          <a:latin typeface="+mn-lt"/>
                          <a:ea typeface="+mn-ea"/>
                          <a:cs typeface="+mn-cs"/>
                        </a:rPr>
                        <a:t>할인율</a:t>
                      </a:r>
                      <a:r>
                        <a:rPr lang="en-US" altLang="ko-KR" sz="1800" kern="1200" dirty="0">
                          <a:solidFill>
                            <a:schemeClr val="dk1"/>
                          </a:solidFill>
                          <a:effectLst/>
                          <a:latin typeface="+mn-lt"/>
                          <a:ea typeface="+mn-ea"/>
                          <a:cs typeface="+mn-cs"/>
                        </a:rPr>
                        <a:t>)</a:t>
                      </a:r>
                      <a:r>
                        <a:rPr lang="ko-KR" altLang="en-US" sz="1800" kern="1200" dirty="0">
                          <a:solidFill>
                            <a:schemeClr val="dk1"/>
                          </a:solidFill>
                          <a:effectLst/>
                          <a:latin typeface="+mn-lt"/>
                          <a:ea typeface="+mn-ea"/>
                          <a:cs typeface="+mn-cs"/>
                        </a:rPr>
                        <a:t>의 경우는 </a:t>
                      </a:r>
                      <a:r>
                        <a:rPr lang="en-US" altLang="ko-KR" sz="1800" kern="1200" dirty="0">
                          <a:solidFill>
                            <a:schemeClr val="dk1"/>
                          </a:solidFill>
                          <a:effectLst/>
                          <a:latin typeface="+mn-lt"/>
                          <a:ea typeface="+mn-ea"/>
                          <a:cs typeface="+mn-cs"/>
                        </a:rPr>
                        <a:t>2010</a:t>
                      </a:r>
                      <a:r>
                        <a:rPr lang="ko-KR" altLang="en-US" sz="1800" kern="1200" dirty="0">
                          <a:solidFill>
                            <a:schemeClr val="dk1"/>
                          </a:solidFill>
                          <a:effectLst/>
                          <a:latin typeface="+mn-lt"/>
                          <a:ea typeface="+mn-ea"/>
                          <a:cs typeface="+mn-cs"/>
                        </a:rPr>
                        <a:t>년 </a:t>
                      </a:r>
                      <a:r>
                        <a:rPr lang="en-US" altLang="ko-KR" sz="1800" kern="1200" dirty="0">
                          <a:solidFill>
                            <a:schemeClr val="dk1"/>
                          </a:solidFill>
                          <a:effectLst/>
                          <a:latin typeface="+mn-lt"/>
                          <a:ea typeface="+mn-ea"/>
                          <a:cs typeface="+mn-cs"/>
                        </a:rPr>
                        <a:t>2</a:t>
                      </a:r>
                      <a:r>
                        <a:rPr lang="ko-KR" altLang="en-US" sz="1800" kern="1200" dirty="0">
                          <a:solidFill>
                            <a:schemeClr val="dk1"/>
                          </a:solidFill>
                          <a:effectLst/>
                          <a:latin typeface="+mn-lt"/>
                          <a:ea typeface="+mn-ea"/>
                          <a:cs typeface="+mn-cs"/>
                        </a:rPr>
                        <a:t>월 </a:t>
                      </a:r>
                      <a:r>
                        <a:rPr lang="en-US" altLang="ko-KR" sz="1800" kern="1200" dirty="0">
                          <a:solidFill>
                            <a:schemeClr val="dk1"/>
                          </a:solidFill>
                          <a:effectLst/>
                          <a:latin typeface="+mn-lt"/>
                          <a:ea typeface="+mn-ea"/>
                          <a:cs typeface="+mn-cs"/>
                        </a:rPr>
                        <a:t>5</a:t>
                      </a:r>
                      <a:r>
                        <a:rPr lang="ko-KR" altLang="en-US" sz="1800" kern="1200" dirty="0">
                          <a:solidFill>
                            <a:schemeClr val="dk1"/>
                          </a:solidFill>
                          <a:effectLst/>
                          <a:latin typeface="+mn-lt"/>
                          <a:ea typeface="+mn-ea"/>
                          <a:cs typeface="+mn-cs"/>
                        </a:rPr>
                        <a:t>일부터 </a:t>
                      </a:r>
                      <a:r>
                        <a:rPr lang="en-US" altLang="ko-KR" sz="1800" kern="1200" dirty="0">
                          <a:solidFill>
                            <a:schemeClr val="dk1"/>
                          </a:solidFill>
                          <a:effectLst/>
                          <a:latin typeface="+mn-lt"/>
                          <a:ea typeface="+mn-ea"/>
                          <a:cs typeface="+mn-cs"/>
                        </a:rPr>
                        <a:t>2011</a:t>
                      </a:r>
                      <a:r>
                        <a:rPr lang="ko-KR" altLang="en-US" sz="1800" kern="1200" dirty="0">
                          <a:solidFill>
                            <a:schemeClr val="dk1"/>
                          </a:solidFill>
                          <a:effectLst/>
                          <a:latin typeface="+mn-lt"/>
                          <a:ea typeface="+mn-ea"/>
                          <a:cs typeface="+mn-cs"/>
                        </a:rPr>
                        <a:t>년 </a:t>
                      </a:r>
                      <a:r>
                        <a:rPr lang="en-US" altLang="ko-KR" sz="1800" kern="1200" dirty="0">
                          <a:solidFill>
                            <a:schemeClr val="dk1"/>
                          </a:solidFill>
                          <a:effectLst/>
                          <a:latin typeface="+mn-lt"/>
                          <a:ea typeface="+mn-ea"/>
                          <a:cs typeface="+mn-cs"/>
                        </a:rPr>
                        <a:t>11</a:t>
                      </a:r>
                      <a:r>
                        <a:rPr lang="ko-KR" altLang="en-US" sz="1800" kern="1200" dirty="0">
                          <a:solidFill>
                            <a:schemeClr val="dk1"/>
                          </a:solidFill>
                          <a:effectLst/>
                          <a:latin typeface="+mn-lt"/>
                          <a:ea typeface="+mn-ea"/>
                          <a:cs typeface="+mn-cs"/>
                        </a:rPr>
                        <a:t>월 </a:t>
                      </a:r>
                      <a:r>
                        <a:rPr lang="en-US" altLang="ko-KR" sz="1800" kern="1200" dirty="0">
                          <a:solidFill>
                            <a:schemeClr val="dk1"/>
                          </a:solidFill>
                          <a:effectLst/>
                          <a:latin typeface="+mn-lt"/>
                          <a:ea typeface="+mn-ea"/>
                          <a:cs typeface="+mn-cs"/>
                        </a:rPr>
                        <a:t>4</a:t>
                      </a:r>
                      <a:r>
                        <a:rPr lang="ko-KR" altLang="en-US" sz="1800" kern="1200" dirty="0">
                          <a:solidFill>
                            <a:schemeClr val="dk1"/>
                          </a:solidFill>
                          <a:effectLst/>
                          <a:latin typeface="+mn-lt"/>
                          <a:ea typeface="+mn-ea"/>
                          <a:cs typeface="+mn-cs"/>
                        </a:rPr>
                        <a:t>일까지는 데이터가 </a:t>
                      </a:r>
                      <a:r>
                        <a:rPr lang="en-US" altLang="ko-KR" sz="1800" kern="1200" dirty="0">
                          <a:solidFill>
                            <a:schemeClr val="dk1"/>
                          </a:solidFill>
                          <a:effectLst/>
                          <a:latin typeface="+mn-lt"/>
                          <a:ea typeface="+mn-ea"/>
                          <a:cs typeface="+mn-cs"/>
                        </a:rPr>
                        <a:t>NA</a:t>
                      </a:r>
                      <a:r>
                        <a:rPr lang="ko-KR" altLang="en-US" sz="1800" kern="1200" dirty="0">
                          <a:solidFill>
                            <a:schemeClr val="dk1"/>
                          </a:solidFill>
                          <a:effectLst/>
                          <a:latin typeface="+mn-lt"/>
                          <a:ea typeface="+mn-ea"/>
                          <a:cs typeface="+mn-cs"/>
                        </a:rPr>
                        <a:t> </a:t>
                      </a:r>
                      <a:endParaRPr lang="en-US" altLang="ko-KR" sz="1800" kern="1200" dirty="0">
                        <a:solidFill>
                          <a:schemeClr val="dk1"/>
                        </a:solidFill>
                        <a:effectLst/>
                        <a:latin typeface="+mn-lt"/>
                        <a:ea typeface="+mn-ea"/>
                        <a:cs typeface="+mn-cs"/>
                      </a:endParaRPr>
                    </a:p>
                    <a:p>
                      <a:pPr marL="285750" indent="-285750" latinLnBrk="1">
                        <a:buFont typeface="Arial" panose="020B0604020202020204" pitchFamily="34" charset="0"/>
                        <a:buChar char="•"/>
                      </a:pPr>
                      <a:r>
                        <a:rPr lang="ko-KR" altLang="en-US" sz="1800" kern="1200" dirty="0">
                          <a:solidFill>
                            <a:schemeClr val="dk1"/>
                          </a:solidFill>
                          <a:effectLst/>
                          <a:latin typeface="+mn-lt"/>
                          <a:ea typeface="+mn-ea"/>
                          <a:cs typeface="+mn-cs"/>
                        </a:rPr>
                        <a:t>예측기간 중 </a:t>
                      </a:r>
                      <a:r>
                        <a:rPr lang="en-US" altLang="ko-KR" sz="1800" kern="1200" dirty="0">
                          <a:solidFill>
                            <a:schemeClr val="dk1"/>
                          </a:solidFill>
                          <a:effectLst/>
                          <a:latin typeface="+mn-lt"/>
                          <a:ea typeface="+mn-ea"/>
                          <a:cs typeface="+mn-cs"/>
                        </a:rPr>
                        <a:t>2013</a:t>
                      </a:r>
                      <a:r>
                        <a:rPr lang="ko-KR" altLang="en-US" sz="1800" kern="1200" dirty="0">
                          <a:solidFill>
                            <a:schemeClr val="dk1"/>
                          </a:solidFill>
                          <a:effectLst/>
                          <a:latin typeface="+mn-lt"/>
                          <a:ea typeface="+mn-ea"/>
                          <a:cs typeface="+mn-cs"/>
                        </a:rPr>
                        <a:t>년 </a:t>
                      </a:r>
                      <a:r>
                        <a:rPr lang="en-US" altLang="ko-KR" sz="1800" kern="1200" dirty="0">
                          <a:solidFill>
                            <a:schemeClr val="dk1"/>
                          </a:solidFill>
                          <a:effectLst/>
                          <a:latin typeface="+mn-lt"/>
                          <a:ea typeface="+mn-ea"/>
                          <a:cs typeface="+mn-cs"/>
                        </a:rPr>
                        <a:t>5</a:t>
                      </a:r>
                      <a:r>
                        <a:rPr lang="ko-KR" altLang="en-US" sz="1800" kern="1200" dirty="0">
                          <a:solidFill>
                            <a:schemeClr val="dk1"/>
                          </a:solidFill>
                          <a:effectLst/>
                          <a:latin typeface="+mn-lt"/>
                          <a:ea typeface="+mn-ea"/>
                          <a:cs typeface="+mn-cs"/>
                        </a:rPr>
                        <a:t>월 </a:t>
                      </a:r>
                      <a:r>
                        <a:rPr lang="en-US" altLang="ko-KR" sz="1800" kern="1200" dirty="0">
                          <a:solidFill>
                            <a:schemeClr val="dk1"/>
                          </a:solidFill>
                          <a:effectLst/>
                          <a:latin typeface="+mn-lt"/>
                          <a:ea typeface="+mn-ea"/>
                          <a:cs typeface="+mn-cs"/>
                        </a:rPr>
                        <a:t>3</a:t>
                      </a:r>
                      <a:r>
                        <a:rPr lang="ko-KR" altLang="en-US" sz="1800" kern="1200" dirty="0">
                          <a:solidFill>
                            <a:schemeClr val="dk1"/>
                          </a:solidFill>
                          <a:effectLst/>
                          <a:latin typeface="+mn-lt"/>
                          <a:ea typeface="+mn-ea"/>
                          <a:cs typeface="+mn-cs"/>
                        </a:rPr>
                        <a:t>일부터 </a:t>
                      </a:r>
                      <a:r>
                        <a:rPr lang="en-US" altLang="ko-KR" sz="1800" kern="1200" dirty="0">
                          <a:solidFill>
                            <a:schemeClr val="dk1"/>
                          </a:solidFill>
                          <a:effectLst/>
                          <a:latin typeface="+mn-lt"/>
                          <a:ea typeface="+mn-ea"/>
                          <a:cs typeface="+mn-cs"/>
                        </a:rPr>
                        <a:t>2013</a:t>
                      </a:r>
                      <a:r>
                        <a:rPr lang="ko-KR" altLang="en-US" sz="1800" kern="1200" dirty="0">
                          <a:solidFill>
                            <a:schemeClr val="dk1"/>
                          </a:solidFill>
                          <a:effectLst/>
                          <a:latin typeface="+mn-lt"/>
                          <a:ea typeface="+mn-ea"/>
                          <a:cs typeface="+mn-cs"/>
                        </a:rPr>
                        <a:t>년 </a:t>
                      </a:r>
                      <a:r>
                        <a:rPr lang="en-US" altLang="ko-KR" sz="1800" kern="1200" dirty="0">
                          <a:solidFill>
                            <a:schemeClr val="dk1"/>
                          </a:solidFill>
                          <a:effectLst/>
                          <a:latin typeface="+mn-lt"/>
                          <a:ea typeface="+mn-ea"/>
                          <a:cs typeface="+mn-cs"/>
                        </a:rPr>
                        <a:t>7</a:t>
                      </a:r>
                      <a:r>
                        <a:rPr lang="ko-KR" altLang="en-US" sz="1800" kern="1200" dirty="0">
                          <a:solidFill>
                            <a:schemeClr val="dk1"/>
                          </a:solidFill>
                          <a:effectLst/>
                          <a:latin typeface="+mn-lt"/>
                          <a:ea typeface="+mn-ea"/>
                          <a:cs typeface="+mn-cs"/>
                        </a:rPr>
                        <a:t>월 </a:t>
                      </a:r>
                      <a:r>
                        <a:rPr lang="en-US" altLang="ko-KR" sz="1800" kern="1200" dirty="0">
                          <a:solidFill>
                            <a:schemeClr val="dk1"/>
                          </a:solidFill>
                          <a:effectLst/>
                          <a:latin typeface="+mn-lt"/>
                          <a:ea typeface="+mn-ea"/>
                          <a:cs typeface="+mn-cs"/>
                        </a:rPr>
                        <a:t>26</a:t>
                      </a:r>
                      <a:r>
                        <a:rPr lang="ko-KR" altLang="en-US" sz="1800" kern="1200" dirty="0">
                          <a:solidFill>
                            <a:schemeClr val="dk1"/>
                          </a:solidFill>
                          <a:effectLst/>
                          <a:latin typeface="+mn-lt"/>
                          <a:ea typeface="+mn-ea"/>
                          <a:cs typeface="+mn-cs"/>
                        </a:rPr>
                        <a:t>일까지는 </a:t>
                      </a:r>
                      <a:r>
                        <a:rPr lang="ko-KR" altLang="ko-KR" sz="1800" kern="1200" dirty="0">
                          <a:solidFill>
                            <a:schemeClr val="dk1"/>
                          </a:solidFill>
                          <a:effectLst/>
                          <a:latin typeface="+mn-lt"/>
                          <a:ea typeface="+mn-ea"/>
                          <a:cs typeface="+mn-cs"/>
                        </a:rPr>
                        <a:t>과 </a:t>
                      </a:r>
                      <a:r>
                        <a:rPr lang="en-US" altLang="ko-KR" sz="1800" kern="1200" dirty="0">
                          <a:solidFill>
                            <a:schemeClr val="dk1"/>
                          </a:solidFill>
                          <a:effectLst/>
                          <a:latin typeface="+mn-lt"/>
                          <a:ea typeface="+mn-ea"/>
                          <a:cs typeface="+mn-cs"/>
                        </a:rPr>
                        <a:t>CPI(</a:t>
                      </a:r>
                      <a:r>
                        <a:rPr lang="ko-KR" altLang="ko-KR" sz="1800" kern="1200" dirty="0">
                          <a:solidFill>
                            <a:schemeClr val="dk1"/>
                          </a:solidFill>
                          <a:effectLst/>
                          <a:latin typeface="+mn-lt"/>
                          <a:ea typeface="+mn-ea"/>
                          <a:cs typeface="+mn-cs"/>
                        </a:rPr>
                        <a:t>소비지출율</a:t>
                      </a:r>
                      <a:r>
                        <a:rPr lang="en-US" altLang="ko-KR" sz="1800" kern="1200" dirty="0">
                          <a:solidFill>
                            <a:schemeClr val="dk1"/>
                          </a:solidFill>
                          <a:effectLst/>
                          <a:latin typeface="+mn-lt"/>
                          <a:ea typeface="+mn-ea"/>
                          <a:cs typeface="+mn-cs"/>
                        </a:rPr>
                        <a:t>)</a:t>
                      </a:r>
                      <a:r>
                        <a:rPr lang="ko-KR" altLang="en-US" sz="1800" kern="1200" dirty="0">
                          <a:solidFill>
                            <a:schemeClr val="dk1"/>
                          </a:solidFill>
                          <a:effectLst/>
                          <a:latin typeface="+mn-lt"/>
                          <a:ea typeface="+mn-ea"/>
                          <a:cs typeface="+mn-cs"/>
                        </a:rPr>
                        <a:t>과</a:t>
                      </a:r>
                      <a:r>
                        <a:rPr lang="en-US" altLang="ko-KR" sz="1800" kern="1200" dirty="0">
                          <a:solidFill>
                            <a:schemeClr val="dk1"/>
                          </a:solidFill>
                          <a:effectLst/>
                          <a:latin typeface="+mn-lt"/>
                          <a:ea typeface="+mn-ea"/>
                          <a:cs typeface="+mn-cs"/>
                        </a:rPr>
                        <a:t> unemployment(</a:t>
                      </a:r>
                      <a:r>
                        <a:rPr lang="ko-KR" altLang="ko-KR" sz="1800" kern="1200" dirty="0">
                          <a:solidFill>
                            <a:schemeClr val="dk1"/>
                          </a:solidFill>
                          <a:effectLst/>
                          <a:latin typeface="+mn-lt"/>
                          <a:ea typeface="+mn-ea"/>
                          <a:cs typeface="+mn-cs"/>
                        </a:rPr>
                        <a:t>실</a:t>
                      </a:r>
                      <a:r>
                        <a:rPr lang="ko-KR" altLang="en-US" sz="1800" kern="1200" dirty="0">
                          <a:solidFill>
                            <a:schemeClr val="dk1"/>
                          </a:solidFill>
                          <a:effectLst/>
                          <a:latin typeface="+mn-lt"/>
                          <a:ea typeface="+mn-ea"/>
                          <a:cs typeface="+mn-cs"/>
                        </a:rPr>
                        <a:t>업률</a:t>
                      </a:r>
                      <a:r>
                        <a:rPr lang="en-US" altLang="ko-KR" sz="1800" kern="1200" dirty="0">
                          <a:solidFill>
                            <a:schemeClr val="dk1"/>
                          </a:solidFill>
                          <a:effectLst/>
                          <a:latin typeface="+mn-lt"/>
                          <a:ea typeface="+mn-ea"/>
                          <a:cs typeface="+mn-cs"/>
                        </a:rPr>
                        <a:t>)</a:t>
                      </a:r>
                      <a:r>
                        <a:rPr lang="ko-KR" altLang="en-US" sz="1800" kern="1200" dirty="0">
                          <a:solidFill>
                            <a:schemeClr val="dk1"/>
                          </a:solidFill>
                          <a:effectLst/>
                          <a:latin typeface="+mn-lt"/>
                          <a:ea typeface="+mn-ea"/>
                          <a:cs typeface="+mn-cs"/>
                        </a:rPr>
                        <a:t>이 </a:t>
                      </a:r>
                      <a:r>
                        <a:rPr lang="en-US" altLang="ko-KR" sz="1800" kern="1200" dirty="0">
                          <a:solidFill>
                            <a:schemeClr val="dk1"/>
                          </a:solidFill>
                          <a:effectLst/>
                          <a:latin typeface="+mn-lt"/>
                          <a:ea typeface="+mn-ea"/>
                          <a:cs typeface="+mn-cs"/>
                        </a:rPr>
                        <a:t>NA</a:t>
                      </a:r>
                      <a:r>
                        <a:rPr lang="ko-KR" altLang="en-US" sz="1800" kern="1200" dirty="0">
                          <a:solidFill>
                            <a:schemeClr val="dk1"/>
                          </a:solidFill>
                          <a:effectLst/>
                          <a:latin typeface="+mn-lt"/>
                          <a:ea typeface="+mn-ea"/>
                          <a:cs typeface="+mn-cs"/>
                        </a:rPr>
                        <a:t>임</a:t>
                      </a:r>
                      <a:r>
                        <a:rPr lang="en-US" altLang="ko-KR" sz="1800" kern="1200" dirty="0">
                          <a:solidFill>
                            <a:schemeClr val="dk1"/>
                          </a:solidFill>
                          <a:effectLst/>
                          <a:latin typeface="+mn-lt"/>
                          <a:ea typeface="+mn-ea"/>
                          <a:cs typeface="+mn-cs"/>
                        </a:rPr>
                        <a:t>.</a:t>
                      </a:r>
                    </a:p>
                    <a:p>
                      <a:pPr marL="285750" indent="-285750" latinLnBrk="1">
                        <a:buFont typeface="Arial" panose="020B0604020202020204" pitchFamily="34" charset="0"/>
                        <a:buChar char="•"/>
                      </a:pPr>
                      <a:r>
                        <a:rPr lang="ko-KR" altLang="en-US" sz="1800" kern="1200" dirty="0">
                          <a:solidFill>
                            <a:schemeClr val="dk1"/>
                          </a:solidFill>
                          <a:effectLst/>
                          <a:latin typeface="+mn-lt"/>
                          <a:ea typeface="+mn-ea"/>
                          <a:cs typeface="+mn-cs"/>
                        </a:rPr>
                        <a:t>그 외에는 데이터의 </a:t>
                      </a:r>
                      <a:r>
                        <a:rPr lang="ko-KR" altLang="en-US" sz="1800" kern="1200" dirty="0" err="1">
                          <a:solidFill>
                            <a:schemeClr val="dk1"/>
                          </a:solidFill>
                          <a:effectLst/>
                          <a:latin typeface="+mn-lt"/>
                          <a:ea typeface="+mn-ea"/>
                          <a:cs typeface="+mn-cs"/>
                        </a:rPr>
                        <a:t>결측치가</a:t>
                      </a:r>
                      <a:r>
                        <a:rPr lang="ko-KR" altLang="en-US" sz="1800" kern="1200" dirty="0">
                          <a:solidFill>
                            <a:schemeClr val="dk1"/>
                          </a:solidFill>
                          <a:effectLst/>
                          <a:latin typeface="+mn-lt"/>
                          <a:ea typeface="+mn-ea"/>
                          <a:cs typeface="+mn-cs"/>
                        </a:rPr>
                        <a:t> 없음</a:t>
                      </a:r>
                      <a:r>
                        <a:rPr lang="en-US" altLang="ko-KR" sz="1800" kern="1200" dirty="0">
                          <a:solidFill>
                            <a:schemeClr val="dk1"/>
                          </a:solidFill>
                          <a:effectLst/>
                          <a:latin typeface="+mn-lt"/>
                          <a:ea typeface="+mn-ea"/>
                          <a:cs typeface="+mn-cs"/>
                        </a:rPr>
                        <a:t>.</a:t>
                      </a:r>
                    </a:p>
                    <a:p>
                      <a:pPr marL="285750" indent="-285750" latinLnBrk="1">
                        <a:buFont typeface="Arial" panose="020B0604020202020204" pitchFamily="34" charset="0"/>
                        <a:buChar char="•"/>
                      </a:pPr>
                      <a:r>
                        <a:rPr lang="ko-KR" altLang="en-US" sz="1800" kern="1200" dirty="0">
                          <a:solidFill>
                            <a:schemeClr val="dk1"/>
                          </a:solidFill>
                          <a:effectLst/>
                          <a:latin typeface="+mn-lt"/>
                          <a:ea typeface="+mn-ea"/>
                          <a:cs typeface="+mn-cs"/>
                        </a:rPr>
                        <a:t>그 이유로는 아마 데이터 수집 기간의 마지막인 </a:t>
                      </a:r>
                      <a:r>
                        <a:rPr lang="en-US" altLang="ko-KR" sz="1800" kern="1200" dirty="0">
                          <a:solidFill>
                            <a:schemeClr val="dk1"/>
                          </a:solidFill>
                          <a:effectLst/>
                          <a:latin typeface="+mn-lt"/>
                          <a:ea typeface="+mn-ea"/>
                          <a:cs typeface="+mn-cs"/>
                        </a:rPr>
                        <a:t>2013</a:t>
                      </a:r>
                      <a:r>
                        <a:rPr lang="ko-KR" altLang="en-US" sz="1800" kern="1200" dirty="0">
                          <a:solidFill>
                            <a:schemeClr val="dk1"/>
                          </a:solidFill>
                          <a:effectLst/>
                          <a:latin typeface="+mn-lt"/>
                          <a:ea typeface="+mn-ea"/>
                          <a:cs typeface="+mn-cs"/>
                        </a:rPr>
                        <a:t>년 </a:t>
                      </a:r>
                      <a:r>
                        <a:rPr lang="en-US" altLang="ko-KR" sz="1800" kern="1200" dirty="0">
                          <a:solidFill>
                            <a:schemeClr val="dk1"/>
                          </a:solidFill>
                          <a:effectLst/>
                          <a:latin typeface="+mn-lt"/>
                          <a:ea typeface="+mn-ea"/>
                          <a:cs typeface="+mn-cs"/>
                        </a:rPr>
                        <a:t>7</a:t>
                      </a:r>
                      <a:r>
                        <a:rPr lang="ko-KR" altLang="en-US" sz="1800" kern="1200" dirty="0">
                          <a:solidFill>
                            <a:schemeClr val="dk1"/>
                          </a:solidFill>
                          <a:effectLst/>
                          <a:latin typeface="+mn-lt"/>
                          <a:ea typeface="+mn-ea"/>
                          <a:cs typeface="+mn-cs"/>
                        </a:rPr>
                        <a:t>월에는 </a:t>
                      </a:r>
                      <a:r>
                        <a:rPr lang="en-US" altLang="ko-KR" sz="1800" kern="1200" dirty="0">
                          <a:solidFill>
                            <a:schemeClr val="dk1"/>
                          </a:solidFill>
                          <a:effectLst/>
                          <a:latin typeface="+mn-lt"/>
                          <a:ea typeface="+mn-ea"/>
                          <a:cs typeface="+mn-cs"/>
                        </a:rPr>
                        <a:t>2013</a:t>
                      </a:r>
                      <a:r>
                        <a:rPr lang="ko-KR" altLang="en-US" sz="1800" kern="1200" dirty="0">
                          <a:solidFill>
                            <a:schemeClr val="dk1"/>
                          </a:solidFill>
                          <a:effectLst/>
                          <a:latin typeface="+mn-lt"/>
                          <a:ea typeface="+mn-ea"/>
                          <a:cs typeface="+mn-cs"/>
                        </a:rPr>
                        <a:t>년 </a:t>
                      </a:r>
                      <a:r>
                        <a:rPr lang="en-US" altLang="ko-KR" sz="1800" kern="1200" dirty="0">
                          <a:solidFill>
                            <a:schemeClr val="dk1"/>
                          </a:solidFill>
                          <a:effectLst/>
                          <a:latin typeface="+mn-lt"/>
                          <a:ea typeface="+mn-ea"/>
                          <a:cs typeface="+mn-cs"/>
                        </a:rPr>
                        <a:t>5</a:t>
                      </a:r>
                      <a:r>
                        <a:rPr lang="ko-KR" altLang="en-US" sz="1800" kern="1200" dirty="0">
                          <a:solidFill>
                            <a:schemeClr val="dk1"/>
                          </a:solidFill>
                          <a:effectLst/>
                          <a:latin typeface="+mn-lt"/>
                          <a:ea typeface="+mn-ea"/>
                          <a:cs typeface="+mn-cs"/>
                        </a:rPr>
                        <a:t>월부터의 </a:t>
                      </a:r>
                      <a:r>
                        <a:rPr lang="en-US" altLang="ko-KR" sz="1800" kern="1200" dirty="0">
                          <a:solidFill>
                            <a:schemeClr val="dk1"/>
                          </a:solidFill>
                          <a:effectLst/>
                          <a:latin typeface="+mn-lt"/>
                          <a:ea typeface="+mn-ea"/>
                          <a:cs typeface="+mn-cs"/>
                        </a:rPr>
                        <a:t>CPI(</a:t>
                      </a:r>
                      <a:r>
                        <a:rPr lang="ko-KR" altLang="en-US" sz="1800" kern="1200" dirty="0">
                          <a:solidFill>
                            <a:schemeClr val="dk1"/>
                          </a:solidFill>
                          <a:effectLst/>
                          <a:latin typeface="+mn-lt"/>
                          <a:ea typeface="+mn-ea"/>
                          <a:cs typeface="+mn-cs"/>
                        </a:rPr>
                        <a:t>소비지출율</a:t>
                      </a:r>
                      <a:r>
                        <a:rPr lang="en-US" altLang="ko-KR" sz="1800" kern="1200" dirty="0">
                          <a:solidFill>
                            <a:schemeClr val="dk1"/>
                          </a:solidFill>
                          <a:effectLst/>
                          <a:latin typeface="+mn-lt"/>
                          <a:ea typeface="+mn-ea"/>
                          <a:cs typeface="+mn-cs"/>
                        </a:rPr>
                        <a:t>)</a:t>
                      </a:r>
                      <a:r>
                        <a:rPr lang="ko-KR" altLang="en-US" sz="1800" kern="1200" dirty="0">
                          <a:solidFill>
                            <a:schemeClr val="dk1"/>
                          </a:solidFill>
                          <a:effectLst/>
                          <a:latin typeface="+mn-lt"/>
                          <a:ea typeface="+mn-ea"/>
                          <a:cs typeface="+mn-cs"/>
                        </a:rPr>
                        <a:t>과 </a:t>
                      </a:r>
                      <a:r>
                        <a:rPr lang="en-US" altLang="ko-KR" sz="1800" kern="1200" dirty="0">
                          <a:solidFill>
                            <a:schemeClr val="dk1"/>
                          </a:solidFill>
                          <a:effectLst/>
                          <a:latin typeface="+mn-lt"/>
                          <a:ea typeface="+mn-ea"/>
                          <a:cs typeface="+mn-cs"/>
                        </a:rPr>
                        <a:t>unemployment(</a:t>
                      </a:r>
                      <a:r>
                        <a:rPr lang="ko-KR" altLang="en-US" sz="1800" kern="1200" dirty="0">
                          <a:solidFill>
                            <a:schemeClr val="dk1"/>
                          </a:solidFill>
                          <a:effectLst/>
                          <a:latin typeface="+mn-lt"/>
                          <a:ea typeface="+mn-ea"/>
                          <a:cs typeface="+mn-cs"/>
                        </a:rPr>
                        <a:t>실업률</a:t>
                      </a:r>
                      <a:r>
                        <a:rPr lang="en-US" altLang="ko-KR" sz="1800" kern="1200" dirty="0">
                          <a:solidFill>
                            <a:schemeClr val="dk1"/>
                          </a:solidFill>
                          <a:effectLst/>
                          <a:latin typeface="+mn-lt"/>
                          <a:ea typeface="+mn-ea"/>
                          <a:cs typeface="+mn-cs"/>
                        </a:rPr>
                        <a:t>)</a:t>
                      </a:r>
                      <a:r>
                        <a:rPr lang="ko-KR" altLang="en-US" sz="1800" kern="1200" dirty="0">
                          <a:solidFill>
                            <a:schemeClr val="dk1"/>
                          </a:solidFill>
                          <a:effectLst/>
                          <a:latin typeface="+mn-lt"/>
                          <a:ea typeface="+mn-ea"/>
                          <a:cs typeface="+mn-cs"/>
                        </a:rPr>
                        <a:t>이 아직 통계가 되지 않았을 것입니다</a:t>
                      </a:r>
                      <a:r>
                        <a:rPr lang="en-US" altLang="ko-KR" sz="1800" kern="1200" dirty="0">
                          <a:solidFill>
                            <a:schemeClr val="dk1"/>
                          </a:solidFill>
                          <a:effectLst/>
                          <a:latin typeface="+mn-lt"/>
                          <a:ea typeface="+mn-ea"/>
                          <a:cs typeface="+mn-cs"/>
                        </a:rPr>
                        <a:t>.</a:t>
                      </a:r>
                    </a:p>
                  </a:txBody>
                  <a:tcPr/>
                </a:tc>
                <a:extLst>
                  <a:ext uri="{0D108BD9-81ED-4DB2-BD59-A6C34878D82A}">
                    <a16:rowId xmlns:a16="http://schemas.microsoft.com/office/drawing/2014/main" val="398258525"/>
                  </a:ext>
                </a:extLst>
              </a:tr>
            </a:tbl>
          </a:graphicData>
        </a:graphic>
      </p:graphicFrame>
    </p:spTree>
    <p:extLst>
      <p:ext uri="{BB962C8B-B14F-4D97-AF65-F5344CB8AC3E}">
        <p14:creationId xmlns:p14="http://schemas.microsoft.com/office/powerpoint/2010/main" val="18154422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354BA1"/>
        </a:solidFill>
        <a:effectLst/>
      </p:bgPr>
    </p:bg>
    <p:spTree>
      <p:nvGrpSpPr>
        <p:cNvPr id="1" name=""/>
        <p:cNvGrpSpPr/>
        <p:nvPr/>
      </p:nvGrpSpPr>
      <p:grpSpPr>
        <a:xfrm>
          <a:off x="0" y="0"/>
          <a:ext cx="0" cy="0"/>
          <a:chOff x="0" y="0"/>
          <a:chExt cx="0" cy="0"/>
        </a:xfrm>
      </p:grpSpPr>
      <p:sp>
        <p:nvSpPr>
          <p:cNvPr id="8" name="직사각형 7"/>
          <p:cNvSpPr/>
          <p:nvPr/>
        </p:nvSpPr>
        <p:spPr>
          <a:xfrm>
            <a:off x="378372" y="415772"/>
            <a:ext cx="1702676" cy="720000"/>
          </a:xfrm>
          <a:prstGeom prst="rect">
            <a:avLst/>
          </a:prstGeom>
          <a:noFill/>
          <a:ln w="19050">
            <a:solidFill>
              <a:srgbClr val="FFC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rPr>
              <a:t>3</a:t>
            </a:r>
            <a:endParaRPr kumimoji="0" lang="ko-KR" altLang="en-US"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endParaRPr>
          </a:p>
        </p:txBody>
      </p:sp>
      <p:sp>
        <p:nvSpPr>
          <p:cNvPr id="11" name="직사각형 10">
            <a:extLst>
              <a:ext uri="{FF2B5EF4-FFF2-40B4-BE49-F238E27FC236}">
                <a16:creationId xmlns:a16="http://schemas.microsoft.com/office/drawing/2014/main" id="{7EA33CA5-8767-498A-975A-2C525DDEAD17}"/>
              </a:ext>
            </a:extLst>
          </p:cNvPr>
          <p:cNvSpPr/>
          <p:nvPr/>
        </p:nvSpPr>
        <p:spPr>
          <a:xfrm>
            <a:off x="2251559" y="284579"/>
            <a:ext cx="9768806" cy="83099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32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Walmart Sales data – </a:t>
            </a:r>
            <a:r>
              <a:rPr kumimoji="0" lang="ko-KR" altLang="en-US" sz="32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외부 변수 관련</a:t>
            </a:r>
            <a:endParaRPr kumimoji="0" lang="en-US" altLang="ko-KR" sz="32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6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(d) How  is  it  possible  that  we  have  Temperature  for  the  pre- diction  period?</a:t>
            </a:r>
          </a:p>
        </p:txBody>
      </p:sp>
      <p:graphicFrame>
        <p:nvGraphicFramePr>
          <p:cNvPr id="6" name="표 5">
            <a:extLst>
              <a:ext uri="{FF2B5EF4-FFF2-40B4-BE49-F238E27FC236}">
                <a16:creationId xmlns:a16="http://schemas.microsoft.com/office/drawing/2014/main" id="{3FB744B3-9E61-43FF-92DE-7BD20AE6D307}"/>
              </a:ext>
            </a:extLst>
          </p:cNvPr>
          <p:cNvGraphicFramePr>
            <a:graphicFrameLocks noGrp="1"/>
          </p:cNvGraphicFramePr>
          <p:nvPr>
            <p:extLst>
              <p:ext uri="{D42A27DB-BD31-4B8C-83A1-F6EECF244321}">
                <p14:modId xmlns:p14="http://schemas.microsoft.com/office/powerpoint/2010/main" val="1108219384"/>
              </p:ext>
            </p:extLst>
          </p:nvPr>
        </p:nvGraphicFramePr>
        <p:xfrm>
          <a:off x="1229710" y="2176188"/>
          <a:ext cx="9392575" cy="1010920"/>
        </p:xfrm>
        <a:graphic>
          <a:graphicData uri="http://schemas.openxmlformats.org/drawingml/2006/table">
            <a:tbl>
              <a:tblPr firstRow="1" bandRow="1">
                <a:tableStyleId>{5C22544A-7EE6-4342-B048-85BDC9FD1C3A}</a:tableStyleId>
              </a:tblPr>
              <a:tblGrid>
                <a:gridCol w="9392575">
                  <a:extLst>
                    <a:ext uri="{9D8B030D-6E8A-4147-A177-3AD203B41FA5}">
                      <a16:colId xmlns:a16="http://schemas.microsoft.com/office/drawing/2014/main" val="4093639860"/>
                    </a:ext>
                  </a:extLst>
                </a:gridCol>
              </a:tblGrid>
              <a:tr h="370840">
                <a:tc>
                  <a:txBody>
                    <a:bodyPr/>
                    <a:lstStyle/>
                    <a:p>
                      <a:pPr marL="285750" indent="-285750" latinLnBrk="1">
                        <a:buFont typeface="Arial" panose="020B0604020202020204" pitchFamily="34" charset="0"/>
                        <a:buChar char="•"/>
                      </a:pPr>
                      <a:endParaRPr lang="ko-KR" altLang="en-US" dirty="0"/>
                    </a:p>
                  </a:txBody>
                  <a:tcPr/>
                </a:tc>
                <a:extLst>
                  <a:ext uri="{0D108BD9-81ED-4DB2-BD59-A6C34878D82A}">
                    <a16:rowId xmlns:a16="http://schemas.microsoft.com/office/drawing/2014/main" val="3200778601"/>
                  </a:ext>
                </a:extLst>
              </a:tr>
              <a:tr h="0">
                <a:tc>
                  <a:txBody>
                    <a:bodyPr/>
                    <a:lstStyle/>
                    <a:p>
                      <a:pPr marL="285750" indent="-285750" latinLnBrk="1">
                        <a:buFont typeface="Arial" panose="020B0604020202020204" pitchFamily="34" charset="0"/>
                        <a:buChar char="•"/>
                      </a:pPr>
                      <a:r>
                        <a:rPr lang="ko-KR" altLang="ko-KR" sz="1800" kern="1200" dirty="0">
                          <a:solidFill>
                            <a:schemeClr val="dk1"/>
                          </a:solidFill>
                          <a:effectLst/>
                          <a:latin typeface="+mn-lt"/>
                          <a:ea typeface="+mn-ea"/>
                          <a:cs typeface="+mn-cs"/>
                        </a:rPr>
                        <a:t>온도라는 것은 상식적으로 계절에 따라서 일정</a:t>
                      </a:r>
                      <a:r>
                        <a:rPr lang="ko-KR" altLang="en-US" sz="1800" kern="1200" dirty="0">
                          <a:solidFill>
                            <a:schemeClr val="dk1"/>
                          </a:solidFill>
                          <a:effectLst/>
                          <a:latin typeface="+mn-lt"/>
                          <a:ea typeface="+mn-ea"/>
                          <a:cs typeface="+mn-cs"/>
                        </a:rPr>
                        <a:t>하기에</a:t>
                      </a:r>
                      <a:endParaRPr lang="en-US" altLang="ko-KR" sz="1800" kern="1200" dirty="0">
                        <a:solidFill>
                          <a:schemeClr val="dk1"/>
                        </a:solidFill>
                        <a:effectLst/>
                        <a:latin typeface="+mn-lt"/>
                        <a:ea typeface="+mn-ea"/>
                        <a:cs typeface="+mn-cs"/>
                      </a:endParaRPr>
                    </a:p>
                    <a:p>
                      <a:pPr marL="285750" indent="-285750" latinLnBrk="1">
                        <a:buFont typeface="Arial" panose="020B0604020202020204" pitchFamily="34" charset="0"/>
                        <a:buChar char="•"/>
                      </a:pPr>
                      <a:r>
                        <a:rPr lang="ko-KR" altLang="ko-KR" sz="1800" kern="1200" dirty="0">
                          <a:solidFill>
                            <a:schemeClr val="dk1"/>
                          </a:solidFill>
                          <a:effectLst/>
                          <a:latin typeface="+mn-lt"/>
                          <a:ea typeface="+mn-ea"/>
                          <a:cs typeface="+mn-cs"/>
                        </a:rPr>
                        <a:t>오늘의 기온은 작년 오늘의 기온과 같다고 생각할</a:t>
                      </a:r>
                      <a:r>
                        <a:rPr lang="en-US" altLang="ko-KR" sz="1800" kern="1200" dirty="0">
                          <a:solidFill>
                            <a:schemeClr val="dk1"/>
                          </a:solidFill>
                          <a:effectLst/>
                          <a:latin typeface="+mn-lt"/>
                          <a:ea typeface="+mn-ea"/>
                          <a:cs typeface="+mn-cs"/>
                        </a:rPr>
                        <a:t> </a:t>
                      </a:r>
                      <a:r>
                        <a:rPr lang="ko-KR" altLang="ko-KR" sz="1800" kern="1200" dirty="0">
                          <a:solidFill>
                            <a:schemeClr val="dk1"/>
                          </a:solidFill>
                          <a:effectLst/>
                          <a:latin typeface="+mn-lt"/>
                          <a:ea typeface="+mn-ea"/>
                          <a:cs typeface="+mn-cs"/>
                        </a:rPr>
                        <a:t>수</a:t>
                      </a:r>
                      <a:r>
                        <a:rPr lang="ko-KR" altLang="en-US" sz="1800" kern="1200" dirty="0">
                          <a:solidFill>
                            <a:schemeClr val="dk1"/>
                          </a:solidFill>
                          <a:effectLst/>
                          <a:latin typeface="+mn-lt"/>
                          <a:ea typeface="+mn-ea"/>
                          <a:cs typeface="+mn-cs"/>
                        </a:rPr>
                        <a:t> 있음</a:t>
                      </a:r>
                      <a:r>
                        <a:rPr lang="en-US" altLang="ko-KR" sz="1800" kern="1200" dirty="0">
                          <a:solidFill>
                            <a:schemeClr val="dk1"/>
                          </a:solidFill>
                          <a:effectLst/>
                          <a:latin typeface="+mn-lt"/>
                          <a:ea typeface="+mn-ea"/>
                          <a:cs typeface="+mn-cs"/>
                        </a:rPr>
                        <a:t>.</a:t>
                      </a:r>
                    </a:p>
                  </a:txBody>
                  <a:tcPr/>
                </a:tc>
                <a:extLst>
                  <a:ext uri="{0D108BD9-81ED-4DB2-BD59-A6C34878D82A}">
                    <a16:rowId xmlns:a16="http://schemas.microsoft.com/office/drawing/2014/main" val="398258525"/>
                  </a:ext>
                </a:extLst>
              </a:tr>
            </a:tbl>
          </a:graphicData>
        </a:graphic>
      </p:graphicFrame>
    </p:spTree>
    <p:extLst>
      <p:ext uri="{BB962C8B-B14F-4D97-AF65-F5344CB8AC3E}">
        <p14:creationId xmlns:p14="http://schemas.microsoft.com/office/powerpoint/2010/main" val="33192008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354BA1"/>
        </a:solidFill>
        <a:effectLst/>
      </p:bgPr>
    </p:bg>
    <p:spTree>
      <p:nvGrpSpPr>
        <p:cNvPr id="1" name=""/>
        <p:cNvGrpSpPr/>
        <p:nvPr/>
      </p:nvGrpSpPr>
      <p:grpSpPr>
        <a:xfrm>
          <a:off x="0" y="0"/>
          <a:ext cx="0" cy="0"/>
          <a:chOff x="0" y="0"/>
          <a:chExt cx="0" cy="0"/>
        </a:xfrm>
      </p:grpSpPr>
      <p:sp>
        <p:nvSpPr>
          <p:cNvPr id="8" name="직사각형 7"/>
          <p:cNvSpPr/>
          <p:nvPr/>
        </p:nvSpPr>
        <p:spPr>
          <a:xfrm>
            <a:off x="378372" y="415772"/>
            <a:ext cx="1702676" cy="720000"/>
          </a:xfrm>
          <a:prstGeom prst="rect">
            <a:avLst/>
          </a:prstGeom>
          <a:noFill/>
          <a:ln w="19050">
            <a:solidFill>
              <a:srgbClr val="FFC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rPr>
              <a:t>3</a:t>
            </a:r>
            <a:endParaRPr kumimoji="0" lang="ko-KR" altLang="en-US"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endParaRPr>
          </a:p>
        </p:txBody>
      </p:sp>
      <p:sp>
        <p:nvSpPr>
          <p:cNvPr id="11" name="직사각형 10">
            <a:extLst>
              <a:ext uri="{FF2B5EF4-FFF2-40B4-BE49-F238E27FC236}">
                <a16:creationId xmlns:a16="http://schemas.microsoft.com/office/drawing/2014/main" id="{7EA33CA5-8767-498A-975A-2C525DDEAD17}"/>
              </a:ext>
            </a:extLst>
          </p:cNvPr>
          <p:cNvSpPr/>
          <p:nvPr/>
        </p:nvSpPr>
        <p:spPr>
          <a:xfrm>
            <a:off x="2251559" y="284579"/>
            <a:ext cx="9768806" cy="123110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32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Walmart Sales data – </a:t>
            </a:r>
            <a:r>
              <a:rPr kumimoji="0" lang="ko-KR" altLang="en-US" sz="32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외부 변수 관련</a:t>
            </a:r>
            <a:endParaRPr kumimoji="0" lang="en-US" altLang="ko-KR" sz="32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4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(e) Treat  the  ﬁrst  91  weeks  (until  Oct  28,  2011)  as  the  training period,  and  the  next  52  weeks  as  the  validation  </a:t>
            </a:r>
            <a:r>
              <a:rPr kumimoji="0" lang="en-US" altLang="ko-KR" sz="1400" b="1" i="0" u="none" strike="noStrike" kern="0" cap="none" spc="0" normalizeH="0" baseline="0" noProof="0" dirty="0" err="1">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period.Create</a:t>
            </a:r>
            <a:r>
              <a:rPr kumimoji="0" lang="en-US" altLang="ko-KR" sz="14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  naive  forecasts  for  the  validation  period.  Create  a time  plot  of  these  forecasts  and  a  plot  of  the  forecast  errors series.  Compute  the  average  error  and  RMSE.</a:t>
            </a:r>
          </a:p>
        </p:txBody>
      </p:sp>
      <p:pic>
        <p:nvPicPr>
          <p:cNvPr id="3" name="그림 2">
            <a:extLst>
              <a:ext uri="{FF2B5EF4-FFF2-40B4-BE49-F238E27FC236}">
                <a16:creationId xmlns:a16="http://schemas.microsoft.com/office/drawing/2014/main" id="{7B5681F4-C06C-4810-A1B8-6EFC136848D8}"/>
              </a:ext>
            </a:extLst>
          </p:cNvPr>
          <p:cNvPicPr>
            <a:picLocks noChangeAspect="1"/>
          </p:cNvPicPr>
          <p:nvPr/>
        </p:nvPicPr>
        <p:blipFill>
          <a:blip r:embed="rId2"/>
          <a:stretch>
            <a:fillRect/>
          </a:stretch>
        </p:blipFill>
        <p:spPr>
          <a:xfrm>
            <a:off x="378372" y="1837869"/>
            <a:ext cx="7194280" cy="601312"/>
          </a:xfrm>
          <a:prstGeom prst="rect">
            <a:avLst/>
          </a:prstGeom>
        </p:spPr>
      </p:pic>
      <p:pic>
        <p:nvPicPr>
          <p:cNvPr id="5" name="그림 4">
            <a:extLst>
              <a:ext uri="{FF2B5EF4-FFF2-40B4-BE49-F238E27FC236}">
                <a16:creationId xmlns:a16="http://schemas.microsoft.com/office/drawing/2014/main" id="{48C2F624-C7D0-4ADE-8290-AE695B7442C6}"/>
              </a:ext>
            </a:extLst>
          </p:cNvPr>
          <p:cNvPicPr>
            <a:picLocks noChangeAspect="1"/>
          </p:cNvPicPr>
          <p:nvPr/>
        </p:nvPicPr>
        <p:blipFill>
          <a:blip r:embed="rId3"/>
          <a:stretch>
            <a:fillRect/>
          </a:stretch>
        </p:blipFill>
        <p:spPr>
          <a:xfrm>
            <a:off x="378372" y="2694807"/>
            <a:ext cx="5438346" cy="3623134"/>
          </a:xfrm>
          <a:prstGeom prst="rect">
            <a:avLst/>
          </a:prstGeom>
        </p:spPr>
      </p:pic>
      <p:graphicFrame>
        <p:nvGraphicFramePr>
          <p:cNvPr id="9" name="표 8">
            <a:extLst>
              <a:ext uri="{FF2B5EF4-FFF2-40B4-BE49-F238E27FC236}">
                <a16:creationId xmlns:a16="http://schemas.microsoft.com/office/drawing/2014/main" id="{EE4373C9-7887-4883-9069-075472D7D4E1}"/>
              </a:ext>
            </a:extLst>
          </p:cNvPr>
          <p:cNvGraphicFramePr>
            <a:graphicFrameLocks noGrp="1"/>
          </p:cNvGraphicFramePr>
          <p:nvPr>
            <p:extLst>
              <p:ext uri="{D42A27DB-BD31-4B8C-83A1-F6EECF244321}">
                <p14:modId xmlns:p14="http://schemas.microsoft.com/office/powerpoint/2010/main" val="1259326195"/>
              </p:ext>
            </p:extLst>
          </p:nvPr>
        </p:nvGraphicFramePr>
        <p:xfrm>
          <a:off x="6582020" y="2694807"/>
          <a:ext cx="5438345" cy="2108200"/>
        </p:xfrm>
        <a:graphic>
          <a:graphicData uri="http://schemas.openxmlformats.org/drawingml/2006/table">
            <a:tbl>
              <a:tblPr firstRow="1" bandRow="1">
                <a:tableStyleId>{5C22544A-7EE6-4342-B048-85BDC9FD1C3A}</a:tableStyleId>
              </a:tblPr>
              <a:tblGrid>
                <a:gridCol w="5438345">
                  <a:extLst>
                    <a:ext uri="{9D8B030D-6E8A-4147-A177-3AD203B41FA5}">
                      <a16:colId xmlns:a16="http://schemas.microsoft.com/office/drawing/2014/main" val="4093639860"/>
                    </a:ext>
                  </a:extLst>
                </a:gridCol>
              </a:tblGrid>
              <a:tr h="370840">
                <a:tc>
                  <a:txBody>
                    <a:bodyPr/>
                    <a:lstStyle/>
                    <a:p>
                      <a:pPr marL="285750" indent="-285750" latinLnBrk="1">
                        <a:buFont typeface="Arial" panose="020B0604020202020204" pitchFamily="34" charset="0"/>
                        <a:buChar char="•"/>
                      </a:pPr>
                      <a:endParaRPr lang="ko-KR" altLang="en-US" dirty="0"/>
                    </a:p>
                  </a:txBody>
                  <a:tcPr/>
                </a:tc>
                <a:extLst>
                  <a:ext uri="{0D108BD9-81ED-4DB2-BD59-A6C34878D82A}">
                    <a16:rowId xmlns:a16="http://schemas.microsoft.com/office/drawing/2014/main" val="3200778601"/>
                  </a:ext>
                </a:extLst>
              </a:tr>
              <a:tr h="392714">
                <a:tc>
                  <a:txBody>
                    <a:bodyPr/>
                    <a:lstStyle/>
                    <a:p>
                      <a:pPr marL="285750" indent="-285750" latinLnBrk="1">
                        <a:buFont typeface="Arial" panose="020B0604020202020204" pitchFamily="34" charset="0"/>
                        <a:buChar char="•"/>
                      </a:pPr>
                      <a:r>
                        <a:rPr lang="ko-KR" altLang="ko-KR" dirty="0"/>
                        <a:t>처음 91주(2011년 10월 28일까지)</a:t>
                      </a:r>
                      <a:r>
                        <a:rPr lang="ko-KR" altLang="ko-KR" dirty="0" err="1"/>
                        <a:t>를</a:t>
                      </a:r>
                      <a:r>
                        <a:rPr lang="en-US" altLang="ko-KR" dirty="0"/>
                        <a:t> train</a:t>
                      </a:r>
                      <a:r>
                        <a:rPr lang="ko-KR" altLang="ko-KR" dirty="0"/>
                        <a:t> 기간으로 처리하고 다음 52주를 </a:t>
                      </a:r>
                      <a:r>
                        <a:rPr lang="en-US" altLang="ko-KR" dirty="0"/>
                        <a:t>valid  </a:t>
                      </a:r>
                      <a:r>
                        <a:rPr lang="ko-KR" altLang="en-US" dirty="0"/>
                        <a:t>기간으로 잡음</a:t>
                      </a:r>
                      <a:endParaRPr lang="en-US" altLang="ko-KR" sz="1800" kern="1200" dirty="0">
                        <a:solidFill>
                          <a:schemeClr val="dk1"/>
                        </a:solidFill>
                        <a:effectLst/>
                        <a:latin typeface="+mn-lt"/>
                        <a:ea typeface="+mn-ea"/>
                        <a:cs typeface="+mn-cs"/>
                      </a:endParaRPr>
                    </a:p>
                    <a:p>
                      <a:pPr marL="285750" indent="-285750" latinLnBrk="1">
                        <a:buFont typeface="Arial" panose="020B0604020202020204" pitchFamily="34" charset="0"/>
                        <a:buChar char="•"/>
                      </a:pPr>
                      <a:endParaRPr lang="en-US" altLang="ko-KR" sz="1800" kern="1200" dirty="0">
                        <a:solidFill>
                          <a:schemeClr val="dk1"/>
                        </a:solidFill>
                        <a:effectLst/>
                        <a:latin typeface="+mn-lt"/>
                        <a:ea typeface="+mn-ea"/>
                        <a:cs typeface="+mn-cs"/>
                      </a:endParaRPr>
                    </a:p>
                    <a:p>
                      <a:pPr marL="285750" indent="-285750" latinLnBrk="1">
                        <a:buFont typeface="Arial" panose="020B0604020202020204" pitchFamily="34" charset="0"/>
                        <a:buChar char="•"/>
                      </a:pPr>
                      <a:r>
                        <a:rPr lang="en-US" altLang="ko-KR" sz="1800" kern="1200" dirty="0">
                          <a:solidFill>
                            <a:schemeClr val="dk1"/>
                          </a:solidFill>
                          <a:effectLst/>
                          <a:latin typeface="+mn-lt"/>
                          <a:ea typeface="+mn-ea"/>
                          <a:cs typeface="+mn-cs"/>
                        </a:rPr>
                        <a:t>Forecast</a:t>
                      </a:r>
                      <a:r>
                        <a:rPr lang="ko-KR" altLang="en-US" sz="1800" kern="1200" dirty="0">
                          <a:solidFill>
                            <a:schemeClr val="dk1"/>
                          </a:solidFill>
                          <a:effectLst/>
                          <a:latin typeface="+mn-lt"/>
                          <a:ea typeface="+mn-ea"/>
                          <a:cs typeface="+mn-cs"/>
                        </a:rPr>
                        <a:t>의 </a:t>
                      </a:r>
                      <a:r>
                        <a:rPr lang="en-US" altLang="ko-KR" sz="1800" kern="1200" dirty="0">
                          <a:solidFill>
                            <a:schemeClr val="dk1"/>
                          </a:solidFill>
                          <a:effectLst/>
                          <a:latin typeface="+mn-lt"/>
                          <a:ea typeface="+mn-ea"/>
                          <a:cs typeface="+mn-cs"/>
                        </a:rPr>
                        <a:t>accuracy</a:t>
                      </a:r>
                      <a:r>
                        <a:rPr lang="ko-KR" altLang="en-US" sz="1800" kern="1200" dirty="0">
                          <a:solidFill>
                            <a:schemeClr val="dk1"/>
                          </a:solidFill>
                          <a:effectLst/>
                          <a:latin typeface="+mn-lt"/>
                          <a:ea typeface="+mn-ea"/>
                          <a:cs typeface="+mn-cs"/>
                        </a:rPr>
                        <a:t>함수를 이용한 결과 </a:t>
                      </a:r>
                      <a:r>
                        <a:rPr lang="en-US" altLang="ko-KR" sz="1800" kern="1200" dirty="0">
                          <a:solidFill>
                            <a:schemeClr val="dk1"/>
                          </a:solidFill>
                          <a:effectLst/>
                          <a:latin typeface="+mn-lt"/>
                          <a:ea typeface="+mn-ea"/>
                          <a:cs typeface="+mn-cs"/>
                        </a:rPr>
                        <a:t>RMSE</a:t>
                      </a:r>
                      <a:r>
                        <a:rPr lang="ko-KR" altLang="en-US" sz="1800" kern="1200" dirty="0">
                          <a:solidFill>
                            <a:schemeClr val="dk1"/>
                          </a:solidFill>
                          <a:effectLst/>
                          <a:latin typeface="+mn-lt"/>
                          <a:ea typeface="+mn-ea"/>
                          <a:cs typeface="+mn-cs"/>
                        </a:rPr>
                        <a:t>는 </a:t>
                      </a:r>
                      <a:r>
                        <a:rPr lang="en-US" altLang="ko-KR" sz="1800" kern="1200" dirty="0">
                          <a:solidFill>
                            <a:schemeClr val="dk1"/>
                          </a:solidFill>
                          <a:effectLst/>
                          <a:latin typeface="+mn-lt"/>
                          <a:ea typeface="+mn-ea"/>
                          <a:cs typeface="+mn-cs"/>
                        </a:rPr>
                        <a:t>21020.93</a:t>
                      </a:r>
                      <a:r>
                        <a:rPr lang="ko-KR" altLang="en-US" sz="1800" kern="1200" dirty="0">
                          <a:solidFill>
                            <a:schemeClr val="dk1"/>
                          </a:solidFill>
                          <a:effectLst/>
                          <a:latin typeface="+mn-lt"/>
                          <a:ea typeface="+mn-ea"/>
                          <a:cs typeface="+mn-cs"/>
                        </a:rPr>
                        <a:t>이 나왔습니다</a:t>
                      </a:r>
                      <a:r>
                        <a:rPr lang="en-US" altLang="ko-KR" sz="1800" kern="1200" dirty="0">
                          <a:solidFill>
                            <a:schemeClr val="dk1"/>
                          </a:solidFill>
                          <a:effectLst/>
                          <a:latin typeface="+mn-lt"/>
                          <a:ea typeface="+mn-ea"/>
                          <a:cs typeface="+mn-cs"/>
                        </a:rPr>
                        <a:t>.</a:t>
                      </a:r>
                    </a:p>
                    <a:p>
                      <a:pPr marL="285750" indent="-285750" latinLnBrk="1">
                        <a:buFont typeface="Arial" panose="020B0604020202020204" pitchFamily="34" charset="0"/>
                        <a:buChar char="•"/>
                      </a:pPr>
                      <a:r>
                        <a:rPr lang="ko-KR" altLang="en-US" sz="1800" kern="1200" dirty="0">
                          <a:solidFill>
                            <a:schemeClr val="dk1"/>
                          </a:solidFill>
                          <a:effectLst/>
                          <a:latin typeface="+mn-lt"/>
                          <a:ea typeface="+mn-ea"/>
                          <a:cs typeface="+mn-cs"/>
                        </a:rPr>
                        <a:t>오차가 상당히 큰 것을 확인했습니다</a:t>
                      </a:r>
                      <a:r>
                        <a:rPr lang="en-US" altLang="ko-KR" sz="1800" kern="1200" dirty="0">
                          <a:solidFill>
                            <a:schemeClr val="dk1"/>
                          </a:solidFill>
                          <a:effectLst/>
                          <a:latin typeface="+mn-lt"/>
                          <a:ea typeface="+mn-ea"/>
                          <a:cs typeface="+mn-cs"/>
                        </a:rPr>
                        <a:t>.</a:t>
                      </a:r>
                    </a:p>
                  </a:txBody>
                  <a:tcPr/>
                </a:tc>
                <a:extLst>
                  <a:ext uri="{0D108BD9-81ED-4DB2-BD59-A6C34878D82A}">
                    <a16:rowId xmlns:a16="http://schemas.microsoft.com/office/drawing/2014/main" val="398258525"/>
                  </a:ext>
                </a:extLst>
              </a:tr>
            </a:tbl>
          </a:graphicData>
        </a:graphic>
      </p:graphicFrame>
    </p:spTree>
    <p:extLst>
      <p:ext uri="{BB962C8B-B14F-4D97-AF65-F5344CB8AC3E}">
        <p14:creationId xmlns:p14="http://schemas.microsoft.com/office/powerpoint/2010/main" val="25816621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354BA1"/>
        </a:solidFill>
        <a:effectLst/>
      </p:bgPr>
    </p:bg>
    <p:spTree>
      <p:nvGrpSpPr>
        <p:cNvPr id="1" name=""/>
        <p:cNvGrpSpPr/>
        <p:nvPr/>
      </p:nvGrpSpPr>
      <p:grpSpPr>
        <a:xfrm>
          <a:off x="0" y="0"/>
          <a:ext cx="0" cy="0"/>
          <a:chOff x="0" y="0"/>
          <a:chExt cx="0" cy="0"/>
        </a:xfrm>
      </p:grpSpPr>
      <p:sp>
        <p:nvSpPr>
          <p:cNvPr id="8" name="직사각형 7"/>
          <p:cNvSpPr/>
          <p:nvPr/>
        </p:nvSpPr>
        <p:spPr>
          <a:xfrm>
            <a:off x="378372" y="415772"/>
            <a:ext cx="1702676" cy="720000"/>
          </a:xfrm>
          <a:prstGeom prst="rect">
            <a:avLst/>
          </a:prstGeom>
          <a:noFill/>
          <a:ln w="19050">
            <a:solidFill>
              <a:srgbClr val="FFC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rPr>
              <a:t>3</a:t>
            </a:r>
            <a:endParaRPr kumimoji="0" lang="ko-KR" altLang="en-US"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endParaRPr>
          </a:p>
        </p:txBody>
      </p:sp>
      <p:sp>
        <p:nvSpPr>
          <p:cNvPr id="11" name="직사각형 10">
            <a:extLst>
              <a:ext uri="{FF2B5EF4-FFF2-40B4-BE49-F238E27FC236}">
                <a16:creationId xmlns:a16="http://schemas.microsoft.com/office/drawing/2014/main" id="{7EA33CA5-8767-498A-975A-2C525DDEAD17}"/>
              </a:ext>
            </a:extLst>
          </p:cNvPr>
          <p:cNvSpPr/>
          <p:nvPr/>
        </p:nvSpPr>
        <p:spPr>
          <a:xfrm>
            <a:off x="2251559" y="284579"/>
            <a:ext cx="9768806" cy="123110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32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Walmart Sales data – </a:t>
            </a:r>
            <a:r>
              <a:rPr kumimoji="0" lang="ko-KR" altLang="en-US" sz="32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외부 변수 관련</a:t>
            </a:r>
            <a:endParaRPr kumimoji="0" lang="en-US" altLang="ko-KR" sz="32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4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(f) Build a regression model for </a:t>
            </a:r>
            <a:r>
              <a:rPr kumimoji="0" lang="en-US" altLang="ko-KR" sz="1400" b="1" i="0" u="none" strike="noStrike" kern="0" cap="none" spc="0" normalizeH="0" baseline="0" noProof="0" dirty="0" err="1">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Weekly_Sales</a:t>
            </a:r>
            <a:r>
              <a:rPr kumimoji="0" lang="en-US" altLang="ko-KR" sz="14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 that includes only </a:t>
            </a:r>
            <a:r>
              <a:rPr kumimoji="0" lang="en-US" altLang="ko-KR" sz="1400" b="1" i="0" u="none" strike="noStrike" kern="0" cap="none" spc="0" normalizeH="0" baseline="0" noProof="0" dirty="0" err="1">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IsHoliday</a:t>
            </a:r>
            <a:r>
              <a:rPr kumimoji="0" lang="en-US" altLang="ko-KR" sz="14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 as a predictor. compare the performance of this model to the naive forecasts. Which one performs better on holiday weeks? on non-holiday weeks?</a:t>
            </a:r>
          </a:p>
        </p:txBody>
      </p:sp>
      <p:graphicFrame>
        <p:nvGraphicFramePr>
          <p:cNvPr id="9" name="표 8">
            <a:extLst>
              <a:ext uri="{FF2B5EF4-FFF2-40B4-BE49-F238E27FC236}">
                <a16:creationId xmlns:a16="http://schemas.microsoft.com/office/drawing/2014/main" id="{EE4373C9-7887-4883-9069-075472D7D4E1}"/>
              </a:ext>
            </a:extLst>
          </p:cNvPr>
          <p:cNvGraphicFramePr>
            <a:graphicFrameLocks noGrp="1"/>
          </p:cNvGraphicFramePr>
          <p:nvPr>
            <p:extLst>
              <p:ext uri="{D42A27DB-BD31-4B8C-83A1-F6EECF244321}">
                <p14:modId xmlns:p14="http://schemas.microsoft.com/office/powerpoint/2010/main" val="1587316214"/>
              </p:ext>
            </p:extLst>
          </p:nvPr>
        </p:nvGraphicFramePr>
        <p:xfrm>
          <a:off x="5765275" y="2143760"/>
          <a:ext cx="5438345" cy="1285240"/>
        </p:xfrm>
        <a:graphic>
          <a:graphicData uri="http://schemas.openxmlformats.org/drawingml/2006/table">
            <a:tbl>
              <a:tblPr firstRow="1" bandRow="1">
                <a:tableStyleId>{5C22544A-7EE6-4342-B048-85BDC9FD1C3A}</a:tableStyleId>
              </a:tblPr>
              <a:tblGrid>
                <a:gridCol w="5438345">
                  <a:extLst>
                    <a:ext uri="{9D8B030D-6E8A-4147-A177-3AD203B41FA5}">
                      <a16:colId xmlns:a16="http://schemas.microsoft.com/office/drawing/2014/main" val="4093639860"/>
                    </a:ext>
                  </a:extLst>
                </a:gridCol>
              </a:tblGrid>
              <a:tr h="370840">
                <a:tc>
                  <a:txBody>
                    <a:bodyPr/>
                    <a:lstStyle/>
                    <a:p>
                      <a:pPr marL="285750" indent="-285750" latinLnBrk="1">
                        <a:buFont typeface="Arial" panose="020B0604020202020204" pitchFamily="34" charset="0"/>
                        <a:buChar char="•"/>
                      </a:pPr>
                      <a:endParaRPr lang="ko-KR" altLang="en-US" dirty="0"/>
                    </a:p>
                  </a:txBody>
                  <a:tcPr/>
                </a:tc>
                <a:extLst>
                  <a:ext uri="{0D108BD9-81ED-4DB2-BD59-A6C34878D82A}">
                    <a16:rowId xmlns:a16="http://schemas.microsoft.com/office/drawing/2014/main" val="3200778601"/>
                  </a:ext>
                </a:extLst>
              </a:tr>
              <a:tr h="392714">
                <a:tc>
                  <a:txBody>
                    <a:bodyPr/>
                    <a:lstStyle/>
                    <a:p>
                      <a:pPr marL="285750" indent="-285750" latinLnBrk="1">
                        <a:buFont typeface="Arial" panose="020B0604020202020204" pitchFamily="34" charset="0"/>
                        <a:buChar char="•"/>
                      </a:pPr>
                      <a:r>
                        <a:rPr lang="en-US" altLang="ko-KR" sz="1800" kern="1200" dirty="0" err="1">
                          <a:solidFill>
                            <a:schemeClr val="dk1"/>
                          </a:solidFill>
                          <a:effectLst/>
                          <a:latin typeface="+mn-lt"/>
                          <a:ea typeface="+mn-ea"/>
                          <a:cs typeface="+mn-cs"/>
                        </a:rPr>
                        <a:t>IsHoliday</a:t>
                      </a:r>
                      <a:r>
                        <a:rPr lang="ko-KR" altLang="en-US" sz="1800" kern="1200" dirty="0">
                          <a:solidFill>
                            <a:schemeClr val="dk1"/>
                          </a:solidFill>
                          <a:effectLst/>
                          <a:latin typeface="+mn-lt"/>
                          <a:ea typeface="+mn-ea"/>
                          <a:cs typeface="+mn-cs"/>
                        </a:rPr>
                        <a:t>는 </a:t>
                      </a:r>
                      <a:r>
                        <a:rPr lang="ko-KR" altLang="en-US" sz="1800" kern="1200" dirty="0" err="1">
                          <a:solidFill>
                            <a:schemeClr val="dk1"/>
                          </a:solidFill>
                          <a:effectLst/>
                          <a:latin typeface="+mn-lt"/>
                          <a:ea typeface="+mn-ea"/>
                          <a:cs typeface="+mn-cs"/>
                        </a:rPr>
                        <a:t>명목형이기에</a:t>
                      </a:r>
                      <a:r>
                        <a:rPr lang="ko-KR" altLang="en-US" sz="1800" kern="1200" dirty="0">
                          <a:solidFill>
                            <a:schemeClr val="dk1"/>
                          </a:solidFill>
                          <a:effectLst/>
                          <a:latin typeface="+mn-lt"/>
                          <a:ea typeface="+mn-ea"/>
                          <a:cs typeface="+mn-cs"/>
                        </a:rPr>
                        <a:t> 수치형으로 바꿈</a:t>
                      </a:r>
                      <a:endParaRPr lang="en-US" altLang="ko-KR" sz="1800" kern="1200" dirty="0">
                        <a:solidFill>
                          <a:schemeClr val="dk1"/>
                        </a:solidFill>
                        <a:effectLst/>
                        <a:latin typeface="+mn-lt"/>
                        <a:ea typeface="+mn-ea"/>
                        <a:cs typeface="+mn-cs"/>
                      </a:endParaRPr>
                    </a:p>
                    <a:p>
                      <a:pPr marL="285750" indent="-285750" latinLnBrk="1">
                        <a:buFont typeface="Arial" panose="020B0604020202020204" pitchFamily="34" charset="0"/>
                        <a:buChar char="•"/>
                      </a:pPr>
                      <a:r>
                        <a:rPr lang="en-US" altLang="ko-KR" sz="1800" kern="1200" dirty="0" err="1">
                          <a:solidFill>
                            <a:schemeClr val="dk1"/>
                          </a:solidFill>
                          <a:effectLst/>
                          <a:latin typeface="+mn-lt"/>
                          <a:ea typeface="+mn-ea"/>
                          <a:cs typeface="+mn-cs"/>
                        </a:rPr>
                        <a:t>IsHoliday</a:t>
                      </a:r>
                      <a:r>
                        <a:rPr lang="ko-KR" altLang="en-US" sz="1800" kern="1200" dirty="0">
                          <a:solidFill>
                            <a:schemeClr val="dk1"/>
                          </a:solidFill>
                          <a:effectLst/>
                          <a:latin typeface="+mn-lt"/>
                          <a:ea typeface="+mn-ea"/>
                          <a:cs typeface="+mn-cs"/>
                        </a:rPr>
                        <a:t>만을 가지고 예측을 해본 결과 값이 </a:t>
                      </a:r>
                      <a:r>
                        <a:rPr lang="ko-KR" altLang="en-US" sz="1800" kern="1200" dirty="0" err="1">
                          <a:solidFill>
                            <a:schemeClr val="dk1"/>
                          </a:solidFill>
                          <a:effectLst/>
                          <a:latin typeface="+mn-lt"/>
                          <a:ea typeface="+mn-ea"/>
                          <a:cs typeface="+mn-cs"/>
                        </a:rPr>
                        <a:t>바뀐것이</a:t>
                      </a:r>
                      <a:r>
                        <a:rPr lang="ko-KR" altLang="en-US" sz="1800" kern="1200" dirty="0">
                          <a:solidFill>
                            <a:schemeClr val="dk1"/>
                          </a:solidFill>
                          <a:effectLst/>
                          <a:latin typeface="+mn-lt"/>
                          <a:ea typeface="+mn-ea"/>
                          <a:cs typeface="+mn-cs"/>
                        </a:rPr>
                        <a:t> 없었습니다</a:t>
                      </a:r>
                      <a:r>
                        <a:rPr lang="en-US" altLang="ko-KR" sz="1800" kern="1200" dirty="0">
                          <a:solidFill>
                            <a:schemeClr val="dk1"/>
                          </a:solidFill>
                          <a:effectLst/>
                          <a:latin typeface="+mn-lt"/>
                          <a:ea typeface="+mn-ea"/>
                          <a:cs typeface="+mn-cs"/>
                        </a:rPr>
                        <a:t>.</a:t>
                      </a:r>
                    </a:p>
                  </a:txBody>
                  <a:tcPr/>
                </a:tc>
                <a:extLst>
                  <a:ext uri="{0D108BD9-81ED-4DB2-BD59-A6C34878D82A}">
                    <a16:rowId xmlns:a16="http://schemas.microsoft.com/office/drawing/2014/main" val="398258525"/>
                  </a:ext>
                </a:extLst>
              </a:tr>
            </a:tbl>
          </a:graphicData>
        </a:graphic>
      </p:graphicFrame>
      <p:pic>
        <p:nvPicPr>
          <p:cNvPr id="4" name="그림 3">
            <a:extLst>
              <a:ext uri="{FF2B5EF4-FFF2-40B4-BE49-F238E27FC236}">
                <a16:creationId xmlns:a16="http://schemas.microsoft.com/office/drawing/2014/main" id="{0BCCD2B4-0F24-47D1-A964-A60C3B02CCFC}"/>
              </a:ext>
            </a:extLst>
          </p:cNvPr>
          <p:cNvPicPr>
            <a:picLocks noChangeAspect="1"/>
          </p:cNvPicPr>
          <p:nvPr/>
        </p:nvPicPr>
        <p:blipFill>
          <a:blip r:embed="rId2"/>
          <a:stretch>
            <a:fillRect/>
          </a:stretch>
        </p:blipFill>
        <p:spPr>
          <a:xfrm>
            <a:off x="378372" y="1604390"/>
            <a:ext cx="3651339" cy="1751369"/>
          </a:xfrm>
          <a:prstGeom prst="rect">
            <a:avLst/>
          </a:prstGeom>
        </p:spPr>
      </p:pic>
      <p:pic>
        <p:nvPicPr>
          <p:cNvPr id="7" name="그림 6">
            <a:extLst>
              <a:ext uri="{FF2B5EF4-FFF2-40B4-BE49-F238E27FC236}">
                <a16:creationId xmlns:a16="http://schemas.microsoft.com/office/drawing/2014/main" id="{FBADDD26-8336-4CF8-B6DD-B8CB679F8B40}"/>
              </a:ext>
            </a:extLst>
          </p:cNvPr>
          <p:cNvPicPr>
            <a:picLocks noChangeAspect="1"/>
          </p:cNvPicPr>
          <p:nvPr/>
        </p:nvPicPr>
        <p:blipFill>
          <a:blip r:embed="rId3"/>
          <a:stretch>
            <a:fillRect/>
          </a:stretch>
        </p:blipFill>
        <p:spPr>
          <a:xfrm>
            <a:off x="378372" y="3660284"/>
            <a:ext cx="4804547" cy="2913137"/>
          </a:xfrm>
          <a:prstGeom prst="rect">
            <a:avLst/>
          </a:prstGeom>
        </p:spPr>
      </p:pic>
      <p:pic>
        <p:nvPicPr>
          <p:cNvPr id="12" name="그림 11">
            <a:extLst>
              <a:ext uri="{FF2B5EF4-FFF2-40B4-BE49-F238E27FC236}">
                <a16:creationId xmlns:a16="http://schemas.microsoft.com/office/drawing/2014/main" id="{A1F4EEAA-DA56-4DD1-85A4-18ED8239C34C}"/>
              </a:ext>
            </a:extLst>
          </p:cNvPr>
          <p:cNvPicPr>
            <a:picLocks noChangeAspect="1"/>
          </p:cNvPicPr>
          <p:nvPr/>
        </p:nvPicPr>
        <p:blipFill>
          <a:blip r:embed="rId4"/>
          <a:stretch>
            <a:fillRect/>
          </a:stretch>
        </p:blipFill>
        <p:spPr>
          <a:xfrm>
            <a:off x="5628198" y="5141342"/>
            <a:ext cx="6392167" cy="485843"/>
          </a:xfrm>
          <a:prstGeom prst="rect">
            <a:avLst/>
          </a:prstGeom>
        </p:spPr>
      </p:pic>
    </p:spTree>
    <p:extLst>
      <p:ext uri="{BB962C8B-B14F-4D97-AF65-F5344CB8AC3E}">
        <p14:creationId xmlns:p14="http://schemas.microsoft.com/office/powerpoint/2010/main" val="19100543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354BA1"/>
        </a:solidFill>
        <a:effectLst/>
      </p:bgPr>
    </p:bg>
    <p:spTree>
      <p:nvGrpSpPr>
        <p:cNvPr id="1" name=""/>
        <p:cNvGrpSpPr/>
        <p:nvPr/>
      </p:nvGrpSpPr>
      <p:grpSpPr>
        <a:xfrm>
          <a:off x="0" y="0"/>
          <a:ext cx="0" cy="0"/>
          <a:chOff x="0" y="0"/>
          <a:chExt cx="0" cy="0"/>
        </a:xfrm>
      </p:grpSpPr>
      <p:sp>
        <p:nvSpPr>
          <p:cNvPr id="8" name="직사각형 7"/>
          <p:cNvSpPr/>
          <p:nvPr/>
        </p:nvSpPr>
        <p:spPr>
          <a:xfrm>
            <a:off x="378372" y="415772"/>
            <a:ext cx="1702676" cy="720000"/>
          </a:xfrm>
          <a:prstGeom prst="rect">
            <a:avLst/>
          </a:prstGeom>
          <a:noFill/>
          <a:ln w="19050">
            <a:solidFill>
              <a:srgbClr val="FFC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rPr>
              <a:t>3</a:t>
            </a:r>
            <a:endParaRPr kumimoji="0" lang="ko-KR" altLang="en-US" sz="28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endParaRPr>
          </a:p>
        </p:txBody>
      </p:sp>
      <p:sp>
        <p:nvSpPr>
          <p:cNvPr id="11" name="직사각형 10">
            <a:extLst>
              <a:ext uri="{FF2B5EF4-FFF2-40B4-BE49-F238E27FC236}">
                <a16:creationId xmlns:a16="http://schemas.microsoft.com/office/drawing/2014/main" id="{7EA33CA5-8767-498A-975A-2C525DDEAD17}"/>
              </a:ext>
            </a:extLst>
          </p:cNvPr>
          <p:cNvSpPr/>
          <p:nvPr/>
        </p:nvSpPr>
        <p:spPr>
          <a:xfrm>
            <a:off x="2251559" y="284579"/>
            <a:ext cx="9768806" cy="107721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32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Walmart Sales data – </a:t>
            </a:r>
            <a:r>
              <a:rPr kumimoji="0" lang="ko-KR" altLang="en-US" sz="32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외부 변수 관련</a:t>
            </a:r>
            <a:endParaRPr kumimoji="0" lang="en-US" altLang="ko-KR" sz="32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6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(g) If we wanted to include Temperature and </a:t>
            </a:r>
            <a:r>
              <a:rPr kumimoji="0" lang="en-US" altLang="ko-KR" sz="1600" b="1" i="0" u="none" strike="noStrike" kern="0" cap="none" spc="0" normalizeH="0" baseline="0" noProof="0" dirty="0" err="1">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Fuel_Price</a:t>
            </a:r>
            <a:r>
              <a:rPr kumimoji="0" lang="en-US" altLang="ko-KR" sz="1600" b="1" i="0" u="none" strike="noStrike" kern="0" cap="none" spc="0" normalizeH="0" baseline="0" noProof="0" dirty="0">
                <a:ln>
                  <a:noFill/>
                </a:ln>
                <a:solidFill>
                  <a:srgbClr val="FFC000"/>
                </a:solidFill>
                <a:effectLst/>
                <a:uLnTx/>
                <a:uFillTx/>
                <a:latin typeface="맑은 고딕" panose="020F0502020204030204"/>
                <a:ea typeface="맑은 고딕" panose="020B0503020000020004" pitchFamily="50" charset="-127"/>
                <a:cs typeface="+mn-cs"/>
                <a:sym typeface="Wingdings" panose="05000000000000000000" pitchFamily="2" charset="2"/>
              </a:rPr>
              <a:t> as predictors in the regression model, in what form can they be included?</a:t>
            </a:r>
          </a:p>
        </p:txBody>
      </p:sp>
      <p:graphicFrame>
        <p:nvGraphicFramePr>
          <p:cNvPr id="9" name="표 8">
            <a:extLst>
              <a:ext uri="{FF2B5EF4-FFF2-40B4-BE49-F238E27FC236}">
                <a16:creationId xmlns:a16="http://schemas.microsoft.com/office/drawing/2014/main" id="{EE4373C9-7887-4883-9069-075472D7D4E1}"/>
              </a:ext>
            </a:extLst>
          </p:cNvPr>
          <p:cNvGraphicFramePr>
            <a:graphicFrameLocks noGrp="1"/>
          </p:cNvGraphicFramePr>
          <p:nvPr>
            <p:extLst>
              <p:ext uri="{D42A27DB-BD31-4B8C-83A1-F6EECF244321}">
                <p14:modId xmlns:p14="http://schemas.microsoft.com/office/powerpoint/2010/main" val="4057697529"/>
              </p:ext>
            </p:extLst>
          </p:nvPr>
        </p:nvGraphicFramePr>
        <p:xfrm>
          <a:off x="1397460" y="2242045"/>
          <a:ext cx="8048380" cy="1285240"/>
        </p:xfrm>
        <a:graphic>
          <a:graphicData uri="http://schemas.openxmlformats.org/drawingml/2006/table">
            <a:tbl>
              <a:tblPr firstRow="1" bandRow="1">
                <a:tableStyleId>{5C22544A-7EE6-4342-B048-85BDC9FD1C3A}</a:tableStyleId>
              </a:tblPr>
              <a:tblGrid>
                <a:gridCol w="8048380">
                  <a:extLst>
                    <a:ext uri="{9D8B030D-6E8A-4147-A177-3AD203B41FA5}">
                      <a16:colId xmlns:a16="http://schemas.microsoft.com/office/drawing/2014/main" val="4093639860"/>
                    </a:ext>
                  </a:extLst>
                </a:gridCol>
              </a:tblGrid>
              <a:tr h="370840">
                <a:tc>
                  <a:txBody>
                    <a:bodyPr/>
                    <a:lstStyle/>
                    <a:p>
                      <a:pPr marL="285750" indent="-285750" latinLnBrk="1">
                        <a:buFont typeface="Arial" panose="020B0604020202020204" pitchFamily="34" charset="0"/>
                        <a:buChar char="•"/>
                      </a:pPr>
                      <a:endParaRPr lang="ko-KR" altLang="en-US" dirty="0"/>
                    </a:p>
                  </a:txBody>
                  <a:tcPr/>
                </a:tc>
                <a:extLst>
                  <a:ext uri="{0D108BD9-81ED-4DB2-BD59-A6C34878D82A}">
                    <a16:rowId xmlns:a16="http://schemas.microsoft.com/office/drawing/2014/main" val="3200778601"/>
                  </a:ext>
                </a:extLst>
              </a:tr>
              <a:tr h="392714">
                <a:tc>
                  <a:txBody>
                    <a:bodyPr/>
                    <a:lstStyle/>
                    <a:p>
                      <a:pPr marL="285750" indent="-285750" latinLnBrk="1">
                        <a:buFont typeface="Arial" panose="020B0604020202020204" pitchFamily="34" charset="0"/>
                        <a:buChar char="•"/>
                      </a:pPr>
                      <a:r>
                        <a:rPr lang="ko-KR" altLang="ko-KR" sz="1800" kern="1200" dirty="0">
                          <a:solidFill>
                            <a:schemeClr val="dk1"/>
                          </a:solidFill>
                          <a:effectLst/>
                          <a:latin typeface="+mn-lt"/>
                          <a:ea typeface="+mn-ea"/>
                          <a:cs typeface="+mn-cs"/>
                        </a:rPr>
                        <a:t>온도와 연료는 표준화</a:t>
                      </a:r>
                      <a:r>
                        <a:rPr lang="en-US" altLang="ko-KR" sz="1800" kern="1200" dirty="0">
                          <a:solidFill>
                            <a:schemeClr val="dk1"/>
                          </a:solidFill>
                          <a:effectLst/>
                          <a:latin typeface="+mn-lt"/>
                          <a:ea typeface="+mn-ea"/>
                          <a:cs typeface="+mn-cs"/>
                        </a:rPr>
                        <a:t>(Z-score)</a:t>
                      </a:r>
                      <a:r>
                        <a:rPr lang="ko-KR" altLang="ko-KR" sz="1800" kern="1200" dirty="0">
                          <a:solidFill>
                            <a:schemeClr val="dk1"/>
                          </a:solidFill>
                          <a:effectLst/>
                          <a:latin typeface="+mn-lt"/>
                          <a:ea typeface="+mn-ea"/>
                          <a:cs typeface="+mn-cs"/>
                        </a:rPr>
                        <a:t>값이 필요</a:t>
                      </a:r>
                      <a:r>
                        <a:rPr lang="ko-KR" altLang="en-US" sz="1800" kern="1200" dirty="0">
                          <a:solidFill>
                            <a:schemeClr val="dk1"/>
                          </a:solidFill>
                          <a:effectLst/>
                          <a:latin typeface="+mn-lt"/>
                          <a:ea typeface="+mn-ea"/>
                          <a:cs typeface="+mn-cs"/>
                        </a:rPr>
                        <a:t>합니다</a:t>
                      </a:r>
                      <a:r>
                        <a:rPr lang="en-US" altLang="ko-KR" sz="1800" kern="1200" dirty="0">
                          <a:solidFill>
                            <a:schemeClr val="dk1"/>
                          </a:solidFill>
                          <a:effectLst/>
                          <a:latin typeface="+mn-lt"/>
                          <a:ea typeface="+mn-ea"/>
                          <a:cs typeface="+mn-cs"/>
                        </a:rPr>
                        <a:t>.</a:t>
                      </a:r>
                    </a:p>
                    <a:p>
                      <a:pPr marL="285750" indent="-285750" latinLnBrk="1">
                        <a:buFont typeface="Arial" panose="020B0604020202020204" pitchFamily="34" charset="0"/>
                        <a:buChar char="•"/>
                      </a:pPr>
                      <a:r>
                        <a:rPr lang="ko-KR" altLang="ko-KR" sz="1800" kern="1200" dirty="0">
                          <a:solidFill>
                            <a:schemeClr val="dk1"/>
                          </a:solidFill>
                          <a:effectLst/>
                          <a:latin typeface="+mn-lt"/>
                          <a:ea typeface="+mn-ea"/>
                          <a:cs typeface="+mn-cs"/>
                        </a:rPr>
                        <a:t>원래 값대신에 </a:t>
                      </a:r>
                      <a:r>
                        <a:rPr lang="en-US" altLang="ko-KR" sz="1800" kern="1200" dirty="0">
                          <a:solidFill>
                            <a:schemeClr val="dk1"/>
                          </a:solidFill>
                          <a:effectLst/>
                          <a:latin typeface="+mn-lt"/>
                          <a:ea typeface="+mn-ea"/>
                          <a:cs typeface="+mn-cs"/>
                        </a:rPr>
                        <a:t>Z-score</a:t>
                      </a:r>
                      <a:r>
                        <a:rPr lang="ko-KR" altLang="ko-KR" sz="1800" kern="1200" dirty="0">
                          <a:solidFill>
                            <a:schemeClr val="dk1"/>
                          </a:solidFill>
                          <a:effectLst/>
                          <a:latin typeface="+mn-lt"/>
                          <a:ea typeface="+mn-ea"/>
                          <a:cs typeface="+mn-cs"/>
                        </a:rPr>
                        <a:t>값을 대신에 사용해봐</a:t>
                      </a:r>
                      <a:r>
                        <a:rPr lang="ko-KR" altLang="en-US" sz="1800" kern="1200" dirty="0">
                          <a:solidFill>
                            <a:schemeClr val="dk1"/>
                          </a:solidFill>
                          <a:effectLst/>
                          <a:latin typeface="+mn-lt"/>
                          <a:ea typeface="+mn-ea"/>
                          <a:cs typeface="+mn-cs"/>
                        </a:rPr>
                        <a:t>야 하고 </a:t>
                      </a:r>
                      <a:endParaRPr lang="en-US" altLang="ko-KR" sz="1800" kern="1200" dirty="0">
                        <a:solidFill>
                          <a:schemeClr val="dk1"/>
                        </a:solidFill>
                        <a:effectLst/>
                        <a:latin typeface="+mn-lt"/>
                        <a:ea typeface="+mn-ea"/>
                        <a:cs typeface="+mn-cs"/>
                      </a:endParaRPr>
                    </a:p>
                    <a:p>
                      <a:pPr marL="285750" indent="-285750" latinLnBrk="1">
                        <a:buFont typeface="Arial" panose="020B0604020202020204" pitchFamily="34" charset="0"/>
                        <a:buChar char="•"/>
                      </a:pPr>
                      <a:r>
                        <a:rPr lang="ko-KR" altLang="ko-KR" sz="1800" kern="1200" dirty="0">
                          <a:solidFill>
                            <a:schemeClr val="dk1"/>
                          </a:solidFill>
                          <a:effectLst/>
                          <a:latin typeface="+mn-lt"/>
                          <a:ea typeface="+mn-ea"/>
                          <a:cs typeface="+mn-cs"/>
                        </a:rPr>
                        <a:t>변동폭을 균일하게 만들기 위해서 균일화를</a:t>
                      </a:r>
                      <a:r>
                        <a:rPr lang="ko-KR" altLang="en-US" sz="1800" kern="1200" dirty="0">
                          <a:solidFill>
                            <a:schemeClr val="dk1"/>
                          </a:solidFill>
                          <a:effectLst/>
                          <a:latin typeface="+mn-lt"/>
                          <a:ea typeface="+mn-ea"/>
                          <a:cs typeface="+mn-cs"/>
                        </a:rPr>
                        <a:t> </a:t>
                      </a:r>
                      <a:r>
                        <a:rPr lang="ko-KR" altLang="en-US" sz="1800" kern="1200" dirty="0" err="1">
                          <a:solidFill>
                            <a:schemeClr val="dk1"/>
                          </a:solidFill>
                          <a:effectLst/>
                          <a:latin typeface="+mn-lt"/>
                          <a:ea typeface="+mn-ea"/>
                          <a:cs typeface="+mn-cs"/>
                        </a:rPr>
                        <a:t>해야합니다</a:t>
                      </a:r>
                      <a:r>
                        <a:rPr lang="en-US" altLang="ko-KR" sz="1800" kern="1200" dirty="0">
                          <a:solidFill>
                            <a:schemeClr val="dk1"/>
                          </a:solidFill>
                          <a:effectLst/>
                          <a:latin typeface="+mn-lt"/>
                          <a:ea typeface="+mn-ea"/>
                          <a:cs typeface="+mn-cs"/>
                        </a:rPr>
                        <a:t>.</a:t>
                      </a:r>
                      <a:endParaRPr lang="ko-KR" altLang="ko-KR" sz="1800" kern="1200" dirty="0">
                        <a:solidFill>
                          <a:schemeClr val="dk1"/>
                        </a:solidFill>
                        <a:effectLst/>
                        <a:latin typeface="+mn-lt"/>
                        <a:ea typeface="+mn-ea"/>
                        <a:cs typeface="+mn-cs"/>
                      </a:endParaRPr>
                    </a:p>
                  </a:txBody>
                  <a:tcPr/>
                </a:tc>
                <a:extLst>
                  <a:ext uri="{0D108BD9-81ED-4DB2-BD59-A6C34878D82A}">
                    <a16:rowId xmlns:a16="http://schemas.microsoft.com/office/drawing/2014/main" val="398258525"/>
                  </a:ext>
                </a:extLst>
              </a:tr>
            </a:tbl>
          </a:graphicData>
        </a:graphic>
      </p:graphicFrame>
    </p:spTree>
    <p:extLst>
      <p:ext uri="{BB962C8B-B14F-4D97-AF65-F5344CB8AC3E}">
        <p14:creationId xmlns:p14="http://schemas.microsoft.com/office/powerpoint/2010/main" val="25658835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354BA1"/>
        </a:solidFill>
        <a:effectLst/>
      </p:bgPr>
    </p:bg>
    <p:spTree>
      <p:nvGrpSpPr>
        <p:cNvPr id="1" name=""/>
        <p:cNvGrpSpPr/>
        <p:nvPr/>
      </p:nvGrpSpPr>
      <p:grpSpPr>
        <a:xfrm>
          <a:off x="0" y="0"/>
          <a:ext cx="0" cy="0"/>
          <a:chOff x="0" y="0"/>
          <a:chExt cx="0" cy="0"/>
        </a:xfrm>
      </p:grpSpPr>
      <p:sp>
        <p:nvSpPr>
          <p:cNvPr id="3" name="제목 2">
            <a:extLst>
              <a:ext uri="{FF2B5EF4-FFF2-40B4-BE49-F238E27FC236}">
                <a16:creationId xmlns:a16="http://schemas.microsoft.com/office/drawing/2014/main" id="{E99683CD-5327-43A5-BBDB-DEE950C0004C}"/>
              </a:ext>
            </a:extLst>
          </p:cNvPr>
          <p:cNvSpPr>
            <a:spLocks noGrp="1"/>
          </p:cNvSpPr>
          <p:nvPr>
            <p:ph type="ctrTitle"/>
          </p:nvPr>
        </p:nvSpPr>
        <p:spPr>
          <a:xfrm>
            <a:off x="1440024" y="1243661"/>
            <a:ext cx="9144000" cy="2387600"/>
          </a:xfrm>
          <a:solidFill>
            <a:srgbClr val="354BA1"/>
          </a:solidFill>
        </p:spPr>
        <p:txBody>
          <a:bodyPr/>
          <a:lstStyle/>
          <a:p>
            <a:r>
              <a:rPr lang="ko-KR" altLang="en-US" dirty="0">
                <a:solidFill>
                  <a:schemeClr val="bg1"/>
                </a:solidFill>
              </a:rPr>
              <a:t>감사합니다</a:t>
            </a:r>
            <a:r>
              <a:rPr lang="en-US" altLang="ko-KR" dirty="0">
                <a:solidFill>
                  <a:schemeClr val="bg1"/>
                </a:solidFill>
              </a:rPr>
              <a:t>.</a:t>
            </a:r>
            <a:endParaRPr lang="ko-KR" altLang="en-US" dirty="0">
              <a:solidFill>
                <a:schemeClr val="bg1"/>
              </a:solidFill>
            </a:endParaRPr>
          </a:p>
        </p:txBody>
      </p:sp>
    </p:spTree>
    <p:extLst>
      <p:ext uri="{BB962C8B-B14F-4D97-AF65-F5344CB8AC3E}">
        <p14:creationId xmlns:p14="http://schemas.microsoft.com/office/powerpoint/2010/main" val="3822292500"/>
      </p:ext>
    </p:extLst>
  </p:cSld>
  <p:clrMapOvr>
    <a:masterClrMapping/>
  </p:clrMapOvr>
</p:sld>
</file>

<file path=ppt/theme/theme1.xml><?xml version="1.0" encoding="utf-8"?>
<a:theme xmlns:a="http://schemas.openxmlformats.org/drawingml/2006/main" name="7_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문서" ma:contentTypeID="0x01010057BFF985544F2743B28ACC715ADD8BA6" ma:contentTypeVersion="6" ma:contentTypeDescription="새 문서를 만듭니다." ma:contentTypeScope="" ma:versionID="9989f32a0a98f6e0a033ac716a142466">
  <xsd:schema xmlns:xsd="http://www.w3.org/2001/XMLSchema" xmlns:xs="http://www.w3.org/2001/XMLSchema" xmlns:p="http://schemas.microsoft.com/office/2006/metadata/properties" xmlns:ns2="ef95c4c0-bf8b-426c-ad8a-ca26a879c726" targetNamespace="http://schemas.microsoft.com/office/2006/metadata/properties" ma:root="true" ma:fieldsID="b1b0f4ec7a4b0e812ba6cadb2c446972" ns2:_="">
    <xsd:import namespace="ef95c4c0-bf8b-426c-ad8a-ca26a879c72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f95c4c0-bf8b-426c-ad8a-ca26a879c72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686537D-DF0B-4BE3-9A4C-93C63B4EAF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f95c4c0-bf8b-426c-ad8a-ca26a879c72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02179EB-61C1-45DF-BBCA-F7F7E4193D48}">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94E96D98-BA92-442D-A9AE-EF94A58965B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5237</TotalTime>
  <Words>1513</Words>
  <Application>Microsoft Office PowerPoint</Application>
  <PresentationFormat>와이드스크린</PresentationFormat>
  <Paragraphs>121</Paragraphs>
  <Slides>21</Slides>
  <Notes>0</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21</vt:i4>
      </vt:variant>
    </vt:vector>
  </HeadingPairs>
  <TitlesOfParts>
    <vt:vector size="24" baseType="lpstr">
      <vt:lpstr>맑은 고딕</vt:lpstr>
      <vt:lpstr>Arial</vt:lpstr>
      <vt:lpstr>7_Office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감사합니다.</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조현석</dc:creator>
  <cp:lastModifiedBy>ok7624583@daum.net</cp:lastModifiedBy>
  <cp:revision>161</cp:revision>
  <dcterms:created xsi:type="dcterms:W3CDTF">2020-08-28T03:04:35Z</dcterms:created>
  <dcterms:modified xsi:type="dcterms:W3CDTF">2021-11-14T14:57:30Z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0x01010057BFF985544F2743B28ACC715ADD8BA6</vt:lpwstr>
  </property>
</Properties>
</file>