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9" r:id="rId6"/>
    <p:sldId id="262" r:id="rId7"/>
    <p:sldId id="294" r:id="rId8"/>
    <p:sldId id="295" r:id="rId9"/>
    <p:sldId id="300" r:id="rId10"/>
    <p:sldId id="302" r:id="rId11"/>
    <p:sldId id="304" r:id="rId12"/>
    <p:sldId id="301" r:id="rId13"/>
    <p:sldId id="303" r:id="rId14"/>
    <p:sldId id="26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손 현오" initials="손현" lastIdx="4" clrIdx="0">
    <p:extLst>
      <p:ext uri="{19B8F6BF-5375-455C-9EA6-DF929625EA0E}">
        <p15:presenceInfo xmlns:p15="http://schemas.microsoft.com/office/powerpoint/2012/main" userId="dc2350536a7fc0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4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5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76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9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4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89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0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1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7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4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9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2022-02-09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6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22966" y="2349815"/>
            <a:ext cx="7956016" cy="2334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4400" b="1" i="1" kern="0" dirty="0">
                <a:solidFill>
                  <a:srgbClr val="FFC000"/>
                </a:solidFill>
              </a:rPr>
              <a:t>Data Science Applications 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조별과제</a:t>
            </a:r>
            <a:r>
              <a:rPr lang="en-US" altLang="ko-KR" sz="4400" b="1" i="1" kern="0" dirty="0">
                <a:solidFill>
                  <a:srgbClr val="FFC000"/>
                </a:solidFill>
              </a:rPr>
              <a:t> 6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주차 </a:t>
            </a:r>
            <a:endParaRPr lang="en-US" altLang="ko-KR" sz="4400" b="1" i="1" kern="0" dirty="0">
              <a:solidFill>
                <a:srgbClr val="FFC000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50" kern="0" dirty="0">
                <a:solidFill>
                  <a:prstClr val="white"/>
                </a:solidFill>
              </a:rPr>
              <a:t>KOREA AERO SPACE UNIV.</a:t>
            </a:r>
            <a:endParaRPr lang="ko-KR" altLang="en-US" sz="6000" kern="0" dirty="0">
              <a:solidFill>
                <a:prstClr val="white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6625772" y="3204197"/>
            <a:ext cx="4896000" cy="0"/>
          </a:xfrm>
          <a:prstGeom prst="line">
            <a:avLst/>
          </a:prstGeom>
          <a:ln>
            <a:solidFill>
              <a:srgbClr val="748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8519773" y="3653803"/>
            <a:ext cx="11079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B</a:t>
            </a:r>
            <a:r>
              <a:rPr lang="ko-KR" altLang="en-US" sz="2400" b="1" kern="0" dirty="0">
                <a:solidFill>
                  <a:schemeClr val="bg1"/>
                </a:solidFill>
              </a:rPr>
              <a:t>조</a:t>
            </a:r>
            <a:endParaRPr lang="en-US" altLang="ko-KR" sz="2400" b="1" kern="0" dirty="0">
              <a:solidFill>
                <a:schemeClr val="bg1"/>
              </a:solidFill>
            </a:endParaRPr>
          </a:p>
          <a:p>
            <a:pPr algn="ctr" latinLnBrk="0">
              <a:defRPr/>
            </a:pPr>
            <a:r>
              <a:rPr lang="ko-KR" altLang="en-US" sz="2400" b="1" kern="0">
                <a:solidFill>
                  <a:schemeClr val="bg1"/>
                </a:solidFill>
              </a:rPr>
              <a:t>손현오</a:t>
            </a:r>
            <a:endParaRPr lang="en-US" altLang="ko-KR" sz="2400" b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93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647824" y="370386"/>
            <a:ext cx="7931182" cy="745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3200" b="1" kern="0" dirty="0" err="1">
                <a:solidFill>
                  <a:srgbClr val="FFC000"/>
                </a:solidFill>
              </a:rPr>
              <a:t>주교재</a:t>
            </a:r>
            <a:r>
              <a:rPr lang="en-US" altLang="ko-KR" sz="3200" b="1" kern="0" dirty="0">
                <a:solidFill>
                  <a:srgbClr val="FFC000"/>
                </a:solidFill>
              </a:rPr>
              <a:t> 6 </a:t>
            </a:r>
            <a:r>
              <a:rPr lang="ko-KR" altLang="en-US" sz="3200" b="1" kern="0" dirty="0">
                <a:solidFill>
                  <a:srgbClr val="FFC000"/>
                </a:solidFill>
              </a:rPr>
              <a:t>연습문제 </a:t>
            </a:r>
            <a:r>
              <a:rPr lang="en-US" altLang="ko-KR" sz="3200" b="1" kern="0" dirty="0">
                <a:solidFill>
                  <a:srgbClr val="FFC000"/>
                </a:solidFill>
              </a:rPr>
              <a:t>4</a:t>
            </a:r>
            <a:r>
              <a:rPr lang="ko-KR" altLang="en-US" sz="3200" b="1" kern="0" dirty="0">
                <a:solidFill>
                  <a:srgbClr val="FFC000"/>
                </a:solidFill>
              </a:rPr>
              <a:t>번</a:t>
            </a:r>
            <a:endParaRPr lang="en-US" altLang="ko-KR" sz="3200" b="1" kern="0" dirty="0">
              <a:solidFill>
                <a:srgbClr val="FFC00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800" b="1" kern="0" dirty="0">
                <a:solidFill>
                  <a:prstClr val="white"/>
                </a:solidFill>
              </a:rPr>
              <a:t>KOREA AERO SPACE UNIV.</a:t>
            </a:r>
            <a:endParaRPr lang="ko-KR" altLang="en-US" sz="4400" b="1" kern="0" dirty="0">
              <a:solidFill>
                <a:prstClr val="whit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F163CD-1383-42D0-932A-F541D8239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4" y="2438261"/>
            <a:ext cx="9859751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7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en-US" altLang="ko-KR" sz="2800" b="1" kern="0" dirty="0">
                <a:solidFill>
                  <a:srgbClr val="FFC000"/>
                </a:solidFill>
              </a:rPr>
              <a:t>04  (a)</a:t>
            </a:r>
            <a:endParaRPr lang="ko-KR" altLang="en-US" sz="2800" b="1" kern="0" dirty="0">
              <a:solidFill>
                <a:srgbClr val="FFC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04525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400" b="1" kern="0" dirty="0">
                <a:solidFill>
                  <a:srgbClr val="FFC000"/>
                </a:solidFill>
              </a:rPr>
              <a:t>Q. </a:t>
            </a:r>
            <a:r>
              <a:rPr lang="ko-KR" altLang="en-US" sz="2400" b="1" kern="0" dirty="0">
                <a:solidFill>
                  <a:srgbClr val="FFC000"/>
                </a:solidFill>
              </a:rPr>
              <a:t>예측자는 계열에 기하급수적인 추세가 있다고 결정했습니다</a:t>
            </a:r>
            <a:r>
              <a:rPr lang="en-US" altLang="ko-KR" sz="2400" b="1" kern="0" dirty="0">
                <a:solidFill>
                  <a:srgbClr val="FFC000"/>
                </a:solidFill>
              </a:rPr>
              <a:t>. </a:t>
            </a:r>
            <a:r>
              <a:rPr lang="ko-KR" altLang="en-US" sz="2400" b="1" kern="0" dirty="0">
                <a:solidFill>
                  <a:srgbClr val="FFC000"/>
                </a:solidFill>
              </a:rPr>
              <a:t>이 경향을 설명하는 회귀 기반 모델을 맞추려면 다음 작업 중 어떤 작업을 수행해야 합니까</a:t>
            </a:r>
            <a:r>
              <a:rPr lang="en-US" altLang="ko-KR" sz="2400" b="1" kern="0" dirty="0">
                <a:solidFill>
                  <a:srgbClr val="FFC000"/>
                </a:solidFill>
              </a:rPr>
              <a:t>(</a:t>
            </a:r>
            <a:r>
              <a:rPr lang="ko-KR" altLang="en-US" sz="2400" b="1" kern="0" dirty="0">
                <a:solidFill>
                  <a:srgbClr val="FFC000"/>
                </a:solidFill>
              </a:rPr>
              <a:t>수동으로 또는 </a:t>
            </a:r>
            <a:r>
              <a:rPr lang="en-US" altLang="ko-KR" sz="2400" b="1" kern="0" dirty="0">
                <a:solidFill>
                  <a:srgbClr val="FFC000"/>
                </a:solidFill>
              </a:rPr>
              <a:t>R</a:t>
            </a:r>
            <a:r>
              <a:rPr lang="ko-KR" altLang="en-US" sz="2400" b="1" kern="0" dirty="0">
                <a:solidFill>
                  <a:srgbClr val="FFC000"/>
                </a:solidFill>
              </a:rPr>
              <a:t>의 기능으로</a:t>
            </a:r>
            <a:r>
              <a:rPr lang="en-US" altLang="ko-KR" sz="2400" b="1" kern="0" dirty="0">
                <a:solidFill>
                  <a:srgbClr val="FFC000"/>
                </a:solidFill>
              </a:rPr>
              <a:t>)?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BEF8A-44C8-4A49-9B9B-1157D1858169}"/>
              </a:ext>
            </a:extLst>
          </p:cNvPr>
          <p:cNvSpPr txBox="1"/>
          <p:nvPr/>
        </p:nvSpPr>
        <p:spPr>
          <a:xfrm>
            <a:off x="378372" y="3201854"/>
            <a:ext cx="1150620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Sales(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계열 값 자체</a:t>
            </a: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에 로그를 취하면 됩니다</a:t>
            </a: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지수적인 추세</a:t>
            </a:r>
            <a:r>
              <a:rPr lang="en-US" altLang="ko-KR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8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800" b="1" dirty="0">
              <a:solidFill>
                <a:schemeClr val="bg1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81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04  (b)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04525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훈련 기간으로 처음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 분기만 사용하여 지수 추세와 계절성을 가진 회귀 모델을 구현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25D1B6-0011-43B1-92FD-A9D24EC76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08" y="2464178"/>
            <a:ext cx="5923356" cy="3636346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1F8AFE5-A620-45BB-86FE-477B4DAA8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561365"/>
              </p:ext>
            </p:extLst>
          </p:nvPr>
        </p:nvGraphicFramePr>
        <p:xfrm>
          <a:off x="7225437" y="2464177"/>
          <a:ext cx="4732784" cy="1424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2784">
                  <a:extLst>
                    <a:ext uri="{9D8B030D-6E8A-4147-A177-3AD203B41FA5}">
                      <a16:colId xmlns:a16="http://schemas.microsoft.com/office/drawing/2014/main" val="1672897527"/>
                    </a:ext>
                  </a:extLst>
                </a:gridCol>
              </a:tblGrid>
              <a:tr h="2612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189766"/>
                  </a:ext>
                </a:extLst>
              </a:tr>
              <a:tr h="105887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20</a:t>
                      </a:r>
                      <a:r>
                        <a:rPr lang="ko-KR" altLang="en-US" dirty="0"/>
                        <a:t>개의 분기 데이터를 추출하고 </a:t>
                      </a:r>
                      <a:r>
                        <a:rPr lang="en-US" altLang="ko-KR" dirty="0" err="1"/>
                        <a:t>tslm</a:t>
                      </a:r>
                      <a:r>
                        <a:rPr lang="ko-KR" altLang="en-US" dirty="0"/>
                        <a:t>함수를 이용해서 모델을 생성했습니다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491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75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04  (c)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1356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부분 출력은 표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6.7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나와 있습니다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출력에서 추세를 조정한 후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Q2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매출이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Q1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매출보다 높거나 낮거나 거의 같습니까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79F8D-7F5B-4561-ACDB-57652DC30DE1}"/>
              </a:ext>
            </a:extLst>
          </p:cNvPr>
          <p:cNvSpPr txBox="1"/>
          <p:nvPr/>
        </p:nvSpPr>
        <p:spPr>
          <a:xfrm>
            <a:off x="303486" y="5066083"/>
            <a:ext cx="1150620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추세 조정 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분기 평균 매출은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분기 평균 매출보다 높습니다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A49B82-FC3F-41D0-8E32-88EDA47DD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2070542"/>
            <a:ext cx="7590408" cy="244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72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04  (d)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1356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모델을 사용하여 분기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21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및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22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매출 예측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CF18B1-15F2-4EBD-815B-72F79913C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1" y="1790509"/>
            <a:ext cx="6013549" cy="3276981"/>
          </a:xfrm>
          <a:prstGeom prst="rect">
            <a:avLst/>
          </a:prstGeom>
        </p:spPr>
      </p:pic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FA859B4A-C33A-43D6-8336-A31499BDF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353210"/>
              </p:ext>
            </p:extLst>
          </p:nvPr>
        </p:nvGraphicFramePr>
        <p:xfrm>
          <a:off x="6434252" y="3907660"/>
          <a:ext cx="4935984" cy="1424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5984">
                  <a:extLst>
                    <a:ext uri="{9D8B030D-6E8A-4147-A177-3AD203B41FA5}">
                      <a16:colId xmlns:a16="http://schemas.microsoft.com/office/drawing/2014/main" val="1672897527"/>
                    </a:ext>
                  </a:extLst>
                </a:gridCol>
              </a:tblGrid>
              <a:tr h="261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189766"/>
                  </a:ext>
                </a:extLst>
              </a:tr>
              <a:tr h="105887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20</a:t>
                      </a:r>
                      <a:r>
                        <a:rPr lang="ko-KR" altLang="en-US" dirty="0"/>
                        <a:t>개의 분기로 예측한 예측 값은 실제      데이터 값보다 근소하게 적었지만 거의 </a:t>
                      </a:r>
                      <a:r>
                        <a:rPr lang="en-US" altLang="ko-KR" dirty="0"/>
                        <a:t>   </a:t>
                      </a:r>
                      <a:r>
                        <a:rPr lang="ko-KR" altLang="en-US" dirty="0"/>
                        <a:t>유사한 것을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49103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7443E874-699C-4992-8C98-67E837661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407" y="2264178"/>
            <a:ext cx="1567485" cy="5598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CD80853-CC2A-46EF-A091-09A42D7D4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720" y="2271882"/>
            <a:ext cx="3376882" cy="628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DDA3867-C401-48DB-85E4-B67FB9DA29F6}"/>
              </a:ext>
            </a:extLst>
          </p:cNvPr>
          <p:cNvSpPr txBox="1"/>
          <p:nvPr/>
        </p:nvSpPr>
        <p:spPr>
          <a:xfrm>
            <a:off x="6096000" y="1740666"/>
            <a:ext cx="3376882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예측한 </a:t>
            </a:r>
            <a:r>
              <a:rPr lang="en-US" altLang="ko-KR" sz="14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21</a:t>
            </a:r>
            <a:r>
              <a:rPr lang="ko-KR" altLang="en-US" sz="1400" b="1" dirty="0">
                <a:solidFill>
                  <a:schemeClr val="bg1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분기와 </a:t>
            </a:r>
            <a:r>
              <a:rPr lang="en-US" altLang="ko-KR" sz="1400" b="1" dirty="0">
                <a:solidFill>
                  <a:schemeClr val="bg1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22 </a:t>
            </a:r>
            <a:r>
              <a:rPr lang="ko-KR" altLang="en-US" sz="1400" b="1" dirty="0">
                <a:solidFill>
                  <a:schemeClr val="bg1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분기</a:t>
            </a:r>
            <a:endParaRPr lang="en-US" altLang="ko-KR" sz="1400" b="1" dirty="0">
              <a:solidFill>
                <a:schemeClr val="bg1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1D80B1-776F-4472-B947-CC37BF7127C8}"/>
              </a:ext>
            </a:extLst>
          </p:cNvPr>
          <p:cNvSpPr txBox="1"/>
          <p:nvPr/>
        </p:nvSpPr>
        <p:spPr>
          <a:xfrm>
            <a:off x="10230407" y="1766459"/>
            <a:ext cx="3376882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bg1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실제 데이터</a:t>
            </a:r>
            <a:endParaRPr lang="en-US" altLang="ko-KR" sz="1400" b="1" dirty="0">
              <a:solidFill>
                <a:schemeClr val="bg1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49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04  (e)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1" y="1129597"/>
            <a:ext cx="115887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6.13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표시된 플롯은 이 회귀 모델의 적합도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상단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및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forecast errors(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하단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설명합니다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kern="0" dirty="0" err="1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i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플롯을 다시 만드십시오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000813-ADBA-443C-97E4-096312CB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2623102"/>
            <a:ext cx="5347725" cy="36771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148B6D-9864-45C5-B823-79E20E997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004" y="2623101"/>
            <a:ext cx="5225988" cy="367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9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04  (e)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13564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6.13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표시된 플롯은 이 회귀 모델의 적합도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상단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및 예측 오차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하단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설명합니다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latinLnBrk="0"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ii.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플롯을 바탕으로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Q21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및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Q22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분기에 대한 예측에 대해 무엇을 말할 수 있습니까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그들이 실제 판매 가치에 대해 과대 예측하거나 과소 예측하거나 합리적으로 근접할 가능성이 있습니까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79F8D-7F5B-4561-ACDB-57652DC30DE1}"/>
              </a:ext>
            </a:extLst>
          </p:cNvPr>
          <p:cNvSpPr txBox="1"/>
          <p:nvPr/>
        </p:nvSpPr>
        <p:spPr>
          <a:xfrm>
            <a:off x="5942286" y="2772435"/>
            <a:ext cx="571762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특히 후반부에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잔차가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Times New Roman" panose="02020603050405020304" pitchFamily="18" charset="0"/>
              </a:rPr>
              <a:t> 더 크게 진행되기 때문에   예측이 과소 예측될 가능성이 높습니다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319B59-52DC-4F97-B3AF-AC93AF18D250}"/>
              </a:ext>
            </a:extLst>
          </p:cNvPr>
          <p:cNvSpPr/>
          <p:nvPr/>
        </p:nvSpPr>
        <p:spPr>
          <a:xfrm>
            <a:off x="303486" y="4085565"/>
            <a:ext cx="11356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5AB86F0-D927-4F29-A36D-34B6E872B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2569835"/>
            <a:ext cx="5225988" cy="367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80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04  (f)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1129597"/>
            <a:ext cx="11356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잔차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그림을 볼 때 다음 설명 중 참으로 보이는 것은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FAB267D5-B3CC-4F7F-84EF-E1FDEDB78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173658"/>
              </p:ext>
            </p:extLst>
          </p:nvPr>
        </p:nvGraphicFramePr>
        <p:xfrm>
          <a:off x="378372" y="2740601"/>
          <a:ext cx="9077266" cy="2891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8633">
                  <a:extLst>
                    <a:ext uri="{9D8B030D-6E8A-4147-A177-3AD203B41FA5}">
                      <a16:colId xmlns:a16="http://schemas.microsoft.com/office/drawing/2014/main" val="1657658766"/>
                    </a:ext>
                  </a:extLst>
                </a:gridCol>
                <a:gridCol w="4538633">
                  <a:extLst>
                    <a:ext uri="{9D8B030D-6E8A-4147-A177-3AD203B41FA5}">
                      <a16:colId xmlns:a16="http://schemas.microsoft.com/office/drawing/2014/main" val="2219442640"/>
                    </a:ext>
                  </a:extLst>
                </a:gridCol>
              </a:tblGrid>
              <a:tr h="44229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386501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Seasonality  is  not  captured  well.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잔차에</a:t>
                      </a:r>
                      <a:r>
                        <a:rPr lang="ko-KR" altLang="ko-KR" dirty="0"/>
                        <a:t> 계절적 패턴이 없</a:t>
                      </a:r>
                      <a:r>
                        <a:rPr lang="ko-KR" altLang="en-US" dirty="0"/>
                        <a:t>으므로 거짓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40120"/>
                  </a:ext>
                </a:extLst>
              </a:tr>
              <a:tr h="1018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The  regression  model  ﬁts  the  data  well.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잔차가</a:t>
                      </a:r>
                      <a:r>
                        <a:rPr lang="ko-KR" altLang="ko-KR" dirty="0"/>
                        <a:t> 0을 중심으로 잘 분포되어 있지 않고 </a:t>
                      </a:r>
                      <a:r>
                        <a:rPr lang="ko-KR" altLang="ko-KR" dirty="0" err="1"/>
                        <a:t>잔차에</a:t>
                      </a:r>
                      <a:r>
                        <a:rPr lang="ko-KR" altLang="ko-KR" dirty="0"/>
                        <a:t> 패턴이 있는 것처럼 보이기 때문에 거짓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25190"/>
                  </a:ext>
                </a:extLst>
              </a:tr>
              <a:tr h="1018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The  trend  in  the  data  is  not  captured  well  by  the  model.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추세가 잘 포착되지 않음을 나타내는 </a:t>
                      </a:r>
                      <a:r>
                        <a:rPr lang="ko-KR" altLang="ko-KR" dirty="0" err="1"/>
                        <a:t>잔차에</a:t>
                      </a:r>
                      <a:r>
                        <a:rPr lang="ko-KR" altLang="ko-KR" dirty="0"/>
                        <a:t> 패턴이 있는 것처럼 </a:t>
                      </a:r>
                      <a:r>
                        <a:rPr lang="ko-KR" altLang="en-US" dirty="0"/>
                        <a:t>보여서 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316387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58B9CFA4-C8A5-4C1F-B7FC-4383F2EF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570" y="232417"/>
            <a:ext cx="4049430" cy="210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25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178765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04  (g)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8372" y="928154"/>
            <a:ext cx="11356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Q. 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다음 중 모델 적합도를 개선하기 위한 적절하고 간결한 솔루션은 무엇입니까</a:t>
            </a: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4F30E773-CB37-48F4-AC3A-4A5375AB3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218403"/>
              </p:ext>
            </p:extLst>
          </p:nvPr>
        </p:nvGraphicFramePr>
        <p:xfrm>
          <a:off x="5344357" y="1815986"/>
          <a:ext cx="677366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1620">
                  <a:extLst>
                    <a:ext uri="{9D8B030D-6E8A-4147-A177-3AD203B41FA5}">
                      <a16:colId xmlns:a16="http://schemas.microsoft.com/office/drawing/2014/main" val="4216609246"/>
                    </a:ext>
                  </a:extLst>
                </a:gridCol>
                <a:gridCol w="2672042">
                  <a:extLst>
                    <a:ext uri="{9D8B030D-6E8A-4147-A177-3AD203B41FA5}">
                      <a16:colId xmlns:a16="http://schemas.microsoft.com/office/drawing/2014/main" val="3212935457"/>
                    </a:ext>
                  </a:extLst>
                </a:gridCol>
              </a:tblGrid>
              <a:tr h="32135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497923"/>
                  </a:ext>
                </a:extLst>
              </a:tr>
              <a:tr h="9805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Fit  a  quadratic  trend  model  to  the  residuals  (with  Quarter and  Quarter2.)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차 식의 추세모델을  잔차에다가 적용을 해보는 것은 아닌 것 같습니다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613043"/>
                  </a:ext>
                </a:extLst>
              </a:tr>
              <a:tr h="1285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Fit  a  quadratic  trend  model  to  Sales  (with  Quarter  and Quarter2.)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차 식의 추세모델을   원래 계열인 </a:t>
                      </a:r>
                      <a:r>
                        <a:rPr lang="en-US" altLang="ko-KR" dirty="0"/>
                        <a:t>Sales</a:t>
                      </a:r>
                      <a:r>
                        <a:rPr lang="ko-KR" altLang="en-US" dirty="0"/>
                        <a:t>에다가 적용을 해보는 것이 적절한 솔루션 인 것 같습니다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86759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0D6328F-205D-4B5C-98B9-E26C17D33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4057095"/>
            <a:ext cx="4793941" cy="264825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CE48C0B-2CB4-4FDD-8D7A-C58C534FA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73" y="1419209"/>
            <a:ext cx="4793940" cy="2497258"/>
          </a:xfrm>
          <a:prstGeom prst="rect">
            <a:avLst/>
          </a:prstGeom>
        </p:spPr>
      </p:pic>
      <p:graphicFrame>
        <p:nvGraphicFramePr>
          <p:cNvPr id="11" name="표 4">
            <a:extLst>
              <a:ext uri="{FF2B5EF4-FFF2-40B4-BE49-F238E27FC236}">
                <a16:creationId xmlns:a16="http://schemas.microsoft.com/office/drawing/2014/main" id="{5CD8D17E-D618-4313-8D8F-F10EB5B8F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307942"/>
              </p:ext>
            </p:extLst>
          </p:nvPr>
        </p:nvGraphicFramePr>
        <p:xfrm>
          <a:off x="5440906" y="5116428"/>
          <a:ext cx="6640498" cy="1424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0498">
                  <a:extLst>
                    <a:ext uri="{9D8B030D-6E8A-4147-A177-3AD203B41FA5}">
                      <a16:colId xmlns:a16="http://schemas.microsoft.com/office/drawing/2014/main" val="1672897527"/>
                    </a:ext>
                  </a:extLst>
                </a:gridCol>
              </a:tblGrid>
              <a:tr h="2612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exponential trend </a:t>
                      </a:r>
                      <a:r>
                        <a:rPr lang="ko-KR" altLang="en-US" dirty="0"/>
                        <a:t>과 </a:t>
                      </a:r>
                      <a:r>
                        <a:rPr lang="en-US" altLang="ko-KR" dirty="0"/>
                        <a:t>Quadratic Trend Model</a:t>
                      </a:r>
                      <a:r>
                        <a:rPr lang="ko-KR" altLang="en-US" dirty="0"/>
                        <a:t>를 비교해보기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189766"/>
                  </a:ext>
                </a:extLst>
              </a:tr>
              <a:tr h="105887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err="1"/>
                        <a:t>잔차를</a:t>
                      </a:r>
                      <a:r>
                        <a:rPr lang="ko-KR" altLang="en-US" dirty="0"/>
                        <a:t> 가지고 비교를 해보면</a:t>
                      </a:r>
                      <a:r>
                        <a:rPr lang="en-US" altLang="ko-KR" dirty="0"/>
                        <a:t>, Quadratic Trend Model</a:t>
                      </a:r>
                      <a:r>
                        <a:rPr lang="ko-KR" altLang="en-US" dirty="0"/>
                        <a:t>이 </a:t>
                      </a:r>
                      <a:r>
                        <a:rPr lang="ko-KR" altLang="en-US" dirty="0" err="1"/>
                        <a:t>잔차의</a:t>
                      </a:r>
                      <a:r>
                        <a:rPr lang="ko-KR" altLang="en-US" dirty="0"/>
                        <a:t> 폭이 작기 때문에 더 적합 한 것 같습니다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491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547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99683CD-5327-43A5-BBDB-DEE950C00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24" y="1243661"/>
            <a:ext cx="9144000" cy="2387600"/>
          </a:xfrm>
          <a:solidFill>
            <a:srgbClr val="354BA1"/>
          </a:solidFill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292500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7BFF985544F2743B28ACC715ADD8BA6" ma:contentTypeVersion="6" ma:contentTypeDescription="새 문서를 만듭니다." ma:contentTypeScope="" ma:versionID="9989f32a0a98f6e0a033ac716a142466">
  <xsd:schema xmlns:xsd="http://www.w3.org/2001/XMLSchema" xmlns:xs="http://www.w3.org/2001/XMLSchema" xmlns:p="http://schemas.microsoft.com/office/2006/metadata/properties" xmlns:ns2="ef95c4c0-bf8b-426c-ad8a-ca26a879c726" targetNamespace="http://schemas.microsoft.com/office/2006/metadata/properties" ma:root="true" ma:fieldsID="b1b0f4ec7a4b0e812ba6cadb2c446972" ns2:_="">
    <xsd:import namespace="ef95c4c0-bf8b-426c-ad8a-ca26a879c7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5c4c0-bf8b-426c-ad8a-ca26a879c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2179EB-61C1-45DF-BBCA-F7F7E4193D4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686537D-DF0B-4BE3-9A4C-93C63B4EA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95c4c0-bf8b-426c-ad8a-ca26a879c7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E96D98-BA92-442D-A9AE-EF94A58965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3797</TotalTime>
  <Words>466</Words>
  <Application>Microsoft Office PowerPoint</Application>
  <PresentationFormat>와이드스크린</PresentationFormat>
  <Paragraphs>45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ok7624583@daum.net</cp:lastModifiedBy>
  <cp:revision>135</cp:revision>
  <dcterms:created xsi:type="dcterms:W3CDTF">2020-08-28T03:04:35Z</dcterms:created>
  <dcterms:modified xsi:type="dcterms:W3CDTF">2022-02-09T06:07:41Z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0x01010057BFF985544F2743B28ACC715ADD8BA6</vt:lpwstr>
  </property>
</Properties>
</file>