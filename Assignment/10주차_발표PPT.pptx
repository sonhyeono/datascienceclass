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323" r:id="rId8"/>
    <p:sldId id="314" r:id="rId9"/>
    <p:sldId id="318" r:id="rId10"/>
    <p:sldId id="324" r:id="rId11"/>
    <p:sldId id="320" r:id="rId12"/>
    <p:sldId id="26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10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75605" y="3653803"/>
            <a:ext cx="29963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2016125032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altLang="ko-KR" sz="3200" b="1" kern="0" dirty="0">
                <a:solidFill>
                  <a:srgbClr val="FFC000"/>
                </a:solidFill>
              </a:rPr>
              <a:t>ARIMA </a:t>
            </a:r>
            <a:r>
              <a:rPr lang="ko-KR" altLang="en-US" sz="3200" b="1" kern="0" dirty="0">
                <a:solidFill>
                  <a:srgbClr val="FFC000"/>
                </a:solidFill>
              </a:rPr>
              <a:t>모델을 적용하여 </a:t>
            </a:r>
            <a:r>
              <a:rPr lang="en-US" altLang="ko-KR" sz="3200" b="1" kern="0" dirty="0">
                <a:solidFill>
                  <a:srgbClr val="FFC000"/>
                </a:solidFill>
              </a:rPr>
              <a:t>5</a:t>
            </a:r>
            <a:r>
              <a:rPr lang="ko-KR" altLang="en-US" sz="3200" b="1" kern="0" dirty="0">
                <a:solidFill>
                  <a:srgbClr val="FFC000"/>
                </a:solidFill>
              </a:rPr>
              <a:t>가지 수행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algn="ctr" latinLnBrk="0"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F5209-D5CA-40B4-B2C4-A10902AC1B23}"/>
              </a:ext>
            </a:extLst>
          </p:cNvPr>
          <p:cNvSpPr/>
          <p:nvPr/>
        </p:nvSpPr>
        <p:spPr>
          <a:xfrm>
            <a:off x="5548544" y="1542002"/>
            <a:ext cx="62204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fpp3</a:t>
            </a:r>
            <a:r>
              <a:rPr lang="ko-KR" altLang="en-US" sz="2400" b="1" kern="0" dirty="0">
                <a:solidFill>
                  <a:srgbClr val="FFC000"/>
                </a:solidFill>
              </a:rPr>
              <a:t>의 시계열 데이터 중 하나인 </a:t>
            </a:r>
            <a:r>
              <a:rPr lang="en-US" altLang="ko-KR" sz="2400" b="1" kern="0" dirty="0" err="1">
                <a:solidFill>
                  <a:srgbClr val="FFC000"/>
                </a:solidFill>
              </a:rPr>
              <a:t>us_change</a:t>
            </a:r>
            <a:r>
              <a:rPr lang="en-US" altLang="ko-KR" sz="2400" b="1" kern="0" dirty="0">
                <a:solidFill>
                  <a:srgbClr val="FFC000"/>
                </a:solidFill>
              </a:rPr>
              <a:t> </a:t>
            </a:r>
            <a:r>
              <a:rPr lang="ko-KR" altLang="en-US" sz="2400" b="1" kern="0" dirty="0">
                <a:solidFill>
                  <a:srgbClr val="FFC000"/>
                </a:solidFill>
              </a:rPr>
              <a:t>데이터를 선택</a:t>
            </a:r>
            <a:endParaRPr lang="en-US" altLang="ko-KR" sz="2400" b="1" kern="0" dirty="0">
              <a:solidFill>
                <a:srgbClr val="FFC000"/>
              </a:solidFill>
            </a:endParaRPr>
          </a:p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( 9</a:t>
            </a:r>
            <a:r>
              <a:rPr lang="ko-KR" altLang="en-US" sz="2400" b="1" kern="0" dirty="0">
                <a:solidFill>
                  <a:srgbClr val="FFC000"/>
                </a:solidFill>
              </a:rPr>
              <a:t>주차에 분석한 </a:t>
            </a:r>
            <a:r>
              <a:rPr lang="en-US" altLang="ko-KR" sz="2400" b="1" kern="0" dirty="0" err="1">
                <a:solidFill>
                  <a:srgbClr val="FFC000"/>
                </a:solidFill>
              </a:rPr>
              <a:t>us_gasoline</a:t>
            </a:r>
            <a:r>
              <a:rPr lang="en-US" altLang="ko-KR" sz="2400" b="1" kern="0" dirty="0">
                <a:solidFill>
                  <a:srgbClr val="FFC000"/>
                </a:solidFill>
              </a:rPr>
              <a:t>, </a:t>
            </a:r>
            <a:r>
              <a:rPr lang="en-US" altLang="ko-KR" sz="2400" b="1" kern="0" dirty="0" err="1">
                <a:solidFill>
                  <a:srgbClr val="FFC000"/>
                </a:solidFill>
              </a:rPr>
              <a:t>Canadian_gas</a:t>
            </a:r>
            <a:r>
              <a:rPr lang="en-US" altLang="ko-KR" sz="2400" b="1" kern="0" dirty="0">
                <a:solidFill>
                  <a:srgbClr val="FFC000"/>
                </a:solidFill>
              </a:rPr>
              <a:t> </a:t>
            </a:r>
            <a:r>
              <a:rPr lang="ko-KR" altLang="en-US" sz="2400" b="1" kern="0" dirty="0">
                <a:solidFill>
                  <a:srgbClr val="FFC000"/>
                </a:solidFill>
              </a:rPr>
              <a:t>데이터 셋과 다른 것을 고름</a:t>
            </a:r>
            <a:r>
              <a:rPr lang="en-US" altLang="ko-KR" sz="2400" b="1" kern="0" dirty="0">
                <a:solidFill>
                  <a:srgbClr val="FFC000"/>
                </a:solidFill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313832-87CA-4663-8076-0B8C963E9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5" y="1587750"/>
            <a:ext cx="4626687" cy="39391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90BA43-BE6E-4C8F-8931-DCADB8757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15" y="3429000"/>
            <a:ext cx="2392067" cy="53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1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3200" b="1" kern="0" dirty="0">
                <a:solidFill>
                  <a:srgbClr val="FFC000"/>
                </a:solidFill>
              </a:rPr>
              <a:t>정상성 테스트</a:t>
            </a:r>
            <a:endParaRPr lang="en-US" altLang="ko-KR" sz="3200" b="1" kern="0" dirty="0">
              <a:solidFill>
                <a:srgbClr val="FFC000"/>
              </a:solidFill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67173"/>
              </p:ext>
            </p:extLst>
          </p:nvPr>
        </p:nvGraphicFramePr>
        <p:xfrm>
          <a:off x="7972147" y="1377859"/>
          <a:ext cx="3533313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Us_change</a:t>
                      </a:r>
                      <a:r>
                        <a:rPr lang="ko-KR" altLang="en-US" dirty="0"/>
                        <a:t>의 경우는 추세패턴은 없고 계절성 패턴은 보이지 않음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따라서 이 계열은 비정상 계열임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551B18F-91E0-4797-BF2D-659EEF066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377859"/>
            <a:ext cx="7562593" cy="45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9CEB7F5-EE55-4805-B6CD-AFF0C479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9" y="1255813"/>
            <a:ext cx="8281207" cy="491764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급수 선택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874721"/>
              </p:ext>
            </p:extLst>
          </p:nvPr>
        </p:nvGraphicFramePr>
        <p:xfrm>
          <a:off x="8361106" y="1255813"/>
          <a:ext cx="3830893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089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Us_change</a:t>
                      </a:r>
                      <a:r>
                        <a:rPr lang="ko-KR" altLang="en-US" dirty="0"/>
                        <a:t> 데이터의 </a:t>
                      </a: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 err="1"/>
                        <a:t>pacf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plot</a:t>
                      </a:r>
                      <a:r>
                        <a:rPr lang="ko-KR" altLang="en-US" dirty="0"/>
                        <a:t>을 살펴보면 두 </a:t>
                      </a:r>
                      <a:r>
                        <a:rPr lang="en-US" altLang="ko-KR" dirty="0"/>
                        <a:t>plot </a:t>
                      </a:r>
                      <a:r>
                        <a:rPr lang="ko-KR" altLang="en-US" dirty="0"/>
                        <a:t>모두 진동하면서 지수적으로 감쇄하는 패턴으로 보아 계열이 정상이라고 할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또한 </a:t>
                      </a:r>
                      <a:r>
                        <a:rPr lang="en-US" altLang="ko-KR" dirty="0" err="1"/>
                        <a:t>acf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 err="1"/>
                        <a:t>pacf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에서 마지막 유의미한 값이 나타남으로     급수는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임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ACF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MA(3) , PCAF  AR(3)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E4950203-5DF3-4B29-A01F-4A1A3B1351DA}"/>
              </a:ext>
            </a:extLst>
          </p:cNvPr>
          <p:cNvSpPr/>
          <p:nvPr/>
        </p:nvSpPr>
        <p:spPr>
          <a:xfrm>
            <a:off x="985421" y="3787478"/>
            <a:ext cx="177554" cy="14325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EB58E63-9491-4CFD-BBB4-990FDE1EB956}"/>
              </a:ext>
            </a:extLst>
          </p:cNvPr>
          <p:cNvSpPr/>
          <p:nvPr/>
        </p:nvSpPr>
        <p:spPr>
          <a:xfrm>
            <a:off x="5106140" y="4186973"/>
            <a:ext cx="177554" cy="111299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82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적용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386644"/>
              </p:ext>
            </p:extLst>
          </p:nvPr>
        </p:nvGraphicFramePr>
        <p:xfrm>
          <a:off x="7786255" y="1348845"/>
          <a:ext cx="4170219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021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급수에 맞게 </a:t>
                      </a:r>
                      <a:r>
                        <a:rPr lang="en-US" altLang="ko-KR" dirty="0"/>
                        <a:t>ARIMA(3,0,0) </a:t>
                      </a:r>
                      <a:r>
                        <a:rPr lang="ko-KR" altLang="en-US" dirty="0"/>
                        <a:t>또는</a:t>
                      </a:r>
                      <a:r>
                        <a:rPr lang="en-US" altLang="ko-KR" dirty="0"/>
                        <a:t> ARIMA(0,0,3) </a:t>
                      </a:r>
                      <a:r>
                        <a:rPr lang="ko-KR" altLang="en-US" dirty="0"/>
                        <a:t>을 선택하였음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D</a:t>
                      </a:r>
                      <a:r>
                        <a:rPr lang="ko-KR" altLang="en-US" dirty="0"/>
                        <a:t>를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으로 한 이유는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차분을    한 결과를 이용하지 않았기 때문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차분을 이용한 결과는 </a:t>
                      </a:r>
                      <a:r>
                        <a:rPr lang="en-US" altLang="ko-KR" dirty="0" err="1"/>
                        <a:t>auto.ARIMA</a:t>
                      </a:r>
                      <a:r>
                        <a:rPr lang="ko-KR" altLang="en-US" dirty="0"/>
                        <a:t>보다 </a:t>
                      </a:r>
                      <a:r>
                        <a:rPr lang="en-US" altLang="ko-KR" dirty="0" err="1"/>
                        <a:t>AICc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BIC</a:t>
                      </a:r>
                      <a:r>
                        <a:rPr lang="ko-KR" altLang="en-US" dirty="0"/>
                        <a:t>가 컸음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541AE113-ADC0-42A3-AD19-434BEB84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324645"/>
            <a:ext cx="7280540" cy="511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 해석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3505"/>
              </p:ext>
            </p:extLst>
          </p:nvPr>
        </p:nvGraphicFramePr>
        <p:xfrm>
          <a:off x="7168584" y="493428"/>
          <a:ext cx="3533313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ARIMA(3,0,0) , ARIMA(0,0,3) , </a:t>
                      </a:r>
                      <a:r>
                        <a:rPr lang="en-US" altLang="ko-KR" dirty="0" err="1"/>
                        <a:t>auto.ARIMA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결과임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뒷장 계속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C9188EFB-5F3C-48D5-A169-5758B71F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53" y="1371599"/>
            <a:ext cx="6429543" cy="519559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C6CDCD-5FBE-4C14-8E33-77217606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516" y="2732724"/>
            <a:ext cx="6725484" cy="22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0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 해석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41F25EFC-0263-4100-9575-D22B67BF9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98153"/>
              </p:ext>
            </p:extLst>
          </p:nvPr>
        </p:nvGraphicFramePr>
        <p:xfrm>
          <a:off x="133165" y="1567745"/>
          <a:ext cx="6980942" cy="3711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470">
                  <a:extLst>
                    <a:ext uri="{9D8B030D-6E8A-4147-A177-3AD203B41FA5}">
                      <a16:colId xmlns:a16="http://schemas.microsoft.com/office/drawing/2014/main" val="2397209859"/>
                    </a:ext>
                  </a:extLst>
                </a:gridCol>
                <a:gridCol w="1745236">
                  <a:extLst>
                    <a:ext uri="{9D8B030D-6E8A-4147-A177-3AD203B41FA5}">
                      <a16:colId xmlns:a16="http://schemas.microsoft.com/office/drawing/2014/main" val="919590752"/>
                    </a:ext>
                  </a:extLst>
                </a:gridCol>
                <a:gridCol w="1745236">
                  <a:extLst>
                    <a:ext uri="{9D8B030D-6E8A-4147-A177-3AD203B41FA5}">
                      <a16:colId xmlns:a16="http://schemas.microsoft.com/office/drawing/2014/main" val="3233548249"/>
                    </a:ext>
                  </a:extLst>
                </a:gridCol>
              </a:tblGrid>
              <a:tr h="4801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AICc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813746"/>
                  </a:ext>
                </a:extLst>
              </a:tr>
              <a:tr h="556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ARIMA(3,0,0)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349.56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371.99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07340"/>
                  </a:ext>
                </a:extLst>
              </a:tr>
              <a:tr h="556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ARIMA(0,0,3)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350.52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372.95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82842"/>
                  </a:ext>
                </a:extLst>
              </a:tr>
              <a:tr h="556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ARIMA(3,1,0)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364.87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387.26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043777"/>
                  </a:ext>
                </a:extLst>
              </a:tr>
              <a:tr h="556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ARIMA(0,1,3)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365.08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384.34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4523"/>
                  </a:ext>
                </a:extLst>
              </a:tr>
              <a:tr h="2781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Auto.ARIMA</a:t>
                      </a:r>
                      <a:r>
                        <a:rPr lang="en-US" altLang="ko-KR" dirty="0"/>
                        <a:t>(1,0,3) / </a:t>
                      </a:r>
                      <a:r>
                        <a:rPr lang="ko-KR" altLang="en-US" dirty="0"/>
                        <a:t>파라미터</a:t>
                      </a:r>
                      <a:r>
                        <a:rPr lang="en-US" altLang="ko-KR" dirty="0"/>
                        <a:t> 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353.92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379.46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048024"/>
                  </a:ext>
                </a:extLst>
              </a:tr>
              <a:tr h="2781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Auto.ARIMA</a:t>
                      </a:r>
                      <a:r>
                        <a:rPr lang="en-US" altLang="ko-KR" dirty="0"/>
                        <a:t>(3,0,0) / </a:t>
                      </a:r>
                      <a:r>
                        <a:rPr lang="ko-KR" altLang="en-US" dirty="0"/>
                        <a:t>파라미터 다 채웠을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349.56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371.99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5551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AB8B9C9-74D3-4CE5-97F1-97477B50C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703230"/>
              </p:ext>
            </p:extLst>
          </p:nvPr>
        </p:nvGraphicFramePr>
        <p:xfrm>
          <a:off x="7353804" y="1548792"/>
          <a:ext cx="4346965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6965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이중에서 </a:t>
                      </a:r>
                      <a:r>
                        <a:rPr lang="en-US" altLang="ko-KR" dirty="0"/>
                        <a:t>ARIMA(3,0,0)</a:t>
                      </a:r>
                      <a:r>
                        <a:rPr lang="ko-KR" altLang="en-US" dirty="0"/>
                        <a:t>이 </a:t>
                      </a:r>
                      <a:r>
                        <a:rPr lang="en-US" altLang="ko-KR" dirty="0" err="1"/>
                        <a:t>AICc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BIC</a:t>
                      </a:r>
                      <a:r>
                        <a:rPr lang="ko-KR" altLang="en-US" dirty="0"/>
                        <a:t>가 제일 작은 것을 확인 할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Auto.ARIMA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파라미터 </a:t>
                      </a:r>
                      <a:r>
                        <a:rPr lang="en-US" altLang="ko-KR" dirty="0"/>
                        <a:t>X)</a:t>
                      </a:r>
                      <a:r>
                        <a:rPr lang="ko-KR" altLang="en-US" dirty="0"/>
                        <a:t>의 경우는 모든 가능한 모델을 고려하지 않기 때문에 </a:t>
                      </a:r>
                      <a:r>
                        <a:rPr lang="en-US" altLang="ko-KR" dirty="0"/>
                        <a:t>ARIMA(3,0,0)</a:t>
                      </a:r>
                      <a:r>
                        <a:rPr lang="ko-KR" altLang="en-US" dirty="0"/>
                        <a:t>의 결과 보다 </a:t>
                      </a:r>
                      <a:r>
                        <a:rPr lang="en-US" altLang="ko-KR" dirty="0" err="1"/>
                        <a:t>AICc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BIC</a:t>
                      </a:r>
                      <a:r>
                        <a:rPr lang="ko-KR" altLang="en-US" dirty="0"/>
                        <a:t>가 큼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Pdq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p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3(d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q</a:t>
                      </a:r>
                      <a:r>
                        <a:rPr lang="ko-KR" altLang="en-US" dirty="0"/>
                        <a:t>는 </a:t>
                      </a:r>
                      <a:r>
                        <a:rPr lang="en-US" altLang="ko-KR" dirty="0"/>
                        <a:t>0)</a:t>
                      </a:r>
                      <a:r>
                        <a:rPr lang="ko-KR" altLang="en-US" dirty="0"/>
                        <a:t>인 것이 좋은 모델인 것으로 보아 </a:t>
                      </a:r>
                      <a:r>
                        <a:rPr lang="en-US" altLang="ko-KR" dirty="0"/>
                        <a:t>AR</a:t>
                      </a:r>
                      <a:r>
                        <a:rPr lang="ko-KR" altLang="en-US" dirty="0"/>
                        <a:t>모델 급수만 존재</a:t>
                      </a: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실용적으로 </a:t>
                      </a:r>
                      <a:r>
                        <a:rPr lang="en-US" altLang="ko-KR" dirty="0"/>
                        <a:t>AR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모델의 급수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모델의 급수 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 존재하는 경우는 </a:t>
                      </a:r>
                      <a:r>
                        <a:rPr lang="ko-KR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드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AE77936-5E5A-41F2-9E75-07F1DFE3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5" y="5403165"/>
            <a:ext cx="5450666" cy="134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2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평가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971299"/>
              </p:ext>
            </p:extLst>
          </p:nvPr>
        </p:nvGraphicFramePr>
        <p:xfrm>
          <a:off x="7093527" y="1346249"/>
          <a:ext cx="509847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7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모델 중에서 </a:t>
                      </a:r>
                      <a:r>
                        <a:rPr lang="en-US" altLang="ko-KR" dirty="0"/>
                        <a:t>ARIMA(3,0,0)</a:t>
                      </a:r>
                      <a:r>
                        <a:rPr lang="ko-KR" altLang="en-US" dirty="0"/>
                        <a:t>이 </a:t>
                      </a:r>
                      <a:r>
                        <a:rPr lang="en-US" altLang="ko-KR" dirty="0" err="1"/>
                        <a:t>AICc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BIC</a:t>
                      </a:r>
                      <a:r>
                        <a:rPr lang="ko-KR" altLang="en-US" dirty="0"/>
                        <a:t>가 제일 작은 것을 확인 할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Auto.ARIMA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파라미터중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approximation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stepwise</a:t>
                      </a:r>
                      <a:r>
                        <a:rPr lang="ko-KR" altLang="en-US" dirty="0"/>
                        <a:t>의 값을 </a:t>
                      </a:r>
                      <a:r>
                        <a:rPr lang="en-US" altLang="ko-KR" dirty="0"/>
                        <a:t>FALSE,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greedy</a:t>
                      </a:r>
                      <a:r>
                        <a:rPr lang="ko-KR" altLang="en-US" dirty="0"/>
                        <a:t> 값을 </a:t>
                      </a:r>
                      <a:r>
                        <a:rPr lang="en-US" altLang="ko-KR" dirty="0"/>
                        <a:t>TRUE</a:t>
                      </a:r>
                      <a:r>
                        <a:rPr lang="ko-KR" altLang="en-US" dirty="0"/>
                        <a:t>로 </a:t>
                      </a:r>
                      <a:r>
                        <a:rPr lang="ko-KR" altLang="en-US" dirty="0" err="1"/>
                        <a:t>하니깐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ARIMA(</a:t>
                      </a:r>
                      <a:r>
                        <a:rPr lang="en-US" altLang="ko-KR"/>
                        <a:t>3,0,0)</a:t>
                      </a:r>
                      <a:r>
                        <a:rPr lang="ko-KR" altLang="en-US"/>
                        <a:t>으로 </a:t>
                      </a:r>
                      <a:r>
                        <a:rPr lang="ko-KR" altLang="en-US" dirty="0"/>
                        <a:t>결과 값으로 나옴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즉 </a:t>
                      </a:r>
                      <a:r>
                        <a:rPr lang="ko-KR" altLang="en-US" dirty="0" err="1"/>
                        <a:t>모델중에서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ARIMA(3,0,0)</a:t>
                      </a:r>
                      <a:r>
                        <a:rPr lang="ko-KR" altLang="en-US" dirty="0"/>
                        <a:t>이 </a:t>
                      </a:r>
                      <a:r>
                        <a:rPr lang="en-US" altLang="ko-KR" dirty="0" err="1"/>
                        <a:t>AICc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BIC</a:t>
                      </a:r>
                      <a:r>
                        <a:rPr lang="ko-KR" altLang="en-US" dirty="0"/>
                        <a:t>를 최소화하는 모델인 것을 확인 가능함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PCAF</a:t>
                      </a:r>
                      <a:r>
                        <a:rPr lang="ko-KR" altLang="en-US" dirty="0"/>
                        <a:t>를 눈으로 보면서 유의미한 값이 어디서 마지막인지 확인을 하고 </a:t>
                      </a:r>
                      <a:r>
                        <a:rPr lang="en-US" altLang="ko-KR" dirty="0"/>
                        <a:t>ARIMA</a:t>
                      </a:r>
                      <a:r>
                        <a:rPr lang="ko-KR" altLang="en-US" dirty="0"/>
                        <a:t>모델의 급수를 정할 때에는 결국은 </a:t>
                      </a:r>
                      <a:r>
                        <a:rPr lang="en-US" altLang="ko-KR" dirty="0"/>
                        <a:t>ARIMA </a:t>
                      </a:r>
                      <a:r>
                        <a:rPr lang="ko-KR" altLang="en-US" dirty="0"/>
                        <a:t>모델은 </a:t>
                      </a:r>
                      <a:r>
                        <a:rPr lang="en-US" altLang="ko-KR" dirty="0"/>
                        <a:t>MA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AR</a:t>
                      </a:r>
                      <a:r>
                        <a:rPr lang="ko-KR" altLang="en-US" dirty="0"/>
                        <a:t>의 합성 모델임으로 </a:t>
                      </a:r>
                      <a:r>
                        <a:rPr lang="en-US" altLang="ko-KR" dirty="0"/>
                        <a:t>pdq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(3,0,0) </a:t>
                      </a:r>
                      <a:r>
                        <a:rPr lang="ko-KR" altLang="en-US" dirty="0"/>
                        <a:t>인 것으로 보아 </a:t>
                      </a:r>
                      <a:r>
                        <a:rPr lang="en-US" altLang="ko-KR" dirty="0"/>
                        <a:t>PCAF</a:t>
                      </a:r>
                      <a:r>
                        <a:rPr lang="ko-KR" altLang="en-US" dirty="0"/>
                        <a:t>를 보고 </a:t>
                      </a:r>
                      <a:r>
                        <a:rPr lang="en-US" altLang="ko-KR" dirty="0"/>
                        <a:t>AR</a:t>
                      </a:r>
                      <a:r>
                        <a:rPr lang="ko-KR" altLang="en-US" dirty="0"/>
                        <a:t>모델의 급수를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으로 정하는 것이 </a:t>
                      </a:r>
                      <a:r>
                        <a:rPr lang="en-US" altLang="ko-KR" dirty="0"/>
                        <a:t>AIC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 err="1"/>
                        <a:t>AICc</a:t>
                      </a:r>
                      <a:r>
                        <a:rPr lang="en-US" altLang="ko-KR" dirty="0"/>
                        <a:t>, BIC</a:t>
                      </a:r>
                      <a:r>
                        <a:rPr lang="ko-KR" altLang="en-US" dirty="0"/>
                        <a:t>를 최소화하는 좋은 모델인 것을 알 수 가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E84FC6C-E664-4878-8D4B-59CC9BC2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4" y="3906569"/>
            <a:ext cx="6373009" cy="24661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19D028-8EB4-4CB6-A7B1-812C7014D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756" y="215807"/>
            <a:ext cx="4764366" cy="11304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64AC53-44FD-48C3-A49E-654C85401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4" y="1430098"/>
            <a:ext cx="6706536" cy="2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0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</TotalTime>
  <Words>456</Words>
  <Application>Microsoft Office PowerPoint</Application>
  <PresentationFormat>와이드스크린</PresentationFormat>
  <Paragraphs>62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149</cp:revision>
  <dcterms:created xsi:type="dcterms:W3CDTF">2020-08-28T03:04:35Z</dcterms:created>
  <dcterms:modified xsi:type="dcterms:W3CDTF">2021-11-08T14:44:36Z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