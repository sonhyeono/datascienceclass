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59" r:id="rId6"/>
    <p:sldId id="262" r:id="rId7"/>
    <p:sldId id="265" r:id="rId8"/>
    <p:sldId id="266" r:id="rId9"/>
    <p:sldId id="267" r:id="rId10"/>
    <p:sldId id="268" r:id="rId11"/>
    <p:sldId id="269" r:id="rId12"/>
    <p:sldId id="270" r:id="rId13"/>
    <p:sldId id="271" r:id="rId14"/>
    <p:sldId id="272" r:id="rId15"/>
    <p:sldId id="273" r:id="rId16"/>
    <p:sldId id="274" r:id="rId17"/>
    <p:sldId id="264" r:id="rId1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손 현오" initials="손현" lastIdx="4" clrIdx="0">
    <p:extLst>
      <p:ext uri="{19B8F6BF-5375-455C-9EA6-DF929625EA0E}">
        <p15:presenceInfo xmlns:p15="http://schemas.microsoft.com/office/powerpoint/2012/main" userId="dc2350536a7fc01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4B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22" autoAdjust="0"/>
    <p:restoredTop sz="95244" autoAdjust="0"/>
  </p:normalViewPr>
  <p:slideViewPr>
    <p:cSldViewPr snapToGrid="0">
      <p:cViewPr varScale="1">
        <p:scale>
          <a:sx n="86" d="100"/>
          <a:sy n="86" d="100"/>
        </p:scale>
        <p:origin x="46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9T14:44:26.242"/>
    </inkml:context>
    <inkml:brush xml:id="br0">
      <inkml:brushProperty name="width" value="0.1" units="cm"/>
      <inkml:brushProperty name="height" value="0.1" units="cm"/>
      <inkml:brushProperty name="color" value="#E71224"/>
    </inkml:brush>
  </inkml:definitions>
  <inkml:trace contextRef="#ctx0" brushRef="#br0">969 1484 24575,'-18'-1'0,"0"-1"0,0 0 0,0-1 0,0-1 0,-18-7 0,-85-36 0,69 25 0,-5-1 0,-137-58 0,152 61 0,1-2 0,-54-39 0,83 52 0,1 0 0,0-2 0,1 1 0,0-1 0,1-1 0,0 1 0,1-2 0,1 1 0,-1-1 0,2 0 0,-6-14 0,-3-20 0,-21-95 0,25 90 0,-18-52 0,19 70 0,2 1 0,1-1 0,2 0 0,1-1 0,2 1 0,1-1 0,8-68 0,-6 95 0,0 0 0,1 1 0,1-1 0,-1 1 0,1 0 0,0-1 0,1 1 0,0 0 0,0 1 0,0-1 0,1 1 0,0 0 0,0 0 0,0 0 0,1 1 0,0 0 0,0 0 0,0 0 0,1 1 0,13-7 0,10-4 0,1 2 0,0 1 0,49-12 0,-76 23 0,109-24 0,230-22 0,-40 9 0,-201 23 0,139-2 0,103 17 0,-146 3 0,-180-3 0,0 0 0,1 1 0,-1 1 0,0 1 0,0 1 0,0 0 0,-1 1 0,1 1 0,-1 1 0,-1 1 0,1 0 0,24 16 0,163 124 0,-197-143 0,-1 1 0,0 0 0,0 0 0,0 0 0,-1 1 0,0 0 0,0 0 0,-1 0 0,7 16 0,1 6 0,11 43 0,-5-14 0,-12-39 0,-1-1 0,0 1 0,-2 0 0,0 1 0,-1-1 0,0 0 0,-2 1 0,-1-1 0,0 1 0,-4 20 0,-1-17 0,0 0 0,-1 0 0,-1-1 0,-1 1 0,-1-2 0,-1 1 0,-24 32 0,1-10 0,-2-2 0,-2-1 0,-48 40 0,81-76 0,-11 8 0,-1 0 0,0 0 0,-1-2 0,0 0 0,-1-1 0,0-1 0,-1 0 0,0-2 0,-28 7 0,-11-1 0,0-4 0,-62 3 0,-64 11 0,102-11 0,-106 1 0,67-15 0,-109 4 0,210 1 32,1 1 0,0 0 0,-22 9 0,21-6-529,-1-1-1,-29 5 0,30-9-6328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9T14:44:28.852"/>
    </inkml:context>
    <inkml:brush xml:id="br0">
      <inkml:brushProperty name="width" value="0.1" units="cm"/>
      <inkml:brushProperty name="height" value="0.1" units="cm"/>
      <inkml:brushProperty name="color" value="#E71224"/>
    </inkml:brush>
  </inkml:definitions>
  <inkml:trace contextRef="#ctx0" brushRef="#br0">2915 1463 24575,'-30'1'0,"-40"7"0,-14 2 0,-704-2 0,483-11 0,241 3 0,-88 1 0,-204-26 0,-47-58 0,320 59 0,1-4 0,-137-67 0,202 87 0,0-2 0,0 0 0,1-1 0,1 0 0,0-1 0,1-1 0,0-1 0,1 0 0,0 0 0,1-1 0,1-1 0,-13-24 0,10 11 0,1 0 0,2-1 0,0-1 0,3 0 0,0 0 0,2-1 0,1 0 0,2 0 0,1 0 0,4-55 0,-1 73 0,0 0 0,1 1 0,0-1 0,1 0 0,1 1 0,0 0 0,1 0 0,1 0 0,0 1 0,12-20 0,-7 16 0,1 1 0,0 1 0,1 0 0,1 1 0,0 1 0,0 0 0,17-10 0,3 1 0,1 1 0,55-23 0,76-19 0,-105 41 0,-16 5 0,313-104 0,-290 102 0,1 3 0,0 2 0,100-3 0,242 17 0,-225 2 0,74 9 0,490 86 0,-410-27 0,-275-60 0,-33-6 0,-1 0 0,0 2 0,-1 2 0,42 16 0,-29-7 0,68 19 0,-90-31 0,-7-1 0,-1 0 0,1 1 0,-1 0 0,-1 1 0,1 1 0,-1 0 0,0 0 0,-1 2 0,0-1 0,0 1 0,-1 1 0,-1 0 0,0 0 0,0 1 0,-1 0 0,0 0 0,-1 1 0,-1 0 0,0 0 0,-1 1 0,0 0 0,-1 0 0,0 0 0,-1 0 0,-1 0 0,-1 1 0,1 19 0,-2-19 0,0-1 0,-1 1 0,-1 0 0,0-1 0,-1 0 0,0 1 0,-1-1 0,-11 25 0,9-29 0,1 0 0,-1 0 0,-1 0 0,0-1 0,0 0 0,-1-1 0,0 1 0,-1-1 0,0-1 0,0 0 0,-18 11 0,-189 121 0,174-112 0,-1-3 0,-69 28 0,62-30 0,-79 47 0,107-57 0,0 0 0,-29 10 0,-20 11 0,66-30-136,0 1-1,0-1 1,1 1-1,-1 0 1,1 0-1,0 1 1,1-1-1,-1 1 0,-5 10 1,-2 3-6690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91795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934762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509192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711144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951899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942807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6168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481314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24675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66940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711963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351A05-FE79-4763-A84F-D4FE701A9E82}" type="datetimeFigureOut">
              <a:rPr lang="ko-KR" altLang="en-US" smtClean="0">
                <a:solidFill>
                  <a:prstClr val="black">
                    <a:tint val="75000"/>
                  </a:prstClr>
                </a:solidFill>
              </a:rPr>
              <a:pPr/>
              <a:t>2021-11-19</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692567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21.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20.png"/><Relationship Id="rId10" Type="http://schemas.openxmlformats.org/officeDocument/2006/relationships/image" Target="../media/image23.png"/><Relationship Id="rId4" Type="http://schemas.openxmlformats.org/officeDocument/2006/relationships/customXml" Target="../ink/ink1.xml"/><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10" name="직사각형 9"/>
          <p:cNvSpPr/>
          <p:nvPr/>
        </p:nvSpPr>
        <p:spPr>
          <a:xfrm>
            <a:off x="522966" y="2349815"/>
            <a:ext cx="7956016" cy="2334806"/>
          </a:xfrm>
          <a:prstGeom prst="rect">
            <a:avLst/>
          </a:prstGeom>
        </p:spPr>
        <p:txBody>
          <a:bodyPr wrap="square">
            <a:spAutoFit/>
          </a:bodyPr>
          <a:lstStyle/>
          <a:p>
            <a:pPr latinLnBrk="0">
              <a:lnSpc>
                <a:spcPct val="150000"/>
              </a:lnSpc>
              <a:defRPr/>
            </a:pPr>
            <a:r>
              <a:rPr lang="en-US" altLang="ko-KR" sz="4400" b="1" i="1" kern="0" dirty="0">
                <a:solidFill>
                  <a:srgbClr val="FFC000"/>
                </a:solidFill>
              </a:rPr>
              <a:t>Data Science Applications </a:t>
            </a:r>
            <a:r>
              <a:rPr lang="ko-KR" altLang="en-US" sz="4400" b="1" i="1" kern="0" dirty="0">
                <a:solidFill>
                  <a:srgbClr val="FFC000"/>
                </a:solidFill>
              </a:rPr>
              <a:t>조별과제</a:t>
            </a:r>
            <a:r>
              <a:rPr lang="en-US" altLang="ko-KR" sz="4400" b="1" i="1" kern="0" dirty="0">
                <a:solidFill>
                  <a:srgbClr val="FFC000"/>
                </a:solidFill>
              </a:rPr>
              <a:t> 12</a:t>
            </a:r>
            <a:r>
              <a:rPr lang="ko-KR" altLang="en-US" sz="4400" b="1" i="1" kern="0" dirty="0">
                <a:solidFill>
                  <a:srgbClr val="FFC000"/>
                </a:solidFill>
              </a:rPr>
              <a:t>주차 </a:t>
            </a:r>
            <a:endParaRPr lang="en-US" altLang="ko-KR" sz="4400" b="1" i="1" kern="0" dirty="0">
              <a:solidFill>
                <a:srgbClr val="FFC000"/>
              </a:solidFill>
            </a:endParaRPr>
          </a:p>
          <a:p>
            <a:pPr latinLnBrk="0">
              <a:lnSpc>
                <a:spcPct val="150000"/>
              </a:lnSpc>
              <a:defRPr/>
            </a:pPr>
            <a:r>
              <a:rPr lang="en-US" altLang="ko-KR" sz="1050" kern="0" dirty="0">
                <a:solidFill>
                  <a:prstClr val="white"/>
                </a:solidFill>
              </a:rPr>
              <a:t>KOREA AERO SPACE UNIV.</a:t>
            </a:r>
            <a:endParaRPr lang="ko-KR" altLang="en-US" sz="6000" kern="0" dirty="0">
              <a:solidFill>
                <a:prstClr val="white"/>
              </a:solidFill>
            </a:endParaRPr>
          </a:p>
        </p:txBody>
      </p:sp>
      <p:cxnSp>
        <p:nvCxnSpPr>
          <p:cNvPr id="12" name="직선 연결선 11"/>
          <p:cNvCxnSpPr/>
          <p:nvPr/>
        </p:nvCxnSpPr>
        <p:spPr>
          <a:xfrm>
            <a:off x="6625772" y="3204197"/>
            <a:ext cx="4896000" cy="0"/>
          </a:xfrm>
          <a:prstGeom prst="line">
            <a:avLst/>
          </a:prstGeom>
          <a:ln>
            <a:solidFill>
              <a:srgbClr val="7488D2"/>
            </a:solidFill>
          </a:ln>
        </p:spPr>
        <p:style>
          <a:lnRef idx="1">
            <a:schemeClr val="accent1"/>
          </a:lnRef>
          <a:fillRef idx="0">
            <a:schemeClr val="accent1"/>
          </a:fillRef>
          <a:effectRef idx="0">
            <a:schemeClr val="accent1"/>
          </a:effectRef>
          <a:fontRef idx="minor">
            <a:schemeClr val="tx1"/>
          </a:fontRef>
        </p:style>
      </p:cxnSp>
      <p:sp>
        <p:nvSpPr>
          <p:cNvPr id="27" name="직사각형 26"/>
          <p:cNvSpPr/>
          <p:nvPr/>
        </p:nvSpPr>
        <p:spPr>
          <a:xfrm>
            <a:off x="7575605" y="3653803"/>
            <a:ext cx="2996333" cy="830997"/>
          </a:xfrm>
          <a:prstGeom prst="rect">
            <a:avLst/>
          </a:prstGeom>
        </p:spPr>
        <p:txBody>
          <a:bodyPr wrap="none">
            <a:spAutoFit/>
          </a:bodyPr>
          <a:lstStyle/>
          <a:p>
            <a:pPr algn="ctr" latinLnBrk="0">
              <a:defRPr/>
            </a:pPr>
            <a:endParaRPr lang="en-US" altLang="ko-KR" sz="2400" b="1" kern="0" dirty="0">
              <a:solidFill>
                <a:schemeClr val="bg1"/>
              </a:solidFill>
            </a:endParaRPr>
          </a:p>
          <a:p>
            <a:pPr algn="ctr" latinLnBrk="0">
              <a:defRPr/>
            </a:pPr>
            <a:r>
              <a:rPr lang="en-US" altLang="ko-KR" sz="2400" b="1" kern="0" dirty="0">
                <a:solidFill>
                  <a:schemeClr val="bg1"/>
                </a:solidFill>
              </a:rPr>
              <a:t>2016125032 </a:t>
            </a:r>
            <a:r>
              <a:rPr lang="ko-KR" altLang="en-US" sz="2400" b="1" kern="0" dirty="0" err="1">
                <a:solidFill>
                  <a:schemeClr val="bg1"/>
                </a:solidFill>
              </a:rPr>
              <a:t>손현오</a:t>
            </a:r>
            <a:endParaRPr lang="en-US" altLang="ko-KR" sz="2400" b="1" kern="0" dirty="0">
              <a:solidFill>
                <a:schemeClr val="bg1"/>
              </a:solidFill>
            </a:endParaRPr>
          </a:p>
        </p:txBody>
      </p:sp>
    </p:spTree>
    <p:extLst>
      <p:ext uri="{BB962C8B-B14F-4D97-AF65-F5344CB8AC3E}">
        <p14:creationId xmlns:p14="http://schemas.microsoft.com/office/powerpoint/2010/main" val="3249938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10" name="직사각형 9"/>
          <p:cNvSpPr/>
          <p:nvPr/>
        </p:nvSpPr>
        <p:spPr>
          <a:xfrm>
            <a:off x="257452" y="370386"/>
            <a:ext cx="10493406" cy="584775"/>
          </a:xfrm>
          <a:prstGeom prst="rect">
            <a:avLst/>
          </a:prstGeom>
        </p:spPr>
        <p:txBody>
          <a:bodyPr wrap="square">
            <a:spAutoFit/>
          </a:bodyPr>
          <a:lstStyle/>
          <a:p>
            <a:pPr latinLnBrk="0">
              <a:defRPr/>
            </a:pPr>
            <a:r>
              <a:rPr lang="en-US" altLang="ko-KR" sz="2400" b="1" kern="0" dirty="0">
                <a:solidFill>
                  <a:srgbClr val="FFC000"/>
                </a:solidFill>
              </a:rPr>
              <a:t>	Predicting the agricultural epidemic powdery mildew in mango </a:t>
            </a:r>
          </a:p>
          <a:p>
            <a:pPr algn="ctr" latinLnBrk="0">
              <a:defRPr/>
            </a:pPr>
            <a:r>
              <a:rPr lang="en-US" altLang="ko-KR" sz="800" b="1" kern="0" dirty="0">
                <a:solidFill>
                  <a:prstClr val="white"/>
                </a:solidFill>
              </a:rPr>
              <a:t>KOREA AERO SPACE UNIV.</a:t>
            </a:r>
            <a:endParaRPr lang="ko-KR" altLang="en-US" sz="4400" b="1" kern="0" dirty="0">
              <a:solidFill>
                <a:prstClr val="white"/>
              </a:solidFill>
            </a:endParaRPr>
          </a:p>
        </p:txBody>
      </p:sp>
      <p:sp>
        <p:nvSpPr>
          <p:cNvPr id="11" name="직사각형 10">
            <a:extLst>
              <a:ext uri="{FF2B5EF4-FFF2-40B4-BE49-F238E27FC236}">
                <a16:creationId xmlns:a16="http://schemas.microsoft.com/office/drawing/2014/main" id="{3D3F5209-D5CA-40B4-B2C4-A10902AC1B23}"/>
              </a:ext>
            </a:extLst>
          </p:cNvPr>
          <p:cNvSpPr/>
          <p:nvPr/>
        </p:nvSpPr>
        <p:spPr>
          <a:xfrm>
            <a:off x="7175612" y="1844004"/>
            <a:ext cx="5016389" cy="1569660"/>
          </a:xfrm>
          <a:prstGeom prst="rect">
            <a:avLst/>
          </a:prstGeom>
        </p:spPr>
        <p:txBody>
          <a:bodyPr wrap="square">
            <a:spAutoFit/>
          </a:bodyPr>
          <a:lstStyle/>
          <a:p>
            <a:pPr marL="342900" indent="-342900" latinLnBrk="0">
              <a:buFont typeface="Arial" panose="020B0604020202020204" pitchFamily="34" charset="0"/>
              <a:buChar char="•"/>
              <a:defRPr/>
            </a:pPr>
            <a:r>
              <a:rPr lang="ko-KR" altLang="en-US" sz="2400" b="1" kern="0" dirty="0">
                <a:solidFill>
                  <a:srgbClr val="FFC000"/>
                </a:solidFill>
              </a:rPr>
              <a:t>데이터 셋이 시계열로 되어있지만 시계열을 모델에 집어넣는 것이 아님</a:t>
            </a:r>
            <a:r>
              <a:rPr lang="en-US" altLang="ko-KR" sz="2400" b="1" kern="0" dirty="0">
                <a:solidFill>
                  <a:srgbClr val="FFC000"/>
                </a:solidFill>
              </a:rPr>
              <a:t>(</a:t>
            </a:r>
            <a:r>
              <a:rPr lang="ko-KR" altLang="en-US" sz="2400" b="1" kern="0" dirty="0">
                <a:solidFill>
                  <a:srgbClr val="FFC000"/>
                </a:solidFill>
              </a:rPr>
              <a:t>최고온도</a:t>
            </a:r>
            <a:r>
              <a:rPr lang="en-US" altLang="ko-KR" sz="2400" b="1" kern="0" dirty="0">
                <a:solidFill>
                  <a:srgbClr val="FFC000"/>
                </a:solidFill>
              </a:rPr>
              <a:t>, </a:t>
            </a:r>
            <a:r>
              <a:rPr lang="ko-KR" altLang="en-US" sz="2400" b="1" kern="0" dirty="0">
                <a:solidFill>
                  <a:srgbClr val="FFC000"/>
                </a:solidFill>
              </a:rPr>
              <a:t>상대 습도</a:t>
            </a:r>
            <a:r>
              <a:rPr lang="en-US" altLang="ko-KR" sz="2400" b="1" kern="0" dirty="0">
                <a:solidFill>
                  <a:srgbClr val="FFC000"/>
                </a:solidFill>
              </a:rPr>
              <a:t>)</a:t>
            </a:r>
            <a:endParaRPr lang="ko-KR" altLang="en-US" sz="2400" b="1" kern="0" dirty="0">
              <a:solidFill>
                <a:srgbClr val="FFC000"/>
              </a:solidFill>
            </a:endParaRPr>
          </a:p>
        </p:txBody>
      </p:sp>
      <p:pic>
        <p:nvPicPr>
          <p:cNvPr id="4" name="그림 3">
            <a:extLst>
              <a:ext uri="{FF2B5EF4-FFF2-40B4-BE49-F238E27FC236}">
                <a16:creationId xmlns:a16="http://schemas.microsoft.com/office/drawing/2014/main" id="{74613C03-5705-49E7-9AED-BC0ED62113EE}"/>
              </a:ext>
            </a:extLst>
          </p:cNvPr>
          <p:cNvPicPr>
            <a:picLocks noChangeAspect="1"/>
          </p:cNvPicPr>
          <p:nvPr/>
        </p:nvPicPr>
        <p:blipFill>
          <a:blip r:embed="rId2"/>
          <a:stretch>
            <a:fillRect/>
          </a:stretch>
        </p:blipFill>
        <p:spPr>
          <a:xfrm>
            <a:off x="109701" y="1384915"/>
            <a:ext cx="7065911" cy="4662451"/>
          </a:xfrm>
          <a:prstGeom prst="rect">
            <a:avLst/>
          </a:prstGeom>
        </p:spPr>
      </p:pic>
    </p:spTree>
    <p:extLst>
      <p:ext uri="{BB962C8B-B14F-4D97-AF65-F5344CB8AC3E}">
        <p14:creationId xmlns:p14="http://schemas.microsoft.com/office/powerpoint/2010/main" val="2033670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defRPr/>
            </a:pPr>
            <a:r>
              <a:rPr lang="ko-KR" altLang="en-US" sz="2800" b="1" kern="0" dirty="0">
                <a:solidFill>
                  <a:srgbClr val="FFC000"/>
                </a:solidFill>
              </a:rPr>
              <a:t>준비</a:t>
            </a:r>
          </a:p>
        </p:txBody>
      </p:sp>
      <p:sp>
        <p:nvSpPr>
          <p:cNvPr id="10" name="직사각형 9"/>
          <p:cNvSpPr/>
          <p:nvPr/>
        </p:nvSpPr>
        <p:spPr>
          <a:xfrm>
            <a:off x="2081048" y="415772"/>
            <a:ext cx="10110952" cy="400110"/>
          </a:xfrm>
          <a:prstGeom prst="rect">
            <a:avLst/>
          </a:prstGeom>
        </p:spPr>
        <p:txBody>
          <a:bodyPr wrap="square">
            <a:spAutoFit/>
          </a:bodyPr>
          <a:lstStyle/>
          <a:p>
            <a:pPr latinLnBrk="0">
              <a:defRPr/>
            </a:pPr>
            <a:r>
              <a:rPr lang="en-US" altLang="ko-KR" sz="2000" b="1" kern="0" dirty="0">
                <a:solidFill>
                  <a:srgbClr val="FFC000"/>
                </a:solidFill>
              </a:rPr>
              <a:t>Predicting the agricultural epidemic powdery mildew in mango</a:t>
            </a:r>
            <a:endParaRPr lang="en-US" altLang="ko-KR" sz="1600" b="1" kern="0" dirty="0">
              <a:solidFill>
                <a:srgbClr val="FFC000"/>
              </a:solidFill>
              <a:sym typeface="Wingdings" panose="05000000000000000000" pitchFamily="2" charset="2"/>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3492206184"/>
              </p:ext>
            </p:extLst>
          </p:nvPr>
        </p:nvGraphicFramePr>
        <p:xfrm>
          <a:off x="6096000" y="1670019"/>
          <a:ext cx="5062109" cy="1285240"/>
        </p:xfrm>
        <a:graphic>
          <a:graphicData uri="http://schemas.openxmlformats.org/drawingml/2006/table">
            <a:tbl>
              <a:tblPr firstRow="1" bandRow="1">
                <a:tableStyleId>{5C22544A-7EE6-4342-B048-85BDC9FD1C3A}</a:tableStyleId>
              </a:tblPr>
              <a:tblGrid>
                <a:gridCol w="5062109">
                  <a:extLst>
                    <a:ext uri="{9D8B030D-6E8A-4147-A177-3AD203B41FA5}">
                      <a16:colId xmlns:a16="http://schemas.microsoft.com/office/drawing/2014/main" val="4093639860"/>
                    </a:ext>
                  </a:extLst>
                </a:gridCol>
              </a:tblGrid>
              <a:tr h="370840">
                <a:tc>
                  <a:txBody>
                    <a:bodyPr/>
                    <a:lstStyle/>
                    <a:p>
                      <a:pPr latinLnBrk="1"/>
                      <a:endParaRPr lang="ko-KR" altLang="en-US"/>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Outbreak</a:t>
                      </a:r>
                      <a:r>
                        <a:rPr lang="ko-KR" altLang="en-US" sz="1800" kern="1200" dirty="0">
                          <a:solidFill>
                            <a:schemeClr val="dk1"/>
                          </a:solidFill>
                          <a:effectLst/>
                          <a:latin typeface="+mn-lt"/>
                          <a:ea typeface="+mn-ea"/>
                          <a:cs typeface="+mn-cs"/>
                        </a:rPr>
                        <a:t>가 </a:t>
                      </a:r>
                      <a:r>
                        <a:rPr lang="ko-KR" altLang="en-US" sz="1800" kern="1200" dirty="0" err="1">
                          <a:solidFill>
                            <a:schemeClr val="dk1"/>
                          </a:solidFill>
                          <a:effectLst/>
                          <a:latin typeface="+mn-lt"/>
                          <a:ea typeface="+mn-ea"/>
                          <a:cs typeface="+mn-cs"/>
                        </a:rPr>
                        <a:t>명목형이여서</a:t>
                      </a:r>
                      <a:r>
                        <a:rPr lang="ko-KR" altLang="en-US" sz="1800" kern="1200" dirty="0">
                          <a:solidFill>
                            <a:schemeClr val="dk1"/>
                          </a:solidFill>
                          <a:effectLst/>
                          <a:latin typeface="+mn-lt"/>
                          <a:ea typeface="+mn-ea"/>
                          <a:cs typeface="+mn-cs"/>
                        </a:rPr>
                        <a:t> 수치형으로 </a:t>
                      </a:r>
                      <a:r>
                        <a:rPr lang="en-US" altLang="ko-KR" sz="1800" kern="1200" dirty="0">
                          <a:solidFill>
                            <a:schemeClr val="dk1"/>
                          </a:solidFill>
                          <a:effectLst/>
                          <a:latin typeface="+mn-lt"/>
                          <a:ea typeface="+mn-ea"/>
                          <a:cs typeface="+mn-cs"/>
                        </a:rPr>
                        <a:t>transform</a:t>
                      </a:r>
                      <a:r>
                        <a:rPr lang="ko-KR" altLang="en-US" sz="1800" kern="1200" dirty="0">
                          <a:solidFill>
                            <a:schemeClr val="dk1"/>
                          </a:solidFill>
                          <a:effectLst/>
                          <a:latin typeface="+mn-lt"/>
                          <a:ea typeface="+mn-ea"/>
                          <a:cs typeface="+mn-cs"/>
                        </a:rPr>
                        <a:t>함수를 이용해서 </a:t>
                      </a:r>
                      <a:r>
                        <a:rPr lang="ko-KR" altLang="en-US" sz="1800" kern="1200" dirty="0" err="1">
                          <a:solidFill>
                            <a:schemeClr val="dk1"/>
                          </a:solidFill>
                          <a:effectLst/>
                          <a:latin typeface="+mn-lt"/>
                          <a:ea typeface="+mn-ea"/>
                          <a:cs typeface="+mn-cs"/>
                        </a:rPr>
                        <a:t>바꿔줌</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6" name="그림 5">
            <a:extLst>
              <a:ext uri="{FF2B5EF4-FFF2-40B4-BE49-F238E27FC236}">
                <a16:creationId xmlns:a16="http://schemas.microsoft.com/office/drawing/2014/main" id="{412C08D2-6375-41D1-9DAE-95CB381F1132}"/>
              </a:ext>
            </a:extLst>
          </p:cNvPr>
          <p:cNvPicPr>
            <a:picLocks noChangeAspect="1"/>
          </p:cNvPicPr>
          <p:nvPr/>
        </p:nvPicPr>
        <p:blipFill>
          <a:blip r:embed="rId2"/>
          <a:stretch>
            <a:fillRect/>
          </a:stretch>
        </p:blipFill>
        <p:spPr>
          <a:xfrm>
            <a:off x="378372" y="1670019"/>
            <a:ext cx="4781144" cy="2839630"/>
          </a:xfrm>
          <a:prstGeom prst="rect">
            <a:avLst/>
          </a:prstGeom>
        </p:spPr>
      </p:pic>
    </p:spTree>
    <p:extLst>
      <p:ext uri="{BB962C8B-B14F-4D97-AF65-F5344CB8AC3E}">
        <p14:creationId xmlns:p14="http://schemas.microsoft.com/office/powerpoint/2010/main" val="817811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1</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0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In order for the model to serve as a forewarning system for farmers, what requirements must be satisﬁed regarding data availability?</a:t>
            </a:r>
            <a:endPar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2290189711"/>
              </p:ext>
            </p:extLst>
          </p:nvPr>
        </p:nvGraphicFramePr>
        <p:xfrm>
          <a:off x="1229710" y="1998492"/>
          <a:ext cx="8353887" cy="1559560"/>
        </p:xfrm>
        <a:graphic>
          <a:graphicData uri="http://schemas.openxmlformats.org/drawingml/2006/table">
            <a:tbl>
              <a:tblPr firstRow="1" bandRow="1">
                <a:tableStyleId>{5C22544A-7EE6-4342-B048-85BDC9FD1C3A}</a:tableStyleId>
              </a:tblPr>
              <a:tblGrid>
                <a:gridCol w="8353887">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70840">
                <a:tc>
                  <a:txBody>
                    <a:bodyPr/>
                    <a:lstStyle/>
                    <a:p>
                      <a:pPr marL="285750" lvl="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year</a:t>
                      </a:r>
                      <a:r>
                        <a:rPr lang="ko-KR" altLang="ko-KR" sz="1800" kern="1200" dirty="0">
                          <a:solidFill>
                            <a:schemeClr val="dk1"/>
                          </a:solidFill>
                          <a:effectLst/>
                          <a:latin typeface="+mn-lt"/>
                          <a:ea typeface="+mn-ea"/>
                          <a:cs typeface="+mn-cs"/>
                        </a:rPr>
                        <a:t>로 그</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해에 발생했는지 알 </a:t>
                      </a:r>
                      <a:r>
                        <a:rPr lang="ko-KR" altLang="en-US" sz="1800" kern="1200" dirty="0">
                          <a:solidFill>
                            <a:schemeClr val="dk1"/>
                          </a:solidFill>
                          <a:effectLst/>
                          <a:latin typeface="+mn-lt"/>
                          <a:ea typeface="+mn-ea"/>
                          <a:cs typeface="+mn-cs"/>
                        </a:rPr>
                        <a:t>수 있는 것은 최고 온도변수와</a:t>
                      </a:r>
                      <a:r>
                        <a:rPr lang="ko-KR" altLang="ko-KR" sz="1800" kern="1200" dirty="0">
                          <a:solidFill>
                            <a:schemeClr val="dk1"/>
                          </a:solidFill>
                          <a:effectLst/>
                          <a:latin typeface="+mn-lt"/>
                          <a:ea typeface="+mn-ea"/>
                          <a:cs typeface="+mn-cs"/>
                        </a:rPr>
                        <a:t> </a:t>
                      </a:r>
                      <a:r>
                        <a:rPr lang="ko-KR" altLang="en-US" sz="1800" kern="1200" dirty="0">
                          <a:solidFill>
                            <a:schemeClr val="dk1"/>
                          </a:solidFill>
                          <a:effectLst/>
                          <a:latin typeface="+mn-lt"/>
                          <a:ea typeface="+mn-ea"/>
                          <a:cs typeface="+mn-cs"/>
                        </a:rPr>
                        <a:t>상대 </a:t>
                      </a:r>
                      <a:r>
                        <a:rPr lang="ko-KR" altLang="ko-KR" sz="1800" kern="1200" dirty="0">
                          <a:solidFill>
                            <a:schemeClr val="dk1"/>
                          </a:solidFill>
                          <a:effectLst/>
                          <a:latin typeface="+mn-lt"/>
                          <a:ea typeface="+mn-ea"/>
                          <a:cs typeface="+mn-cs"/>
                        </a:rPr>
                        <a:t>습도</a:t>
                      </a:r>
                      <a:r>
                        <a:rPr lang="ko-KR" altLang="en-US" sz="1800" kern="1200" dirty="0">
                          <a:solidFill>
                            <a:schemeClr val="dk1"/>
                          </a:solidFill>
                          <a:effectLst/>
                          <a:latin typeface="+mn-lt"/>
                          <a:ea typeface="+mn-ea"/>
                          <a:cs typeface="+mn-cs"/>
                        </a:rPr>
                        <a:t>를 </a:t>
                      </a:r>
                      <a:r>
                        <a:rPr lang="ko-KR" altLang="ko-KR" dirty="0"/>
                        <a:t>로지스틱 회귀를 사용하여 예측</a:t>
                      </a:r>
                      <a:r>
                        <a:rPr lang="ko-KR" altLang="en-US" dirty="0"/>
                        <a:t>한다면</a:t>
                      </a:r>
                      <a:r>
                        <a:rPr lang="ko-KR" altLang="en-US" sz="1800" kern="1200" dirty="0">
                          <a:solidFill>
                            <a:schemeClr val="dk1"/>
                          </a:solidFill>
                          <a:effectLst/>
                          <a:latin typeface="+mn-lt"/>
                          <a:ea typeface="+mn-ea"/>
                          <a:cs typeface="+mn-cs"/>
                        </a:rPr>
                        <a:t> 데이터를 활용해서 흰 가루병이 그해</a:t>
                      </a:r>
                      <a:r>
                        <a:rPr lang="ko-KR" altLang="ko-KR" sz="1800" kern="1200" dirty="0">
                          <a:solidFill>
                            <a:schemeClr val="dk1"/>
                          </a:solidFill>
                          <a:effectLst/>
                          <a:latin typeface="+mn-lt"/>
                          <a:ea typeface="+mn-ea"/>
                          <a:cs typeface="+mn-cs"/>
                        </a:rPr>
                        <a:t>에 발생했는지 알</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수</a:t>
                      </a:r>
                      <a:r>
                        <a:rPr lang="en-US" altLang="ko-KR" sz="1800" kern="1200" dirty="0">
                          <a:solidFill>
                            <a:schemeClr val="dk1"/>
                          </a:solidFill>
                          <a:effectLst/>
                          <a:latin typeface="+mn-lt"/>
                          <a:ea typeface="+mn-ea"/>
                          <a:cs typeface="+mn-cs"/>
                        </a:rPr>
                        <a:t> </a:t>
                      </a:r>
                      <a:r>
                        <a:rPr lang="ko-KR" altLang="en-US" sz="1800" kern="1200" dirty="0">
                          <a:solidFill>
                            <a:schemeClr val="dk1"/>
                          </a:solidFill>
                          <a:effectLst/>
                          <a:latin typeface="+mn-lt"/>
                          <a:ea typeface="+mn-ea"/>
                          <a:cs typeface="+mn-cs"/>
                        </a:rPr>
                        <a:t>있고</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활용</a:t>
                      </a:r>
                      <a:r>
                        <a:rPr lang="ko-KR" altLang="en-US" sz="1800" kern="1200" dirty="0">
                          <a:solidFill>
                            <a:schemeClr val="dk1"/>
                          </a:solidFill>
                          <a:effectLst/>
                          <a:latin typeface="+mn-lt"/>
                          <a:ea typeface="+mn-ea"/>
                          <a:cs typeface="+mn-cs"/>
                        </a:rPr>
                        <a:t>이 가능함</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spTree>
    <p:extLst>
      <p:ext uri="{BB962C8B-B14F-4D97-AF65-F5344CB8AC3E}">
        <p14:creationId xmlns:p14="http://schemas.microsoft.com/office/powerpoint/2010/main" val="244077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2</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0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Write an equation for the model ﬁtted by the researchers in the form of equation (8.1). Use predictor names instead of x notation.</a:t>
            </a:r>
            <a:endPar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1171798275"/>
              </p:ext>
            </p:extLst>
          </p:nvPr>
        </p:nvGraphicFramePr>
        <p:xfrm>
          <a:off x="378372" y="2913249"/>
          <a:ext cx="6812541" cy="867759"/>
        </p:xfrm>
        <a:graphic>
          <a:graphicData uri="http://schemas.openxmlformats.org/drawingml/2006/table">
            <a:tbl>
              <a:tblPr firstRow="1" bandRow="1">
                <a:tableStyleId>{5C22544A-7EE6-4342-B048-85BDC9FD1C3A}</a:tableStyleId>
              </a:tblPr>
              <a:tblGrid>
                <a:gridCol w="6812541">
                  <a:extLst>
                    <a:ext uri="{9D8B030D-6E8A-4147-A177-3AD203B41FA5}">
                      <a16:colId xmlns:a16="http://schemas.microsoft.com/office/drawing/2014/main" val="4093639860"/>
                    </a:ext>
                  </a:extLst>
                </a:gridCol>
              </a:tblGrid>
              <a:tr h="290840">
                <a:tc>
                  <a:txBody>
                    <a:bodyPr/>
                    <a:lstStyle/>
                    <a:p>
                      <a:pPr latinLnBrk="1"/>
                      <a:r>
                        <a:rPr lang="ko-KR" altLang="en-US" dirty="0"/>
                        <a:t>회귀식으로 나타내 보면</a:t>
                      </a:r>
                      <a:r>
                        <a:rPr lang="en-US" altLang="ko-KR" dirty="0"/>
                        <a:t>,</a:t>
                      </a:r>
                      <a:endParaRPr lang="ko-KR" altLang="en-US" dirty="0"/>
                    </a:p>
                  </a:txBody>
                  <a:tcPr/>
                </a:tc>
                <a:extLst>
                  <a:ext uri="{0D108BD9-81ED-4DB2-BD59-A6C34878D82A}">
                    <a16:rowId xmlns:a16="http://schemas.microsoft.com/office/drawing/2014/main" val="3200778601"/>
                  </a:ext>
                </a:extLst>
              </a:tr>
              <a:tr h="501999">
                <a:tc>
                  <a:txBody>
                    <a:bodyPr/>
                    <a:lstStyle/>
                    <a:p>
                      <a:pPr marL="285750" indent="-285750" latinLnBrk="1">
                        <a:buFont typeface="Arial" panose="020B0604020202020204" pitchFamily="34" charset="0"/>
                        <a:buChar char="•"/>
                      </a:pPr>
                      <a:r>
                        <a:rPr lang="en-US" altLang="ko-KR" sz="1800" b="0" i="0" u="none" strike="noStrike" kern="1200" dirty="0">
                          <a:solidFill>
                            <a:schemeClr val="dk1"/>
                          </a:solidFill>
                          <a:effectLst/>
                          <a:latin typeface="+mn-lt"/>
                          <a:ea typeface="+mn-ea"/>
                          <a:cs typeface="+mn-cs"/>
                        </a:rPr>
                        <a:t>log(odds)=B</a:t>
                      </a:r>
                      <a:r>
                        <a:rPr lang="el-GR" altLang="ko-KR" sz="1800" b="0" i="0" u="none" strike="noStrike" kern="1200" dirty="0">
                          <a:solidFill>
                            <a:schemeClr val="dk1"/>
                          </a:solidFill>
                          <a:effectLst/>
                          <a:latin typeface="+mn-lt"/>
                          <a:ea typeface="+mn-ea"/>
                          <a:cs typeface="+mn-cs"/>
                        </a:rPr>
                        <a:t>0</a:t>
                      </a:r>
                      <a:r>
                        <a:rPr lang="en-US" altLang="ko-KR" sz="1800" b="0" i="0" u="none" strike="noStrike" kern="1200" dirty="0">
                          <a:solidFill>
                            <a:schemeClr val="dk1"/>
                          </a:solidFill>
                          <a:effectLst/>
                          <a:latin typeface="+mn-lt"/>
                          <a:ea typeface="+mn-ea"/>
                          <a:cs typeface="+mn-cs"/>
                        </a:rPr>
                        <a:t> + B1*</a:t>
                      </a:r>
                      <a:r>
                        <a:rPr lang="en-US" altLang="ko-KR" sz="1800" b="0" i="0" u="none" strike="noStrike" kern="1200" dirty="0" err="1">
                          <a:solidFill>
                            <a:schemeClr val="dk1"/>
                          </a:solidFill>
                          <a:effectLst/>
                          <a:latin typeface="+mn-lt"/>
                          <a:ea typeface="+mn-ea"/>
                          <a:cs typeface="+mn-cs"/>
                        </a:rPr>
                        <a:t>Max.temp</a:t>
                      </a:r>
                      <a:r>
                        <a:rPr lang="en-US" altLang="ko-KR" sz="1800" b="0" i="0" u="none" strike="noStrike" kern="1200" dirty="0">
                          <a:solidFill>
                            <a:schemeClr val="dk1"/>
                          </a:solidFill>
                          <a:effectLst/>
                          <a:latin typeface="+mn-lt"/>
                          <a:ea typeface="+mn-ea"/>
                          <a:cs typeface="+mn-cs"/>
                        </a:rPr>
                        <a:t> + B2*</a:t>
                      </a:r>
                      <a:r>
                        <a:rPr lang="en-US" altLang="ko-KR" sz="1800" b="0" i="0" u="none" strike="noStrike" kern="1200" dirty="0" err="1">
                          <a:solidFill>
                            <a:schemeClr val="dk1"/>
                          </a:solidFill>
                          <a:effectLst/>
                          <a:latin typeface="+mn-lt"/>
                          <a:ea typeface="+mn-ea"/>
                          <a:cs typeface="+mn-cs"/>
                        </a:rPr>
                        <a:t>Rel.humidity</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4" name="그림 3">
            <a:extLst>
              <a:ext uri="{FF2B5EF4-FFF2-40B4-BE49-F238E27FC236}">
                <a16:creationId xmlns:a16="http://schemas.microsoft.com/office/drawing/2014/main" id="{A25FED59-51AA-40B0-AC32-EB618F078A51}"/>
              </a:ext>
            </a:extLst>
          </p:cNvPr>
          <p:cNvPicPr>
            <a:picLocks noChangeAspect="1"/>
          </p:cNvPicPr>
          <p:nvPr/>
        </p:nvPicPr>
        <p:blipFill>
          <a:blip r:embed="rId2"/>
          <a:stretch>
            <a:fillRect/>
          </a:stretch>
        </p:blipFill>
        <p:spPr>
          <a:xfrm>
            <a:off x="378372" y="1628091"/>
            <a:ext cx="6812541" cy="792839"/>
          </a:xfrm>
          <a:prstGeom prst="rect">
            <a:avLst/>
          </a:prstGeom>
        </p:spPr>
      </p:pic>
    </p:spTree>
    <p:extLst>
      <p:ext uri="{BB962C8B-B14F-4D97-AF65-F5344CB8AC3E}">
        <p14:creationId xmlns:p14="http://schemas.microsoft.com/office/powerpoint/2010/main" val="2959770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3</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101566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0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Create  a  scatter  plot  of  the  two  predictors,  using  different  hue for  epidemic  and  non-epidemic  markers.  Does  there  appear to  be  a  relationship  between  epidemic  status  and  the  two predictors?</a:t>
            </a:r>
            <a:endPar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669134106"/>
              </p:ext>
            </p:extLst>
          </p:nvPr>
        </p:nvGraphicFramePr>
        <p:xfrm>
          <a:off x="5637321" y="2151206"/>
          <a:ext cx="5228947" cy="2651760"/>
        </p:xfrm>
        <a:graphic>
          <a:graphicData uri="http://schemas.openxmlformats.org/drawingml/2006/table">
            <a:tbl>
              <a:tblPr firstRow="1" bandRow="1">
                <a:tableStyleId>{5C22544A-7EE6-4342-B048-85BDC9FD1C3A}</a:tableStyleId>
              </a:tblPr>
              <a:tblGrid>
                <a:gridCol w="5228947">
                  <a:extLst>
                    <a:ext uri="{9D8B030D-6E8A-4147-A177-3AD203B41FA5}">
                      <a16:colId xmlns:a16="http://schemas.microsoft.com/office/drawing/2014/main" val="4093639860"/>
                    </a:ext>
                  </a:extLst>
                </a:gridCol>
              </a:tblGrid>
              <a:tr h="290840">
                <a:tc>
                  <a:txBody>
                    <a:bodyPr/>
                    <a:lstStyle/>
                    <a:p>
                      <a:pPr latinLnBrk="1"/>
                      <a:endParaRPr lang="ko-KR" altLang="en-US" dirty="0"/>
                    </a:p>
                  </a:txBody>
                  <a:tcPr/>
                </a:tc>
                <a:extLst>
                  <a:ext uri="{0D108BD9-81ED-4DB2-BD59-A6C34878D82A}">
                    <a16:rowId xmlns:a16="http://schemas.microsoft.com/office/drawing/2014/main" val="3200778601"/>
                  </a:ext>
                </a:extLst>
              </a:tr>
              <a:tr h="501999">
                <a:tc>
                  <a:txBody>
                    <a:bodyPr/>
                    <a:lstStyle/>
                    <a:p>
                      <a:pPr marL="285750" indent="-285750" latinLnBrk="1">
                        <a:buFont typeface="Arial" panose="020B0604020202020204" pitchFamily="34" charset="0"/>
                        <a:buChar char="•"/>
                      </a:pPr>
                      <a:r>
                        <a:rPr lang="ko-KR" altLang="en-US" sz="1800" b="0" i="0" u="none" strike="noStrike" kern="1200" dirty="0" err="1">
                          <a:solidFill>
                            <a:schemeClr val="dk1"/>
                          </a:solidFill>
                          <a:effectLst/>
                          <a:latin typeface="+mn-lt"/>
                          <a:ea typeface="+mn-ea"/>
                          <a:cs typeface="+mn-cs"/>
                        </a:rPr>
                        <a:t>산점도로</a:t>
                      </a:r>
                      <a:r>
                        <a:rPr lang="ko-KR" altLang="en-US" sz="1800" b="0" i="0" u="none" strike="noStrike" kern="1200" dirty="0">
                          <a:solidFill>
                            <a:schemeClr val="dk1"/>
                          </a:solidFill>
                          <a:effectLst/>
                          <a:latin typeface="+mn-lt"/>
                          <a:ea typeface="+mn-ea"/>
                          <a:cs typeface="+mn-cs"/>
                        </a:rPr>
                        <a:t> 해석을 해보면 </a:t>
                      </a:r>
                      <a:endParaRPr lang="en-US" altLang="ko-KR" sz="1800" b="0" i="0" u="none" strike="noStrike"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en-US" sz="1800" b="0" i="0" u="none" strike="noStrike" kern="1200" dirty="0">
                          <a:solidFill>
                            <a:schemeClr val="dk1"/>
                          </a:solidFill>
                          <a:effectLst/>
                          <a:latin typeface="+mn-lt"/>
                          <a:ea typeface="+mn-ea"/>
                          <a:cs typeface="+mn-cs"/>
                        </a:rPr>
                        <a:t>두 변수 간의 관계부터 보면 습도가 높을 수록 온도는 낮음</a:t>
                      </a:r>
                      <a:r>
                        <a:rPr lang="en-US" altLang="ko-KR" sz="1800" b="0" i="0" u="none" strike="noStrike"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en-US" sz="1800" b="0" i="0" u="none" strike="noStrike" kern="1200" dirty="0">
                          <a:solidFill>
                            <a:schemeClr val="dk1"/>
                          </a:solidFill>
                          <a:effectLst/>
                          <a:latin typeface="+mn-lt"/>
                          <a:ea typeface="+mn-ea"/>
                          <a:cs typeface="+mn-cs"/>
                        </a:rPr>
                        <a:t>온도의 경우는 </a:t>
                      </a:r>
                      <a:r>
                        <a:rPr lang="en-US" altLang="ko-KR" sz="1800" b="0" i="0" u="none" strike="noStrike" kern="1200" dirty="0">
                          <a:solidFill>
                            <a:schemeClr val="dk1"/>
                          </a:solidFill>
                          <a:effectLst/>
                          <a:latin typeface="+mn-lt"/>
                          <a:ea typeface="+mn-ea"/>
                          <a:cs typeface="+mn-cs"/>
                        </a:rPr>
                        <a:t>28 </a:t>
                      </a:r>
                      <a:r>
                        <a:rPr lang="ko-KR" altLang="en-US" sz="1800" b="0" i="0" u="none" strike="noStrike" kern="1200" dirty="0">
                          <a:solidFill>
                            <a:schemeClr val="dk1"/>
                          </a:solidFill>
                          <a:effectLst/>
                          <a:latin typeface="+mn-lt"/>
                          <a:ea typeface="+mn-ea"/>
                          <a:cs typeface="+mn-cs"/>
                        </a:rPr>
                        <a:t>이상에서만 발병했고</a:t>
                      </a:r>
                      <a:r>
                        <a:rPr lang="en-US" altLang="ko-KR" sz="1800" b="0" i="0" u="none" strike="noStrike" kern="1200" dirty="0">
                          <a:solidFill>
                            <a:schemeClr val="dk1"/>
                          </a:solidFill>
                          <a:effectLst/>
                          <a:latin typeface="+mn-lt"/>
                          <a:ea typeface="+mn-ea"/>
                          <a:cs typeface="+mn-cs"/>
                        </a:rPr>
                        <a:t>, </a:t>
                      </a:r>
                      <a:r>
                        <a:rPr lang="ko-KR" altLang="en-US" sz="1800" b="0" i="0" u="none" strike="noStrike" kern="1200" dirty="0">
                          <a:solidFill>
                            <a:schemeClr val="dk1"/>
                          </a:solidFill>
                          <a:effectLst/>
                          <a:latin typeface="+mn-lt"/>
                          <a:ea typeface="+mn-ea"/>
                          <a:cs typeface="+mn-cs"/>
                        </a:rPr>
                        <a:t>온도가 올라 갈 수록 흰 가루 병이 발병한</a:t>
                      </a:r>
                      <a:r>
                        <a:rPr lang="en-US" altLang="ko-KR" sz="1800" b="0" i="0" u="none" strike="noStrike" kern="1200" dirty="0">
                          <a:solidFill>
                            <a:schemeClr val="dk1"/>
                          </a:solidFill>
                          <a:effectLst/>
                          <a:latin typeface="+mn-lt"/>
                          <a:ea typeface="+mn-ea"/>
                          <a:cs typeface="+mn-cs"/>
                        </a:rPr>
                        <a:t>(Yes)</a:t>
                      </a:r>
                      <a:r>
                        <a:rPr lang="ko-KR" altLang="en-US" sz="1800" b="0" i="0" u="none" strike="noStrike" kern="1200" dirty="0">
                          <a:solidFill>
                            <a:schemeClr val="dk1"/>
                          </a:solidFill>
                          <a:effectLst/>
                          <a:latin typeface="+mn-lt"/>
                          <a:ea typeface="+mn-ea"/>
                          <a:cs typeface="+mn-cs"/>
                        </a:rPr>
                        <a:t> 경우가 많은 것을 확인 할 수 있음</a:t>
                      </a:r>
                      <a:r>
                        <a:rPr lang="en-US" altLang="ko-KR" sz="1800" b="0" i="0" u="none" strike="noStrike"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en-US" sz="1800" b="0" i="0" u="none" strike="noStrike" kern="1200" dirty="0">
                          <a:solidFill>
                            <a:schemeClr val="dk1"/>
                          </a:solidFill>
                          <a:effectLst/>
                          <a:latin typeface="+mn-lt"/>
                          <a:ea typeface="+mn-ea"/>
                          <a:cs typeface="+mn-cs"/>
                        </a:rPr>
                        <a:t>습도와는 밀접한 관계가 보이지는 않지만 습도가 낮을 경우는 되게 발병하지 않았음</a:t>
                      </a:r>
                      <a:r>
                        <a:rPr lang="en-US" altLang="ko-KR" sz="1800" b="0" i="0" u="none" strike="noStrike"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11" name="그림 10">
            <a:extLst>
              <a:ext uri="{FF2B5EF4-FFF2-40B4-BE49-F238E27FC236}">
                <a16:creationId xmlns:a16="http://schemas.microsoft.com/office/drawing/2014/main" id="{1E44B500-F5E9-4769-81A5-19B0EDB2F694}"/>
              </a:ext>
            </a:extLst>
          </p:cNvPr>
          <p:cNvPicPr>
            <a:picLocks noChangeAspect="1"/>
          </p:cNvPicPr>
          <p:nvPr/>
        </p:nvPicPr>
        <p:blipFill>
          <a:blip r:embed="rId2"/>
          <a:stretch>
            <a:fillRect/>
          </a:stretch>
        </p:blipFill>
        <p:spPr>
          <a:xfrm>
            <a:off x="286867" y="1463508"/>
            <a:ext cx="4498197" cy="2691242"/>
          </a:xfrm>
          <a:prstGeom prst="rect">
            <a:avLst/>
          </a:prstGeom>
        </p:spPr>
      </p:pic>
      <p:pic>
        <p:nvPicPr>
          <p:cNvPr id="13" name="그림 12">
            <a:extLst>
              <a:ext uri="{FF2B5EF4-FFF2-40B4-BE49-F238E27FC236}">
                <a16:creationId xmlns:a16="http://schemas.microsoft.com/office/drawing/2014/main" id="{9EA2D189-4896-4732-8F5F-36DC6B3122F1}"/>
              </a:ext>
            </a:extLst>
          </p:cNvPr>
          <p:cNvPicPr>
            <a:picLocks noChangeAspect="1"/>
          </p:cNvPicPr>
          <p:nvPr/>
        </p:nvPicPr>
        <p:blipFill>
          <a:blip r:embed="rId3"/>
          <a:stretch>
            <a:fillRect/>
          </a:stretch>
        </p:blipFill>
        <p:spPr>
          <a:xfrm>
            <a:off x="286867" y="4174709"/>
            <a:ext cx="4498196" cy="2683291"/>
          </a:xfrm>
          <a:prstGeom prst="rect">
            <a:avLst/>
          </a:prstGeom>
        </p:spPr>
      </p:pic>
    </p:spTree>
    <p:extLst>
      <p:ext uri="{BB962C8B-B14F-4D97-AF65-F5344CB8AC3E}">
        <p14:creationId xmlns:p14="http://schemas.microsoft.com/office/powerpoint/2010/main" val="3295223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4</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Compute  naive  forecasts  of  epidemic  status  for  years  1995- 1997  using  next-year  forecasts  (Ft+1    =   Ft ).  What  is  the  naive forecast  for  year  2000?  Summarize  the  results  for  these  four years  in  a  classiﬁcation  matrix.</a:t>
            </a:r>
            <a:endPar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106878741"/>
              </p:ext>
            </p:extLst>
          </p:nvPr>
        </p:nvGraphicFramePr>
        <p:xfrm>
          <a:off x="5271858" y="1442761"/>
          <a:ext cx="5885895" cy="2377440"/>
        </p:xfrm>
        <a:graphic>
          <a:graphicData uri="http://schemas.openxmlformats.org/drawingml/2006/table">
            <a:tbl>
              <a:tblPr firstRow="1" bandRow="1">
                <a:tableStyleId>{5C22544A-7EE6-4342-B048-85BDC9FD1C3A}</a:tableStyleId>
              </a:tblPr>
              <a:tblGrid>
                <a:gridCol w="5885895">
                  <a:extLst>
                    <a:ext uri="{9D8B030D-6E8A-4147-A177-3AD203B41FA5}">
                      <a16:colId xmlns:a16="http://schemas.microsoft.com/office/drawing/2014/main" val="4093639860"/>
                    </a:ext>
                  </a:extLst>
                </a:gridCol>
              </a:tblGrid>
              <a:tr h="29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501999">
                <a:tc>
                  <a:txBody>
                    <a:bodyPr/>
                    <a:lstStyle/>
                    <a:p>
                      <a:pPr marL="285750" lvl="0" indent="-285750" latinLnBrk="1">
                        <a:buFont typeface="Arial" panose="020B0604020202020204" pitchFamily="34" charset="0"/>
                        <a:buChar char="•"/>
                      </a:pPr>
                      <a:r>
                        <a:rPr kumimoji="0" lang="en-US" altLang="ko-KR" b="1" i="0" u="none" strike="noStrike" kern="0" cap="none" spc="0" normalizeH="0" baseline="0" noProof="0" dirty="0">
                          <a:ln>
                            <a:noFill/>
                          </a:ln>
                          <a:solidFill>
                            <a:schemeClr val="tx1"/>
                          </a:solidFill>
                          <a:effectLst/>
                          <a:uLnTx/>
                          <a:uFillTx/>
                          <a:latin typeface="+mn-lt"/>
                          <a:ea typeface="+mn-ea"/>
                          <a:cs typeface="+mn-cs"/>
                        </a:rPr>
                        <a:t>naive forecast(</a:t>
                      </a:r>
                      <a:r>
                        <a:rPr lang="ko-KR" altLang="ko-KR" sz="1800" kern="1200" dirty="0">
                          <a:solidFill>
                            <a:schemeClr val="dk1"/>
                          </a:solidFill>
                          <a:effectLst/>
                          <a:latin typeface="+mn-lt"/>
                          <a:ea typeface="+mn-ea"/>
                          <a:cs typeface="+mn-cs"/>
                        </a:rPr>
                        <a:t>단순 예측</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가장 최근의 값으로 예측</a:t>
                      </a:r>
                      <a:r>
                        <a:rPr lang="en-US" altLang="ko-KR" sz="1800" kern="1200" dirty="0">
                          <a:solidFill>
                            <a:schemeClr val="dk1"/>
                          </a:solidFill>
                          <a:effectLst/>
                          <a:latin typeface="+mn-lt"/>
                          <a:ea typeface="+mn-ea"/>
                          <a:cs typeface="+mn-cs"/>
                        </a:rPr>
                        <a:t>)</a:t>
                      </a:r>
                      <a:r>
                        <a:rPr lang="ko-KR" altLang="en-US" sz="1800" kern="1200" dirty="0">
                          <a:solidFill>
                            <a:schemeClr val="dk1"/>
                          </a:solidFill>
                          <a:effectLst/>
                          <a:latin typeface="+mn-lt"/>
                          <a:ea typeface="+mn-ea"/>
                          <a:cs typeface="+mn-cs"/>
                        </a:rPr>
                        <a:t>으로 예측</a:t>
                      </a:r>
                      <a:r>
                        <a:rPr lang="en-US" altLang="ko-KR" sz="1800" kern="1200" dirty="0">
                          <a:solidFill>
                            <a:schemeClr val="dk1"/>
                          </a:solidFill>
                          <a:effectLst/>
                          <a:latin typeface="+mn-lt"/>
                          <a:ea typeface="+mn-ea"/>
                          <a:cs typeface="+mn-cs"/>
                        </a:rPr>
                        <a:t> </a:t>
                      </a:r>
                      <a:r>
                        <a:rPr lang="ko-KR" altLang="en-US" sz="1800" kern="1200" dirty="0">
                          <a:solidFill>
                            <a:schemeClr val="dk1"/>
                          </a:solidFill>
                          <a:effectLst/>
                          <a:latin typeface="+mn-lt"/>
                          <a:ea typeface="+mn-ea"/>
                          <a:cs typeface="+mn-cs"/>
                        </a:rPr>
                        <a:t>해본 결과 </a:t>
                      </a:r>
                      <a:r>
                        <a:rPr lang="en-US" altLang="ko-KR" sz="1800" kern="1200" dirty="0">
                          <a:solidFill>
                            <a:schemeClr val="dk1"/>
                          </a:solidFill>
                          <a:effectLst/>
                          <a:latin typeface="+mn-lt"/>
                          <a:ea typeface="+mn-ea"/>
                          <a:cs typeface="+mn-cs"/>
                        </a:rPr>
                        <a:t>2000</a:t>
                      </a:r>
                      <a:r>
                        <a:rPr lang="ko-KR" altLang="en-US" sz="1800" kern="1200" dirty="0">
                          <a:solidFill>
                            <a:schemeClr val="dk1"/>
                          </a:solidFill>
                          <a:effectLst/>
                          <a:latin typeface="+mn-lt"/>
                          <a:ea typeface="+mn-ea"/>
                          <a:cs typeface="+mn-cs"/>
                        </a:rPr>
                        <a:t>년은 </a:t>
                      </a:r>
                      <a:r>
                        <a:rPr lang="en-US" altLang="ko-KR" sz="1800" kern="1200" dirty="0">
                          <a:solidFill>
                            <a:schemeClr val="dk1"/>
                          </a:solidFill>
                          <a:effectLst/>
                          <a:latin typeface="+mn-lt"/>
                          <a:ea typeface="+mn-ea"/>
                          <a:cs typeface="+mn-cs"/>
                        </a:rPr>
                        <a:t>No</a:t>
                      </a:r>
                      <a:r>
                        <a:rPr lang="ko-KR" altLang="en-US" sz="1800" kern="1200" dirty="0">
                          <a:solidFill>
                            <a:schemeClr val="dk1"/>
                          </a:solidFill>
                          <a:effectLst/>
                          <a:latin typeface="+mn-lt"/>
                          <a:ea typeface="+mn-ea"/>
                          <a:cs typeface="+mn-cs"/>
                        </a:rPr>
                        <a:t>가 나옴</a:t>
                      </a:r>
                      <a:r>
                        <a:rPr lang="en-US" altLang="ko-KR" sz="1800" kern="1200" dirty="0">
                          <a:solidFill>
                            <a:schemeClr val="dk1"/>
                          </a:solidFill>
                          <a:effectLst/>
                          <a:latin typeface="+mn-lt"/>
                          <a:ea typeface="+mn-ea"/>
                          <a:cs typeface="+mn-cs"/>
                        </a:rPr>
                        <a:t>.</a:t>
                      </a:r>
                    </a:p>
                    <a:p>
                      <a:pPr marL="285750" lvl="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1995</a:t>
                      </a:r>
                      <a:r>
                        <a:rPr lang="ko-KR" altLang="en-US" sz="1800" kern="1200" dirty="0">
                          <a:solidFill>
                            <a:schemeClr val="dk1"/>
                          </a:solidFill>
                          <a:effectLst/>
                          <a:latin typeface="+mn-lt"/>
                          <a:ea typeface="+mn-ea"/>
                          <a:cs typeface="+mn-cs"/>
                        </a:rPr>
                        <a:t>년은 </a:t>
                      </a:r>
                      <a:r>
                        <a:rPr lang="en-US" altLang="ko-KR" sz="1800" kern="1200" dirty="0">
                          <a:solidFill>
                            <a:schemeClr val="dk1"/>
                          </a:solidFill>
                          <a:effectLst/>
                          <a:latin typeface="+mn-lt"/>
                          <a:ea typeface="+mn-ea"/>
                          <a:cs typeface="+mn-cs"/>
                        </a:rPr>
                        <a:t>Yes</a:t>
                      </a:r>
                    </a:p>
                    <a:p>
                      <a:pPr marL="285750" lvl="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1996</a:t>
                      </a:r>
                      <a:r>
                        <a:rPr lang="ko-KR" altLang="en-US" sz="1800" kern="1200" dirty="0">
                          <a:solidFill>
                            <a:schemeClr val="dk1"/>
                          </a:solidFill>
                          <a:effectLst/>
                          <a:latin typeface="+mn-lt"/>
                          <a:ea typeface="+mn-ea"/>
                          <a:cs typeface="+mn-cs"/>
                        </a:rPr>
                        <a:t>년은 </a:t>
                      </a:r>
                      <a:r>
                        <a:rPr lang="en-US" altLang="ko-KR" sz="1800" kern="1200" dirty="0">
                          <a:solidFill>
                            <a:schemeClr val="dk1"/>
                          </a:solidFill>
                          <a:effectLst/>
                          <a:latin typeface="+mn-lt"/>
                          <a:ea typeface="+mn-ea"/>
                          <a:cs typeface="+mn-cs"/>
                        </a:rPr>
                        <a:t>No</a:t>
                      </a:r>
                    </a:p>
                    <a:p>
                      <a:pPr marL="285750" lvl="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1997</a:t>
                      </a:r>
                      <a:r>
                        <a:rPr lang="ko-KR" altLang="en-US" sz="1800" kern="1200" dirty="0">
                          <a:solidFill>
                            <a:schemeClr val="dk1"/>
                          </a:solidFill>
                          <a:effectLst/>
                          <a:latin typeface="+mn-lt"/>
                          <a:ea typeface="+mn-ea"/>
                          <a:cs typeface="+mn-cs"/>
                        </a:rPr>
                        <a:t>년은 </a:t>
                      </a:r>
                      <a:r>
                        <a:rPr lang="en-US" altLang="ko-KR" sz="1800" kern="1200" dirty="0">
                          <a:solidFill>
                            <a:schemeClr val="dk1"/>
                          </a:solidFill>
                          <a:effectLst/>
                          <a:latin typeface="+mn-lt"/>
                          <a:ea typeface="+mn-ea"/>
                          <a:cs typeface="+mn-cs"/>
                        </a:rPr>
                        <a:t>Yes</a:t>
                      </a:r>
                    </a:p>
                    <a:p>
                      <a:pPr marL="285750" lvl="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2000</a:t>
                      </a:r>
                      <a:r>
                        <a:rPr lang="ko-KR" altLang="en-US" sz="1800" kern="1200" dirty="0">
                          <a:solidFill>
                            <a:schemeClr val="dk1"/>
                          </a:solidFill>
                          <a:effectLst/>
                          <a:latin typeface="+mn-lt"/>
                          <a:ea typeface="+mn-ea"/>
                          <a:cs typeface="+mn-cs"/>
                        </a:rPr>
                        <a:t>년은 </a:t>
                      </a:r>
                      <a:r>
                        <a:rPr lang="en-US" altLang="ko-KR" sz="1800" kern="1200" dirty="0">
                          <a:solidFill>
                            <a:schemeClr val="dk1"/>
                          </a:solidFill>
                          <a:effectLst/>
                          <a:latin typeface="+mn-lt"/>
                          <a:ea typeface="+mn-ea"/>
                          <a:cs typeface="+mn-cs"/>
                        </a:rPr>
                        <a:t>No</a:t>
                      </a:r>
                    </a:p>
                    <a:p>
                      <a:pPr marL="285750" lvl="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정확도는 </a:t>
                      </a:r>
                      <a:r>
                        <a:rPr lang="en-US" altLang="ko-KR" sz="1800" kern="1200" dirty="0">
                          <a:solidFill>
                            <a:schemeClr val="dk1"/>
                          </a:solidFill>
                          <a:effectLst/>
                          <a:latin typeface="+mn-lt"/>
                          <a:ea typeface="+mn-ea"/>
                          <a:cs typeface="+mn-cs"/>
                        </a:rPr>
                        <a:t>25%</a:t>
                      </a:r>
                      <a:r>
                        <a:rPr lang="ko-KR" altLang="en-US" sz="1800" kern="1200" dirty="0">
                          <a:solidFill>
                            <a:schemeClr val="dk1"/>
                          </a:solidFill>
                          <a:effectLst/>
                          <a:latin typeface="+mn-lt"/>
                          <a:ea typeface="+mn-ea"/>
                          <a:cs typeface="+mn-cs"/>
                        </a:rPr>
                        <a:t>입니다</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3" name="그림 2">
            <a:extLst>
              <a:ext uri="{FF2B5EF4-FFF2-40B4-BE49-F238E27FC236}">
                <a16:creationId xmlns:a16="http://schemas.microsoft.com/office/drawing/2014/main" id="{FF36ACDF-11ED-4E6E-A854-385C377A2C4D}"/>
              </a:ext>
            </a:extLst>
          </p:cNvPr>
          <p:cNvPicPr>
            <a:picLocks noChangeAspect="1"/>
          </p:cNvPicPr>
          <p:nvPr/>
        </p:nvPicPr>
        <p:blipFill>
          <a:blip r:embed="rId2"/>
          <a:stretch>
            <a:fillRect/>
          </a:stretch>
        </p:blipFill>
        <p:spPr>
          <a:xfrm>
            <a:off x="192113" y="1442761"/>
            <a:ext cx="3785083" cy="3713834"/>
          </a:xfrm>
          <a:prstGeom prst="rect">
            <a:avLst/>
          </a:prstGeom>
        </p:spPr>
      </p:pic>
      <p:pic>
        <p:nvPicPr>
          <p:cNvPr id="5" name="그림 4">
            <a:extLst>
              <a:ext uri="{FF2B5EF4-FFF2-40B4-BE49-F238E27FC236}">
                <a16:creationId xmlns:a16="http://schemas.microsoft.com/office/drawing/2014/main" id="{5B3839D0-0BEC-4791-82EB-39AEB8C2CFA7}"/>
              </a:ext>
            </a:extLst>
          </p:cNvPr>
          <p:cNvPicPr>
            <a:picLocks noChangeAspect="1"/>
          </p:cNvPicPr>
          <p:nvPr/>
        </p:nvPicPr>
        <p:blipFill>
          <a:blip r:embed="rId3"/>
          <a:stretch>
            <a:fillRect/>
          </a:stretch>
        </p:blipFill>
        <p:spPr>
          <a:xfrm>
            <a:off x="192113" y="5463584"/>
            <a:ext cx="2817470" cy="699510"/>
          </a:xfrm>
          <a:prstGeom prst="rect">
            <a:avLst/>
          </a:prstGeom>
        </p:spPr>
      </p:pic>
    </p:spTree>
    <p:extLst>
      <p:ext uri="{BB962C8B-B14F-4D97-AF65-F5344CB8AC3E}">
        <p14:creationId xmlns:p14="http://schemas.microsoft.com/office/powerpoint/2010/main" val="2200567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5</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Partition  the  data  into  training  and  validation  periods,  so that  years  1987-1994  are  the  training  period.  Fit  a  logistic regression  to  the  training  period  using  the  two  predictors,  and report  the  outbreak  probability  as  well  as  a  forecast  for  year 1995  (use  a  threshold  of  0.5).</a:t>
            </a:r>
            <a:endPar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pic>
        <p:nvPicPr>
          <p:cNvPr id="4" name="그림 3">
            <a:extLst>
              <a:ext uri="{FF2B5EF4-FFF2-40B4-BE49-F238E27FC236}">
                <a16:creationId xmlns:a16="http://schemas.microsoft.com/office/drawing/2014/main" id="{0D77D6D8-7099-4168-9AE5-94885EBD24E2}"/>
              </a:ext>
            </a:extLst>
          </p:cNvPr>
          <p:cNvPicPr>
            <a:picLocks noChangeAspect="1"/>
          </p:cNvPicPr>
          <p:nvPr/>
        </p:nvPicPr>
        <p:blipFill>
          <a:blip r:embed="rId2"/>
          <a:stretch>
            <a:fillRect/>
          </a:stretch>
        </p:blipFill>
        <p:spPr>
          <a:xfrm>
            <a:off x="192112" y="1726107"/>
            <a:ext cx="3939637" cy="2424666"/>
          </a:xfrm>
          <a:prstGeom prst="rect">
            <a:avLst/>
          </a:prstGeom>
        </p:spPr>
      </p:pic>
      <p:pic>
        <p:nvPicPr>
          <p:cNvPr id="9" name="그림 8">
            <a:extLst>
              <a:ext uri="{FF2B5EF4-FFF2-40B4-BE49-F238E27FC236}">
                <a16:creationId xmlns:a16="http://schemas.microsoft.com/office/drawing/2014/main" id="{9B72821F-0543-4F11-9EE9-C3AD4F495263}"/>
              </a:ext>
            </a:extLst>
          </p:cNvPr>
          <p:cNvPicPr>
            <a:picLocks noChangeAspect="1"/>
          </p:cNvPicPr>
          <p:nvPr/>
        </p:nvPicPr>
        <p:blipFill>
          <a:blip r:embed="rId3"/>
          <a:stretch>
            <a:fillRect/>
          </a:stretch>
        </p:blipFill>
        <p:spPr>
          <a:xfrm>
            <a:off x="9078656" y="5117571"/>
            <a:ext cx="3057952" cy="1457528"/>
          </a:xfrm>
          <a:prstGeom prst="rect">
            <a:avLst/>
          </a:prstGeom>
        </p:spPr>
      </p:pic>
      <p:pic>
        <p:nvPicPr>
          <p:cNvPr id="16" name="그림 15">
            <a:extLst>
              <a:ext uri="{FF2B5EF4-FFF2-40B4-BE49-F238E27FC236}">
                <a16:creationId xmlns:a16="http://schemas.microsoft.com/office/drawing/2014/main" id="{74878C53-8388-4840-8CFC-076FA24D1EB7}"/>
              </a:ext>
            </a:extLst>
          </p:cNvPr>
          <p:cNvPicPr>
            <a:picLocks noChangeAspect="1"/>
          </p:cNvPicPr>
          <p:nvPr/>
        </p:nvPicPr>
        <p:blipFill>
          <a:blip r:embed="rId4"/>
          <a:stretch>
            <a:fillRect/>
          </a:stretch>
        </p:blipFill>
        <p:spPr>
          <a:xfrm>
            <a:off x="566365" y="5748443"/>
            <a:ext cx="1035288" cy="595893"/>
          </a:xfrm>
          <a:prstGeom prst="rect">
            <a:avLst/>
          </a:prstGeom>
        </p:spPr>
      </p:pic>
      <p:sp>
        <p:nvSpPr>
          <p:cNvPr id="17" name="직사각형 16">
            <a:extLst>
              <a:ext uri="{FF2B5EF4-FFF2-40B4-BE49-F238E27FC236}">
                <a16:creationId xmlns:a16="http://schemas.microsoft.com/office/drawing/2014/main" id="{CBBCDE09-88D4-4259-B1B6-86E6116B056C}"/>
              </a:ext>
            </a:extLst>
          </p:cNvPr>
          <p:cNvSpPr/>
          <p:nvPr/>
        </p:nvSpPr>
        <p:spPr>
          <a:xfrm>
            <a:off x="1601653" y="5846335"/>
            <a:ext cx="6627947" cy="400110"/>
          </a:xfrm>
          <a:prstGeom prst="rect">
            <a:avLst/>
          </a:prstGeom>
        </p:spPr>
        <p:txBody>
          <a:bodyPr wrap="square">
            <a:spAutoFit/>
          </a:bodyPr>
          <a:lstStyle/>
          <a:p>
            <a:pPr lvl="0" latinLnBrk="1"/>
            <a:r>
              <a:rPr lang="en-US" altLang="ko-KR" sz="2000" b="1" i="0" u="none" strike="noStrike" kern="1200" dirty="0">
                <a:solidFill>
                  <a:schemeClr val="bg1"/>
                </a:solidFill>
                <a:effectLst/>
                <a:latin typeface="+mn-lt"/>
                <a:ea typeface="+mn-ea"/>
                <a:cs typeface="+mn-cs"/>
              </a:rPr>
              <a:t>= −56.1543+1.3849⋅Max.temp+0.1877⋅Rel.humidity</a:t>
            </a:r>
            <a:endParaRPr lang="ko-KR" altLang="ko-KR" sz="2000" b="1" kern="1200" dirty="0">
              <a:solidFill>
                <a:schemeClr val="bg1"/>
              </a:solidFill>
              <a:effectLst/>
              <a:latin typeface="+mn-lt"/>
              <a:ea typeface="+mn-ea"/>
              <a:cs typeface="+mn-cs"/>
            </a:endParaRPr>
          </a:p>
        </p:txBody>
      </p:sp>
      <p:pic>
        <p:nvPicPr>
          <p:cNvPr id="19" name="그림 18">
            <a:extLst>
              <a:ext uri="{FF2B5EF4-FFF2-40B4-BE49-F238E27FC236}">
                <a16:creationId xmlns:a16="http://schemas.microsoft.com/office/drawing/2014/main" id="{02384428-AF42-483A-B3C9-2F4353BA4CB4}"/>
              </a:ext>
            </a:extLst>
          </p:cNvPr>
          <p:cNvPicPr>
            <a:picLocks noChangeAspect="1"/>
          </p:cNvPicPr>
          <p:nvPr/>
        </p:nvPicPr>
        <p:blipFill>
          <a:blip r:embed="rId5"/>
          <a:stretch>
            <a:fillRect/>
          </a:stretch>
        </p:blipFill>
        <p:spPr>
          <a:xfrm>
            <a:off x="9078656" y="1343401"/>
            <a:ext cx="3057952" cy="3545208"/>
          </a:xfrm>
          <a:prstGeom prst="rect">
            <a:avLst/>
          </a:prstGeom>
        </p:spPr>
      </p:pic>
      <p:graphicFrame>
        <p:nvGraphicFramePr>
          <p:cNvPr id="20" name="표 8">
            <a:extLst>
              <a:ext uri="{FF2B5EF4-FFF2-40B4-BE49-F238E27FC236}">
                <a16:creationId xmlns:a16="http://schemas.microsoft.com/office/drawing/2014/main" id="{34F0B639-07FD-488A-99DF-718097EFDE37}"/>
              </a:ext>
            </a:extLst>
          </p:cNvPr>
          <p:cNvGraphicFramePr>
            <a:graphicFrameLocks noGrp="1"/>
          </p:cNvGraphicFramePr>
          <p:nvPr>
            <p:extLst>
              <p:ext uri="{D42A27DB-BD31-4B8C-83A1-F6EECF244321}">
                <p14:modId xmlns:p14="http://schemas.microsoft.com/office/powerpoint/2010/main" val="1081972993"/>
              </p:ext>
            </p:extLst>
          </p:nvPr>
        </p:nvGraphicFramePr>
        <p:xfrm>
          <a:off x="4244497" y="1726107"/>
          <a:ext cx="4721411" cy="3474720"/>
        </p:xfrm>
        <a:graphic>
          <a:graphicData uri="http://schemas.openxmlformats.org/drawingml/2006/table">
            <a:tbl>
              <a:tblPr firstRow="1" bandRow="1">
                <a:tableStyleId>{5C22544A-7EE6-4342-B048-85BDC9FD1C3A}</a:tableStyleId>
              </a:tblPr>
              <a:tblGrid>
                <a:gridCol w="4721411">
                  <a:extLst>
                    <a:ext uri="{9D8B030D-6E8A-4147-A177-3AD203B41FA5}">
                      <a16:colId xmlns:a16="http://schemas.microsoft.com/office/drawing/2014/main" val="4093639860"/>
                    </a:ext>
                  </a:extLst>
                </a:gridCol>
              </a:tblGrid>
              <a:tr h="29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501999">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Train </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데이터를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1987~1994</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년으로 해서 </a:t>
                      </a:r>
                      <a:r>
                        <a:rPr kumimoji="0" lang="en-US" altLang="ko-KR" sz="1800" b="1" i="0" u="none" strike="noStrike" kern="0" cap="none" spc="0" normalizeH="0" baseline="0" noProof="0" dirty="0">
                          <a:ln>
                            <a:noFill/>
                          </a:ln>
                          <a:solidFill>
                            <a:schemeClr val="tx1"/>
                          </a:solidFill>
                          <a:effectLst/>
                          <a:uLnTx/>
                          <a:uFillTx/>
                          <a:latin typeface="+mn-lt"/>
                          <a:ea typeface="+mn-ea"/>
                          <a:cs typeface="+mn-cs"/>
                        </a:rPr>
                        <a:t>logistic regression</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을 이용하여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1995</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년을 예측 해봄</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r>
                        <a:rPr lang="ko-KR" altLang="ko-KR" sz="1800" kern="1200" dirty="0" err="1">
                          <a:solidFill>
                            <a:schemeClr val="dk1"/>
                          </a:solidFill>
                          <a:effectLst/>
                          <a:latin typeface="+mn-lt"/>
                          <a:ea typeface="+mn-ea"/>
                          <a:cs typeface="+mn-cs"/>
                        </a:rPr>
                        <a:t>로지스트</a:t>
                      </a:r>
                      <a:r>
                        <a:rPr lang="ko-KR" altLang="ko-KR" sz="1800" kern="1200" dirty="0">
                          <a:solidFill>
                            <a:schemeClr val="dk1"/>
                          </a:solidFill>
                          <a:effectLst/>
                          <a:latin typeface="+mn-lt"/>
                          <a:ea typeface="+mn-ea"/>
                          <a:cs typeface="+mn-cs"/>
                        </a:rPr>
                        <a:t> 회귀는 분류를 해주는</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게 아니라 확률</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값을 줌</a:t>
                      </a:r>
                      <a:r>
                        <a:rPr lang="en-US" altLang="ko-KR" sz="1800" kern="1200" dirty="0">
                          <a:solidFill>
                            <a:schemeClr val="dk1"/>
                          </a:solidFill>
                          <a:effectLst/>
                          <a:latin typeface="+mn-lt"/>
                          <a:ea typeface="+mn-ea"/>
                          <a:cs typeface="+mn-cs"/>
                        </a:rPr>
                        <a:t>.)</a:t>
                      </a:r>
                      <a:endParaRPr kumimoji="0" lang="en-US" altLang="ko-KR" sz="1800" b="0" i="0" u="none" strike="noStrike" kern="0" cap="none" spc="0" normalizeH="0" baseline="0" noProof="0" dirty="0">
                        <a:ln>
                          <a:noFill/>
                        </a:ln>
                        <a:solidFill>
                          <a:schemeClr val="tx1"/>
                        </a:solidFill>
                        <a:effectLst/>
                        <a:uLnTx/>
                        <a:uFillTx/>
                        <a:latin typeface="+mn-lt"/>
                        <a:ea typeface="+mn-ea"/>
                        <a:cs typeface="+mn-cs"/>
                      </a:endParaRPr>
                    </a:p>
                    <a:p>
                      <a:pPr marL="285750" lvl="0" indent="-285750" latinLnBrk="1">
                        <a:buFont typeface="Arial" panose="020B0604020202020204" pitchFamily="34" charset="0"/>
                        <a:buChar char="•"/>
                      </a:pPr>
                      <a:r>
                        <a:rPr lang="ko-KR" altLang="ko-KR" dirty="0"/>
                        <a:t>1995년의 발병 가능성은 11%</a:t>
                      </a:r>
                      <a:r>
                        <a:rPr lang="ko-KR" altLang="en-US" dirty="0"/>
                        <a:t>정도이며</a:t>
                      </a:r>
                      <a:r>
                        <a:rPr lang="en-US" altLang="ko-KR" dirty="0"/>
                        <a:t>, </a:t>
                      </a:r>
                      <a:r>
                        <a:rPr lang="ko-KR" altLang="ko-KR" dirty="0" err="1"/>
                        <a:t>임계값</a:t>
                      </a:r>
                      <a:r>
                        <a:rPr lang="ko-KR" altLang="en-US" dirty="0" err="1"/>
                        <a:t>이</a:t>
                      </a:r>
                      <a:r>
                        <a:rPr lang="ko-KR" altLang="ko-KR" dirty="0"/>
                        <a:t> 0.5</a:t>
                      </a:r>
                      <a:r>
                        <a:rPr lang="ko-KR" altLang="en-US" dirty="0"/>
                        <a:t>라고 한다면 유의성을 달성 하지 못하기에 </a:t>
                      </a:r>
                      <a:r>
                        <a:rPr lang="ko-KR" altLang="ko-KR" dirty="0"/>
                        <a:t>발병이 예상되지 않습니다.</a:t>
                      </a:r>
                      <a:endParaRPr lang="en-US" altLang="ko-KR" dirty="0"/>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Logistic regression</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으로 하면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4</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 동안 정확도가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75%</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정확도가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75%</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로 단순 예측 보다 정확도가 높아짐</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p>
                    <a:p>
                      <a:pPr marL="285750" lvl="0" indent="-285750" latinLnBrk="1">
                        <a:buFont typeface="Arial" panose="020B0604020202020204" pitchFamily="34" charset="0"/>
                        <a:buChar char="•"/>
                      </a:pPr>
                      <a:endParaRPr lang="en-US" altLang="ko-KR" sz="1800" b="0" kern="1200" dirty="0">
                        <a:solidFill>
                          <a:schemeClr val="tx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spTree>
    <p:extLst>
      <p:ext uri="{BB962C8B-B14F-4D97-AF65-F5344CB8AC3E}">
        <p14:creationId xmlns:p14="http://schemas.microsoft.com/office/powerpoint/2010/main" val="1274177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6</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Generate  outbreak  forecasts  for  years  1996,  1997  and  2000  by repeatedly  moving  the  training  period  forward.  For  example, to  forecast  year  1996,  partition  the  data  so  that  years  1987-1995 are  the  training  period.  Then  ﬁt  the  logistic  regression  model and  use  it  to  generate  a  forecast  (use  threshold  0.5).</a:t>
            </a:r>
            <a:endPar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3077604316"/>
              </p:ext>
            </p:extLst>
          </p:nvPr>
        </p:nvGraphicFramePr>
        <p:xfrm>
          <a:off x="5595533" y="1754892"/>
          <a:ext cx="4721411" cy="4884087"/>
        </p:xfrm>
        <a:graphic>
          <a:graphicData uri="http://schemas.openxmlformats.org/drawingml/2006/table">
            <a:tbl>
              <a:tblPr firstRow="1" bandRow="1">
                <a:tableStyleId>{5C22544A-7EE6-4342-B048-85BDC9FD1C3A}</a:tableStyleId>
              </a:tblPr>
              <a:tblGrid>
                <a:gridCol w="4721411">
                  <a:extLst>
                    <a:ext uri="{9D8B030D-6E8A-4147-A177-3AD203B41FA5}">
                      <a16:colId xmlns:a16="http://schemas.microsoft.com/office/drawing/2014/main" val="4093639860"/>
                    </a:ext>
                  </a:extLst>
                </a:gridCol>
              </a:tblGrid>
              <a:tr h="320554">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1282215">
                <a:tc>
                  <a:txBody>
                    <a:bodyPr/>
                    <a:lstStyle/>
                    <a:p>
                      <a:pPr marL="285750" indent="-285750" latinLnBrk="1">
                        <a:buFont typeface="Arial" panose="020B0604020202020204" pitchFamily="34" charset="0"/>
                        <a:buChar cha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Train </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데이터를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1987~1995</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년으로 해서 </a:t>
                      </a:r>
                      <a:r>
                        <a:rPr kumimoji="0" lang="en-US" altLang="ko-KR" sz="1800" b="1" i="0" u="none" strike="noStrike" kern="0" cap="none" spc="0" normalizeH="0" baseline="0" noProof="0" dirty="0">
                          <a:ln>
                            <a:noFill/>
                          </a:ln>
                          <a:solidFill>
                            <a:schemeClr val="tx1"/>
                          </a:solidFill>
                          <a:effectLst/>
                          <a:uLnTx/>
                          <a:uFillTx/>
                          <a:latin typeface="+mn-lt"/>
                          <a:ea typeface="+mn-ea"/>
                          <a:cs typeface="+mn-cs"/>
                        </a:rPr>
                        <a:t>logistic regression</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을 이용하여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1996</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년을 예측 해봄</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 0.6510</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으로 </a:t>
                      </a:r>
                      <a:r>
                        <a:rPr kumimoji="0" lang="ko-KR" altLang="en-US" sz="1800" b="0" i="0" u="none" strike="noStrike" kern="0" cap="none" spc="0" normalizeH="0" baseline="0" noProof="0" dirty="0" err="1">
                          <a:ln>
                            <a:noFill/>
                          </a:ln>
                          <a:solidFill>
                            <a:schemeClr val="tx1"/>
                          </a:solidFill>
                          <a:effectLst/>
                          <a:uLnTx/>
                          <a:uFillTx/>
                          <a:latin typeface="+mn-lt"/>
                          <a:ea typeface="+mn-ea"/>
                          <a:cs typeface="+mn-cs"/>
                          <a:sym typeface="Wingdings" panose="05000000000000000000" pitchFamily="2" charset="2"/>
                        </a:rPr>
                        <a:t>임계값</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 보다 높고 </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1996</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년에는 발병이 예상됨</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실제 값도 발병함</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a:t>
                      </a:r>
                      <a:endParaRPr lang="ko-KR" altLang="en-US" dirty="0"/>
                    </a:p>
                  </a:txBody>
                  <a:tcPr/>
                </a:tc>
                <a:extLst>
                  <a:ext uri="{0D108BD9-81ED-4DB2-BD59-A6C34878D82A}">
                    <a16:rowId xmlns:a16="http://schemas.microsoft.com/office/drawing/2014/main" val="2750185981"/>
                  </a:ext>
                </a:extLst>
              </a:tr>
              <a:tr h="1282215">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Train </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데이터를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1987~1996</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년으로 해서 </a:t>
                      </a:r>
                      <a:r>
                        <a:rPr kumimoji="0" lang="en-US" altLang="ko-KR" sz="1800" b="1" i="0" u="none" strike="noStrike" kern="0" cap="none" spc="0" normalizeH="0" baseline="0" noProof="0" dirty="0">
                          <a:ln>
                            <a:noFill/>
                          </a:ln>
                          <a:solidFill>
                            <a:schemeClr val="tx1"/>
                          </a:solidFill>
                          <a:effectLst/>
                          <a:uLnTx/>
                          <a:uFillTx/>
                          <a:latin typeface="+mn-lt"/>
                          <a:ea typeface="+mn-ea"/>
                          <a:cs typeface="+mn-cs"/>
                        </a:rPr>
                        <a:t>logistic regression</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을 이용하여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1997</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년을 예측 해봄</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 0.6623</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으로 </a:t>
                      </a:r>
                      <a:r>
                        <a:rPr kumimoji="0" lang="ko-KR" altLang="en-US" sz="1800" b="0" i="0" u="none" strike="noStrike" kern="0" cap="none" spc="0" normalizeH="0" baseline="0" noProof="0" dirty="0" err="1">
                          <a:ln>
                            <a:noFill/>
                          </a:ln>
                          <a:solidFill>
                            <a:schemeClr val="tx1"/>
                          </a:solidFill>
                          <a:effectLst/>
                          <a:uLnTx/>
                          <a:uFillTx/>
                          <a:latin typeface="+mn-lt"/>
                          <a:ea typeface="+mn-ea"/>
                          <a:cs typeface="+mn-cs"/>
                          <a:sym typeface="Wingdings" panose="05000000000000000000" pitchFamily="2" charset="2"/>
                        </a:rPr>
                        <a:t>임계값</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 보다 높고 </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1997</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년에는 발병이 예상됨</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실제 값은 발병 </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X)</a:t>
                      </a:r>
                      <a:endParaRPr lang="ko-KR" altLang="en-US" dirty="0"/>
                    </a:p>
                  </a:txBody>
                  <a:tcPr/>
                </a:tc>
                <a:extLst>
                  <a:ext uri="{0D108BD9-81ED-4DB2-BD59-A6C34878D82A}">
                    <a16:rowId xmlns:a16="http://schemas.microsoft.com/office/drawing/2014/main" val="3473582487"/>
                  </a:ext>
                </a:extLst>
              </a:tr>
              <a:tr h="1592247">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Train </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데이터를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1987~1997</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년으로 해서 </a:t>
                      </a:r>
                      <a:r>
                        <a:rPr kumimoji="0" lang="en-US" altLang="ko-KR" sz="1800" b="1" i="0" u="none" strike="noStrike" kern="0" cap="none" spc="0" normalizeH="0" baseline="0" noProof="0" dirty="0">
                          <a:ln>
                            <a:noFill/>
                          </a:ln>
                          <a:solidFill>
                            <a:schemeClr val="tx1"/>
                          </a:solidFill>
                          <a:effectLst/>
                          <a:uLnTx/>
                          <a:uFillTx/>
                          <a:latin typeface="+mn-lt"/>
                          <a:ea typeface="+mn-ea"/>
                          <a:cs typeface="+mn-cs"/>
                        </a:rPr>
                        <a:t>logistic regression</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을 이용하여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2000</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년을 예측 해봄</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 0.2993</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으로 </a:t>
                      </a:r>
                      <a:r>
                        <a:rPr kumimoji="0" lang="ko-KR" altLang="en-US" sz="1800" b="0" i="0" u="none" strike="noStrike" kern="0" cap="none" spc="0" normalizeH="0" baseline="0" noProof="0" dirty="0" err="1">
                          <a:ln>
                            <a:noFill/>
                          </a:ln>
                          <a:solidFill>
                            <a:schemeClr val="tx1"/>
                          </a:solidFill>
                          <a:effectLst/>
                          <a:uLnTx/>
                          <a:uFillTx/>
                          <a:latin typeface="+mn-lt"/>
                          <a:ea typeface="+mn-ea"/>
                          <a:cs typeface="+mn-cs"/>
                          <a:sym typeface="Wingdings" panose="05000000000000000000" pitchFamily="2" charset="2"/>
                        </a:rPr>
                        <a:t>임계값</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 보다 낮고 </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2000</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년에는 발병이 예상되지 않음</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a:t>
                      </a:r>
                      <a:r>
                        <a:rPr kumimoji="0" lang="ko-KR" altLang="en-US"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실제 값도 발병 안함</a:t>
                      </a:r>
                      <a:r>
                        <a:rPr kumimoji="0" lang="en-US" altLang="ko-KR" sz="1800" b="0" i="0" u="none" strike="noStrike" kern="0" cap="none" spc="0" normalizeH="0" baseline="0" noProof="0" dirty="0">
                          <a:ln>
                            <a:noFill/>
                          </a:ln>
                          <a:solidFill>
                            <a:schemeClr val="tx1"/>
                          </a:solidFill>
                          <a:effectLst/>
                          <a:uLnTx/>
                          <a:uFillTx/>
                          <a:latin typeface="+mn-lt"/>
                          <a:ea typeface="+mn-ea"/>
                          <a:cs typeface="+mn-cs"/>
                          <a:sym typeface="Wingdings" panose="05000000000000000000" pitchFamily="2" charset="2"/>
                        </a:rPr>
                        <a:t>)</a:t>
                      </a:r>
                      <a:endParaRPr lang="ko-KR" altLang="en-US" dirty="0"/>
                    </a:p>
                  </a:txBody>
                  <a:tcPr/>
                </a:tc>
                <a:extLst>
                  <a:ext uri="{0D108BD9-81ED-4DB2-BD59-A6C34878D82A}">
                    <a16:rowId xmlns:a16="http://schemas.microsoft.com/office/drawing/2014/main" val="398258525"/>
                  </a:ext>
                </a:extLst>
              </a:tr>
            </a:tbl>
          </a:graphicData>
        </a:graphic>
      </p:graphicFrame>
      <p:sp>
        <p:nvSpPr>
          <p:cNvPr id="12" name="직사각형 11">
            <a:extLst>
              <a:ext uri="{FF2B5EF4-FFF2-40B4-BE49-F238E27FC236}">
                <a16:creationId xmlns:a16="http://schemas.microsoft.com/office/drawing/2014/main" id="{0CD4CC3B-9B64-4063-9D4A-F7DEDE63BA33}"/>
              </a:ext>
            </a:extLst>
          </p:cNvPr>
          <p:cNvSpPr/>
          <p:nvPr/>
        </p:nvSpPr>
        <p:spPr>
          <a:xfrm>
            <a:off x="438699" y="1554837"/>
            <a:ext cx="5571483" cy="400110"/>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1987 ~ 1995</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이용해서 </a:t>
            </a: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1996</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예측</a:t>
            </a:r>
            <a:endParaRPr kumimoji="0" lang="ko-KR"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pic>
        <p:nvPicPr>
          <p:cNvPr id="13" name="그림 12">
            <a:extLst>
              <a:ext uri="{FF2B5EF4-FFF2-40B4-BE49-F238E27FC236}">
                <a16:creationId xmlns:a16="http://schemas.microsoft.com/office/drawing/2014/main" id="{4B66F59A-5521-4626-A111-041566D93951}"/>
              </a:ext>
            </a:extLst>
          </p:cNvPr>
          <p:cNvPicPr>
            <a:picLocks noChangeAspect="1"/>
          </p:cNvPicPr>
          <p:nvPr/>
        </p:nvPicPr>
        <p:blipFill>
          <a:blip r:embed="rId2"/>
          <a:stretch>
            <a:fillRect/>
          </a:stretch>
        </p:blipFill>
        <p:spPr>
          <a:xfrm>
            <a:off x="566365" y="3528856"/>
            <a:ext cx="1954893" cy="465451"/>
          </a:xfrm>
          <a:prstGeom prst="rect">
            <a:avLst/>
          </a:prstGeom>
        </p:spPr>
      </p:pic>
      <p:pic>
        <p:nvPicPr>
          <p:cNvPr id="15" name="그림 14">
            <a:extLst>
              <a:ext uri="{FF2B5EF4-FFF2-40B4-BE49-F238E27FC236}">
                <a16:creationId xmlns:a16="http://schemas.microsoft.com/office/drawing/2014/main" id="{4E8E84AC-E5AA-469A-90D5-C2F630840031}"/>
              </a:ext>
            </a:extLst>
          </p:cNvPr>
          <p:cNvPicPr>
            <a:picLocks noChangeAspect="1"/>
          </p:cNvPicPr>
          <p:nvPr/>
        </p:nvPicPr>
        <p:blipFill>
          <a:blip r:embed="rId3"/>
          <a:stretch>
            <a:fillRect/>
          </a:stretch>
        </p:blipFill>
        <p:spPr>
          <a:xfrm>
            <a:off x="566365" y="2097697"/>
            <a:ext cx="2860416" cy="428483"/>
          </a:xfrm>
          <a:prstGeom prst="rect">
            <a:avLst/>
          </a:prstGeom>
        </p:spPr>
      </p:pic>
      <p:pic>
        <p:nvPicPr>
          <p:cNvPr id="20" name="그림 19">
            <a:extLst>
              <a:ext uri="{FF2B5EF4-FFF2-40B4-BE49-F238E27FC236}">
                <a16:creationId xmlns:a16="http://schemas.microsoft.com/office/drawing/2014/main" id="{2130707E-DA19-4019-A0CF-D19E9F4A41EC}"/>
              </a:ext>
            </a:extLst>
          </p:cNvPr>
          <p:cNvPicPr>
            <a:picLocks noChangeAspect="1"/>
          </p:cNvPicPr>
          <p:nvPr/>
        </p:nvPicPr>
        <p:blipFill>
          <a:blip r:embed="rId4"/>
          <a:stretch>
            <a:fillRect/>
          </a:stretch>
        </p:blipFill>
        <p:spPr>
          <a:xfrm>
            <a:off x="566365" y="4754199"/>
            <a:ext cx="1035289" cy="416496"/>
          </a:xfrm>
          <a:prstGeom prst="rect">
            <a:avLst/>
          </a:prstGeom>
        </p:spPr>
      </p:pic>
      <p:sp>
        <p:nvSpPr>
          <p:cNvPr id="21" name="직사각형 20">
            <a:extLst>
              <a:ext uri="{FF2B5EF4-FFF2-40B4-BE49-F238E27FC236}">
                <a16:creationId xmlns:a16="http://schemas.microsoft.com/office/drawing/2014/main" id="{E6F73ED9-4BF5-46A7-B08E-94EEE78F9598}"/>
              </a:ext>
            </a:extLst>
          </p:cNvPr>
          <p:cNvSpPr/>
          <p:nvPr/>
        </p:nvSpPr>
        <p:spPr>
          <a:xfrm>
            <a:off x="438698" y="2930215"/>
            <a:ext cx="5571483" cy="400110"/>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1987 ~ 1996</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이용해서 </a:t>
            </a: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1997</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예측</a:t>
            </a:r>
            <a:endParaRPr kumimoji="0" lang="ko-KR"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6D8CF650-F061-491F-BDC3-A5527C39FEB7}"/>
              </a:ext>
            </a:extLst>
          </p:cNvPr>
          <p:cNvSpPr/>
          <p:nvPr/>
        </p:nvSpPr>
        <p:spPr>
          <a:xfrm>
            <a:off x="438698" y="4192838"/>
            <a:ext cx="5571483" cy="400110"/>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1987 ~ 1997</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이용해서 </a:t>
            </a:r>
            <a:r>
              <a:rPr lang="en-US" altLang="ko-KR" sz="2000" b="1" dirty="0">
                <a:solidFill>
                  <a:prstClr val="white"/>
                </a:solidFill>
                <a:latin typeface="맑은 고딕" panose="020F0502020204030204"/>
                <a:ea typeface="맑은 고딕" panose="020B0503020000020004" pitchFamily="50" charset="-127"/>
              </a:rPr>
              <a:t>2000</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예측</a:t>
            </a:r>
            <a:endParaRPr kumimoji="0" lang="ko-KR"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pic>
        <p:nvPicPr>
          <p:cNvPr id="25" name="그림 24">
            <a:extLst>
              <a:ext uri="{FF2B5EF4-FFF2-40B4-BE49-F238E27FC236}">
                <a16:creationId xmlns:a16="http://schemas.microsoft.com/office/drawing/2014/main" id="{72CC9C95-D445-47DF-AB4E-4AFF4507FA52}"/>
              </a:ext>
            </a:extLst>
          </p:cNvPr>
          <p:cNvPicPr>
            <a:picLocks noChangeAspect="1"/>
          </p:cNvPicPr>
          <p:nvPr/>
        </p:nvPicPr>
        <p:blipFill>
          <a:blip r:embed="rId5"/>
          <a:stretch>
            <a:fillRect/>
          </a:stretch>
        </p:blipFill>
        <p:spPr>
          <a:xfrm>
            <a:off x="10493988" y="1702210"/>
            <a:ext cx="1590897" cy="2114845"/>
          </a:xfrm>
          <a:prstGeom prst="rect">
            <a:avLst/>
          </a:prstGeom>
        </p:spPr>
      </p:pic>
    </p:spTree>
    <p:extLst>
      <p:ext uri="{BB962C8B-B14F-4D97-AF65-F5344CB8AC3E}">
        <p14:creationId xmlns:p14="http://schemas.microsoft.com/office/powerpoint/2010/main" val="1375759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7</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Summarize  the  logistic  regression’s  predictive  accuracy  for these  four  years  (1995-1997,  2000)  in  a  classiﬁcation  matrix.</a:t>
            </a:r>
            <a:endPar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922798503"/>
              </p:ext>
            </p:extLst>
          </p:nvPr>
        </p:nvGraphicFramePr>
        <p:xfrm>
          <a:off x="7438947" y="1386594"/>
          <a:ext cx="4721411" cy="5265875"/>
        </p:xfrm>
        <a:graphic>
          <a:graphicData uri="http://schemas.openxmlformats.org/drawingml/2006/table">
            <a:tbl>
              <a:tblPr firstRow="1" bandRow="1">
                <a:tableStyleId>{5C22544A-7EE6-4342-B048-85BDC9FD1C3A}</a:tableStyleId>
              </a:tblPr>
              <a:tblGrid>
                <a:gridCol w="4721411">
                  <a:extLst>
                    <a:ext uri="{9D8B030D-6E8A-4147-A177-3AD203B41FA5}">
                      <a16:colId xmlns:a16="http://schemas.microsoft.com/office/drawing/2014/main" val="4093639860"/>
                    </a:ext>
                  </a:extLst>
                </a:gridCol>
              </a:tblGrid>
              <a:tr h="320554">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1800" b="1" kern="1200" dirty="0">
                          <a:solidFill>
                            <a:schemeClr val="lt1"/>
                          </a:solidFill>
                          <a:effectLst/>
                          <a:latin typeface="+mn-lt"/>
                          <a:ea typeface="+mn-ea"/>
                          <a:cs typeface="+mn-cs"/>
                        </a:rPr>
                        <a:t>확률</a:t>
                      </a:r>
                      <a:r>
                        <a:rPr lang="en-US" altLang="ko-KR" sz="1800" b="1" kern="1200" dirty="0">
                          <a:solidFill>
                            <a:schemeClr val="lt1"/>
                          </a:solidFill>
                          <a:effectLst/>
                          <a:latin typeface="+mn-lt"/>
                          <a:ea typeface="+mn-ea"/>
                          <a:cs typeface="+mn-cs"/>
                        </a:rPr>
                        <a:t> </a:t>
                      </a:r>
                      <a:r>
                        <a:rPr lang="ko-KR" altLang="ko-KR" sz="1800" b="1" kern="1200" dirty="0">
                          <a:solidFill>
                            <a:schemeClr val="lt1"/>
                          </a:solidFill>
                          <a:effectLst/>
                          <a:latin typeface="+mn-lt"/>
                          <a:ea typeface="+mn-ea"/>
                          <a:cs typeface="+mn-cs"/>
                        </a:rPr>
                        <a:t>값을 </a:t>
                      </a:r>
                      <a:r>
                        <a:rPr lang="en-US" altLang="ko-KR" sz="1800" b="1" kern="1200" dirty="0">
                          <a:solidFill>
                            <a:schemeClr val="lt1"/>
                          </a:solidFill>
                          <a:effectLst/>
                          <a:latin typeface="+mn-lt"/>
                          <a:ea typeface="+mn-ea"/>
                          <a:cs typeface="+mn-cs"/>
                        </a:rPr>
                        <a:t>cut off</a:t>
                      </a:r>
                      <a:r>
                        <a:rPr lang="ko-KR" altLang="ko-KR" sz="1800" b="1" kern="1200" dirty="0">
                          <a:solidFill>
                            <a:schemeClr val="lt1"/>
                          </a:solidFill>
                          <a:effectLst/>
                          <a:latin typeface="+mn-lt"/>
                          <a:ea typeface="+mn-ea"/>
                          <a:cs typeface="+mn-cs"/>
                        </a:rPr>
                        <a:t>를 해야함</a:t>
                      </a:r>
                      <a:endParaRPr lang="en-US" altLang="ko-KR" sz="1800" b="1" kern="1200" dirty="0">
                        <a:solidFill>
                          <a:schemeClr val="lt1"/>
                        </a:solidFill>
                        <a:effectLst/>
                        <a:latin typeface="+mn-lt"/>
                        <a:ea typeface="+mn-ea"/>
                        <a:cs typeface="+mn-cs"/>
                      </a:endParaRPr>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800" b="1" kern="1200" dirty="0">
                          <a:solidFill>
                            <a:schemeClr val="lt1"/>
                          </a:solidFill>
                          <a:effectLst/>
                          <a:latin typeface="+mn-lt"/>
                          <a:ea typeface="+mn-ea"/>
                          <a:cs typeface="+mn-cs"/>
                        </a:rPr>
                        <a:t>Cut off</a:t>
                      </a:r>
                      <a:r>
                        <a:rPr lang="ko-KR" altLang="ko-KR" sz="1800" b="1" kern="1200" dirty="0">
                          <a:solidFill>
                            <a:schemeClr val="lt1"/>
                          </a:solidFill>
                          <a:effectLst/>
                          <a:latin typeface="+mn-lt"/>
                          <a:ea typeface="+mn-ea"/>
                          <a:cs typeface="+mn-cs"/>
                        </a:rPr>
                        <a:t>를 </a:t>
                      </a:r>
                      <a:r>
                        <a:rPr lang="en-US" altLang="ko-KR" sz="1800" b="1" kern="1200" dirty="0">
                          <a:solidFill>
                            <a:schemeClr val="lt1"/>
                          </a:solidFill>
                          <a:effectLst/>
                          <a:latin typeface="+mn-lt"/>
                          <a:ea typeface="+mn-ea"/>
                          <a:cs typeface="+mn-cs"/>
                        </a:rPr>
                        <a:t>0.5</a:t>
                      </a:r>
                      <a:r>
                        <a:rPr lang="ko-KR" altLang="ko-KR" sz="1800" b="1" kern="1200" dirty="0">
                          <a:solidFill>
                            <a:schemeClr val="lt1"/>
                          </a:solidFill>
                          <a:effectLst/>
                          <a:latin typeface="+mn-lt"/>
                          <a:ea typeface="+mn-ea"/>
                          <a:cs typeface="+mn-cs"/>
                        </a:rPr>
                        <a:t>나 정확도</a:t>
                      </a:r>
                      <a:r>
                        <a:rPr lang="en-US" altLang="ko-KR" sz="1800" b="1" kern="1200" dirty="0">
                          <a:solidFill>
                            <a:schemeClr val="lt1"/>
                          </a:solidFill>
                          <a:effectLst/>
                          <a:latin typeface="+mn-lt"/>
                          <a:ea typeface="+mn-ea"/>
                          <a:cs typeface="+mn-cs"/>
                        </a:rPr>
                        <a:t>, </a:t>
                      </a:r>
                      <a:r>
                        <a:rPr lang="ko-KR" altLang="ko-KR" sz="1800" b="1" kern="1200" dirty="0">
                          <a:solidFill>
                            <a:schemeClr val="lt1"/>
                          </a:solidFill>
                          <a:effectLst/>
                          <a:latin typeface="+mn-lt"/>
                          <a:ea typeface="+mn-ea"/>
                          <a:cs typeface="+mn-cs"/>
                        </a:rPr>
                        <a:t>비용을 </a:t>
                      </a:r>
                      <a:r>
                        <a:rPr lang="ko-KR" altLang="en-US" sz="1800" b="1" kern="1200" dirty="0">
                          <a:solidFill>
                            <a:schemeClr val="lt1"/>
                          </a:solidFill>
                          <a:effectLst/>
                          <a:latin typeface="+mn-lt"/>
                          <a:ea typeface="+mn-ea"/>
                          <a:cs typeface="+mn-cs"/>
                        </a:rPr>
                        <a:t>고려해서 </a:t>
                      </a:r>
                      <a:r>
                        <a:rPr lang="ko-KR" altLang="ko-KR" sz="1800" b="1" kern="1200" dirty="0">
                          <a:solidFill>
                            <a:schemeClr val="lt1"/>
                          </a:solidFill>
                          <a:effectLst/>
                          <a:latin typeface="+mn-lt"/>
                          <a:ea typeface="+mn-ea"/>
                          <a:cs typeface="+mn-cs"/>
                        </a:rPr>
                        <a:t>변경을 할 수</a:t>
                      </a:r>
                      <a:r>
                        <a:rPr lang="en-US" altLang="ko-KR" sz="1800" b="1" kern="1200" dirty="0">
                          <a:solidFill>
                            <a:schemeClr val="lt1"/>
                          </a:solidFill>
                          <a:effectLst/>
                          <a:latin typeface="+mn-lt"/>
                          <a:ea typeface="+mn-ea"/>
                          <a:cs typeface="+mn-cs"/>
                        </a:rPr>
                        <a:t> </a:t>
                      </a:r>
                      <a:r>
                        <a:rPr lang="ko-KR" altLang="ko-KR" sz="1800" b="1" kern="1200" dirty="0">
                          <a:solidFill>
                            <a:schemeClr val="lt1"/>
                          </a:solidFill>
                          <a:effectLst/>
                          <a:latin typeface="+mn-lt"/>
                          <a:ea typeface="+mn-ea"/>
                          <a:cs typeface="+mn-cs"/>
                        </a:rPr>
                        <a:t>있습니다</a:t>
                      </a:r>
                      <a:r>
                        <a:rPr lang="en-US" altLang="ko-KR" sz="1800" b="1" kern="1200" dirty="0">
                          <a:solidFill>
                            <a:schemeClr val="lt1"/>
                          </a:solidFill>
                          <a:effectLst/>
                          <a:latin typeface="+mn-lt"/>
                          <a:ea typeface="+mn-ea"/>
                          <a:cs typeface="+mn-cs"/>
                        </a:rPr>
                        <a:t>.</a:t>
                      </a:r>
                      <a:endParaRPr lang="ko-KR" altLang="ko-KR" sz="1800" b="1" kern="1200" dirty="0">
                        <a:solidFill>
                          <a:schemeClr val="lt1"/>
                        </a:solidFill>
                        <a:effectLst/>
                        <a:latin typeface="+mn-lt"/>
                        <a:ea typeface="+mn-ea"/>
                        <a:cs typeface="+mn-cs"/>
                      </a:endParaRPr>
                    </a:p>
                  </a:txBody>
                  <a:tcPr/>
                </a:tc>
                <a:extLst>
                  <a:ext uri="{0D108BD9-81ED-4DB2-BD59-A6C34878D82A}">
                    <a16:rowId xmlns:a16="http://schemas.microsoft.com/office/drawing/2014/main" val="3200778601"/>
                  </a:ext>
                </a:extLst>
              </a:tr>
              <a:tr h="777325">
                <a:tc>
                  <a:txBody>
                    <a:bodyPr/>
                    <a:lstStyle/>
                    <a:p>
                      <a:pPr marL="285750" indent="-285750" latinLnBrk="1">
                        <a:buFont typeface="Arial" panose="020B0604020202020204" pitchFamily="34" charset="0"/>
                        <a:buChar cha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1995</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년의 경우는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75%</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로서 단순예측보다 정확도가 좋았습니다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a:t>
                      </a:r>
                      <a:endParaRPr lang="ko-KR" altLang="en-US" dirty="0"/>
                    </a:p>
                  </a:txBody>
                  <a:tcPr/>
                </a:tc>
                <a:extLst>
                  <a:ext uri="{0D108BD9-81ED-4DB2-BD59-A6C34878D82A}">
                    <a16:rowId xmlns:a16="http://schemas.microsoft.com/office/drawing/2014/main" val="2750185981"/>
                  </a:ext>
                </a:extLst>
              </a:tr>
              <a:tr h="648070">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1996</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년의 경우는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66.67%</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으로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1995</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 보다 낮아졌습니다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endParaRPr lang="ko-KR" altLang="en-US" dirty="0"/>
                    </a:p>
                  </a:txBody>
                  <a:tcPr/>
                </a:tc>
                <a:extLst>
                  <a:ext uri="{0D108BD9-81ED-4DB2-BD59-A6C34878D82A}">
                    <a16:rowId xmlns:a16="http://schemas.microsoft.com/office/drawing/2014/main" val="3473582487"/>
                  </a:ext>
                </a:extLst>
              </a:tr>
              <a:tr h="796124">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1997</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년의 경우는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50% </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입니다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1,0</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으로 예측 했지만 실제 값은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0, 0</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입니다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1997</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년의 경우는 </a:t>
                      </a:r>
                      <a:r>
                        <a:rPr kumimoji="0" lang="ko-KR" altLang="en-US" sz="1800" b="0" i="0" u="none" strike="noStrike" kern="0" cap="none" spc="0" normalizeH="0" baseline="0" noProof="0" dirty="0" err="1">
                          <a:ln>
                            <a:noFill/>
                          </a:ln>
                          <a:solidFill>
                            <a:schemeClr val="tx1"/>
                          </a:solidFill>
                          <a:effectLst/>
                          <a:uLnTx/>
                          <a:uFillTx/>
                          <a:latin typeface="+mn-lt"/>
                          <a:ea typeface="+mn-ea"/>
                          <a:cs typeface="+mn-cs"/>
                        </a:rPr>
                        <a:t>예측값의</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level</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이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0,1</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이였고 실제 값이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0, 0</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이라서 예측이 안되었습니다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endParaRPr lang="ko-KR" altLang="en-US" dirty="0"/>
                    </a:p>
                  </a:txBody>
                  <a:tcPr/>
                </a:tc>
                <a:extLst>
                  <a:ext uri="{0D108BD9-81ED-4DB2-BD59-A6C34878D82A}">
                    <a16:rowId xmlns:a16="http://schemas.microsoft.com/office/drawing/2014/main" val="398258525"/>
                  </a:ext>
                </a:extLst>
              </a:tr>
              <a:tr h="796124">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dirty="0"/>
                        <a:t>2000</a:t>
                      </a:r>
                      <a:r>
                        <a:rPr lang="ko-KR" altLang="en-US" dirty="0"/>
                        <a:t>년의 경우는 예측과 실제 값이 </a:t>
                      </a:r>
                      <a:r>
                        <a:rPr lang="en-US" altLang="ko-KR" dirty="0"/>
                        <a:t>no</a:t>
                      </a:r>
                      <a:r>
                        <a:rPr lang="ko-KR" altLang="en-US" dirty="0"/>
                        <a:t>로 같았습니다</a:t>
                      </a:r>
                      <a:r>
                        <a:rPr lang="en-US" altLang="ko-KR" dirty="0"/>
                        <a:t>.</a:t>
                      </a:r>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dirty="0"/>
                        <a:t>2000</a:t>
                      </a:r>
                      <a:r>
                        <a:rPr lang="ko-KR" altLang="en-US" dirty="0"/>
                        <a:t>년의 경우는 </a:t>
                      </a:r>
                      <a:r>
                        <a:rPr lang="ko-KR" altLang="en-US" dirty="0" err="1"/>
                        <a:t>예측값의</a:t>
                      </a:r>
                      <a:r>
                        <a:rPr lang="ko-KR" altLang="en-US" dirty="0"/>
                        <a:t> </a:t>
                      </a:r>
                      <a:r>
                        <a:rPr lang="en-US" altLang="ko-KR" dirty="0"/>
                        <a:t>level</a:t>
                      </a:r>
                      <a:r>
                        <a:rPr lang="ko-KR" altLang="en-US" dirty="0"/>
                        <a:t>이 </a:t>
                      </a:r>
                      <a:r>
                        <a:rPr lang="en-US" altLang="ko-KR" dirty="0"/>
                        <a:t>1</a:t>
                      </a:r>
                      <a:r>
                        <a:rPr lang="ko-KR" altLang="en-US" dirty="0"/>
                        <a:t>개라서 적어도 </a:t>
                      </a:r>
                      <a:r>
                        <a:rPr lang="en-US" altLang="ko-KR" dirty="0"/>
                        <a:t>2</a:t>
                      </a:r>
                      <a:r>
                        <a:rPr lang="ko-KR" altLang="en-US" dirty="0"/>
                        <a:t>개이상이 필요한 </a:t>
                      </a:r>
                      <a:r>
                        <a:rPr lang="en-US" altLang="ko-KR" dirty="0" err="1"/>
                        <a:t>confusionMatrix</a:t>
                      </a:r>
                      <a:r>
                        <a:rPr lang="ko-KR" altLang="en-US" dirty="0"/>
                        <a:t>에서는 에러가 뜹니다</a:t>
                      </a:r>
                      <a:r>
                        <a:rPr lang="en-US" altLang="ko-KR" dirty="0"/>
                        <a:t>.</a:t>
                      </a:r>
                      <a:endParaRPr lang="ko-KR" altLang="en-US" dirty="0"/>
                    </a:p>
                  </a:txBody>
                  <a:tcPr/>
                </a:tc>
                <a:extLst>
                  <a:ext uri="{0D108BD9-81ED-4DB2-BD59-A6C34878D82A}">
                    <a16:rowId xmlns:a16="http://schemas.microsoft.com/office/drawing/2014/main" val="3844396361"/>
                  </a:ext>
                </a:extLst>
              </a:tr>
            </a:tbl>
          </a:graphicData>
        </a:graphic>
      </p:graphicFrame>
      <p:sp>
        <p:nvSpPr>
          <p:cNvPr id="12" name="직사각형 11">
            <a:extLst>
              <a:ext uri="{FF2B5EF4-FFF2-40B4-BE49-F238E27FC236}">
                <a16:creationId xmlns:a16="http://schemas.microsoft.com/office/drawing/2014/main" id="{0CD4CC3B-9B64-4063-9D4A-F7DEDE63BA33}"/>
              </a:ext>
            </a:extLst>
          </p:cNvPr>
          <p:cNvSpPr/>
          <p:nvPr/>
        </p:nvSpPr>
        <p:spPr>
          <a:xfrm>
            <a:off x="190047" y="1217317"/>
            <a:ext cx="2079326"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1995</a:t>
            </a:r>
            <a:r>
              <a:rPr kumimoji="0" lang="ko-KR" altLang="en-US"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 </a:t>
            </a:r>
            <a:r>
              <a:rPr lang="ko-KR" altLang="en-US" sz="1600" b="1" dirty="0">
                <a:solidFill>
                  <a:prstClr val="white"/>
                </a:solidFill>
                <a:latin typeface="맑은 고딕" panose="020F0502020204030204"/>
                <a:ea typeface="맑은 고딕" panose="020B0503020000020004" pitchFamily="50" charset="-127"/>
              </a:rPr>
              <a:t>예측 정확도</a:t>
            </a:r>
            <a:endParaRPr kumimoji="0" lang="ko-KR"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graphicFrame>
        <p:nvGraphicFramePr>
          <p:cNvPr id="26" name="표 8">
            <a:extLst>
              <a:ext uri="{FF2B5EF4-FFF2-40B4-BE49-F238E27FC236}">
                <a16:creationId xmlns:a16="http://schemas.microsoft.com/office/drawing/2014/main" id="{76B03599-27A3-4DAB-975D-F38A7E789761}"/>
              </a:ext>
            </a:extLst>
          </p:cNvPr>
          <p:cNvGraphicFramePr>
            <a:graphicFrameLocks noGrp="1"/>
          </p:cNvGraphicFramePr>
          <p:nvPr>
            <p:extLst>
              <p:ext uri="{D42A27DB-BD31-4B8C-83A1-F6EECF244321}">
                <p14:modId xmlns:p14="http://schemas.microsoft.com/office/powerpoint/2010/main" val="3357109545"/>
              </p:ext>
            </p:extLst>
          </p:nvPr>
        </p:nvGraphicFramePr>
        <p:xfrm>
          <a:off x="5255592" y="4834950"/>
          <a:ext cx="2214997" cy="1671094"/>
        </p:xfrm>
        <a:graphic>
          <a:graphicData uri="http://schemas.openxmlformats.org/drawingml/2006/table">
            <a:tbl>
              <a:tblPr firstRow="1" bandRow="1">
                <a:tableStyleId>{5C22544A-7EE6-4342-B048-85BDC9FD1C3A}</a:tableStyleId>
              </a:tblPr>
              <a:tblGrid>
                <a:gridCol w="1035473">
                  <a:extLst>
                    <a:ext uri="{9D8B030D-6E8A-4147-A177-3AD203B41FA5}">
                      <a16:colId xmlns:a16="http://schemas.microsoft.com/office/drawing/2014/main" val="4093639860"/>
                    </a:ext>
                  </a:extLst>
                </a:gridCol>
                <a:gridCol w="1179524">
                  <a:extLst>
                    <a:ext uri="{9D8B030D-6E8A-4147-A177-3AD203B41FA5}">
                      <a16:colId xmlns:a16="http://schemas.microsoft.com/office/drawing/2014/main" val="2208752383"/>
                    </a:ext>
                  </a:extLst>
                </a:gridCol>
              </a:tblGrid>
              <a:tr h="406217">
                <a:tc gridSpan="2">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ko-KR" sz="1800" b="1" kern="1200" dirty="0">
                        <a:solidFill>
                          <a:schemeClr val="lt1"/>
                        </a:solidFill>
                        <a:effectLst/>
                        <a:latin typeface="+mn-lt"/>
                        <a:ea typeface="+mn-ea"/>
                        <a:cs typeface="+mn-cs"/>
                      </a:endParaRPr>
                    </a:p>
                  </a:txBody>
                  <a:tcPr/>
                </a:tc>
                <a:tc hMerge="1">
                  <a:txBody>
                    <a:bodyPr/>
                    <a:lstStyle/>
                    <a:p>
                      <a:pPr latinLnBrk="1"/>
                      <a:endParaRPr lang="ko-KR" altLang="en-US"/>
                    </a:p>
                  </a:txBody>
                  <a:tcPr/>
                </a:tc>
                <a:extLst>
                  <a:ext uri="{0D108BD9-81ED-4DB2-BD59-A6C34878D82A}">
                    <a16:rowId xmlns:a16="http://schemas.microsoft.com/office/drawing/2014/main" val="3200778601"/>
                  </a:ext>
                </a:extLst>
              </a:tr>
              <a:tr h="350477">
                <a:tc>
                  <a:txBody>
                    <a:bodyPr/>
                    <a:lstStyle/>
                    <a:p>
                      <a:pPr marL="285750" indent="-285750" latinLnBrk="1">
                        <a:buFont typeface="Arial" panose="020B0604020202020204" pitchFamily="34" charset="0"/>
                        <a:buChar char="•"/>
                      </a:pPr>
                      <a:r>
                        <a:rPr lang="en-US" altLang="ko-KR" sz="1400" dirty="0"/>
                        <a:t>1995</a:t>
                      </a:r>
                      <a:endParaRPr lang="ko-KR" altLang="en-US" sz="1400" dirty="0"/>
                    </a:p>
                  </a:txBody>
                  <a:tcPr/>
                </a:tc>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400" dirty="0"/>
                        <a:t>75%</a:t>
                      </a:r>
                      <a:endParaRPr lang="ko-KR" altLang="en-US" sz="1400" dirty="0"/>
                    </a:p>
                  </a:txBody>
                  <a:tcPr/>
                </a:tc>
                <a:extLst>
                  <a:ext uri="{0D108BD9-81ED-4DB2-BD59-A6C34878D82A}">
                    <a16:rowId xmlns:a16="http://schemas.microsoft.com/office/drawing/2014/main" val="2750185981"/>
                  </a:ext>
                </a:extLst>
              </a:tr>
              <a:tr h="263858">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400" dirty="0"/>
                        <a:t>1996</a:t>
                      </a:r>
                      <a:endParaRPr lang="ko-KR" altLang="en-US" sz="1400" dirty="0"/>
                    </a:p>
                  </a:txBody>
                  <a:tcPr/>
                </a:tc>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400" dirty="0"/>
                        <a:t>66.67%</a:t>
                      </a:r>
                      <a:endParaRPr lang="ko-KR" altLang="en-US" sz="1400" dirty="0"/>
                    </a:p>
                  </a:txBody>
                  <a:tcPr/>
                </a:tc>
                <a:extLst>
                  <a:ext uri="{0D108BD9-81ED-4DB2-BD59-A6C34878D82A}">
                    <a16:rowId xmlns:a16="http://schemas.microsoft.com/office/drawing/2014/main" val="3473582487"/>
                  </a:ext>
                </a:extLst>
              </a:tr>
              <a:tr h="263858">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400" dirty="0"/>
                        <a:t>1997</a:t>
                      </a:r>
                      <a:endParaRPr lang="ko-KR" altLang="en-US" sz="1400" dirty="0"/>
                    </a:p>
                  </a:txBody>
                  <a:tcPr/>
                </a:tc>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400" dirty="0"/>
                        <a:t>50 %</a:t>
                      </a:r>
                      <a:endParaRPr lang="ko-KR" altLang="en-US" sz="1400" dirty="0"/>
                    </a:p>
                  </a:txBody>
                  <a:tcPr/>
                </a:tc>
                <a:extLst>
                  <a:ext uri="{0D108BD9-81ED-4DB2-BD59-A6C34878D82A}">
                    <a16:rowId xmlns:a16="http://schemas.microsoft.com/office/drawing/2014/main" val="398258525"/>
                  </a:ext>
                </a:extLst>
              </a:tr>
              <a:tr h="263858">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400" dirty="0"/>
                        <a:t>2000</a:t>
                      </a:r>
                      <a:endParaRPr lang="ko-KR" altLang="en-US" sz="1400" dirty="0"/>
                    </a:p>
                  </a:txBody>
                  <a:tcPr/>
                </a:tc>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400" dirty="0"/>
                        <a:t>0 %</a:t>
                      </a:r>
                      <a:endParaRPr lang="ko-KR" altLang="en-US" sz="1400" dirty="0"/>
                    </a:p>
                  </a:txBody>
                  <a:tcPr/>
                </a:tc>
                <a:extLst>
                  <a:ext uri="{0D108BD9-81ED-4DB2-BD59-A6C34878D82A}">
                    <a16:rowId xmlns:a16="http://schemas.microsoft.com/office/drawing/2014/main" val="3844396361"/>
                  </a:ext>
                </a:extLst>
              </a:tr>
            </a:tbl>
          </a:graphicData>
        </a:graphic>
      </p:graphicFrame>
      <p:pic>
        <p:nvPicPr>
          <p:cNvPr id="16" name="그림 15">
            <a:extLst>
              <a:ext uri="{FF2B5EF4-FFF2-40B4-BE49-F238E27FC236}">
                <a16:creationId xmlns:a16="http://schemas.microsoft.com/office/drawing/2014/main" id="{3971DE9A-CF14-479C-9B91-BF6DD73DF94B}"/>
              </a:ext>
            </a:extLst>
          </p:cNvPr>
          <p:cNvPicPr>
            <a:picLocks noChangeAspect="1"/>
          </p:cNvPicPr>
          <p:nvPr/>
        </p:nvPicPr>
        <p:blipFill>
          <a:blip r:embed="rId2"/>
          <a:stretch>
            <a:fillRect/>
          </a:stretch>
        </p:blipFill>
        <p:spPr>
          <a:xfrm>
            <a:off x="0" y="1555871"/>
            <a:ext cx="2441359" cy="2367286"/>
          </a:xfrm>
          <a:prstGeom prst="rect">
            <a:avLst/>
          </a:prstGeom>
        </p:spPr>
      </p:pic>
      <p:pic>
        <p:nvPicPr>
          <p:cNvPr id="34" name="그림 33">
            <a:extLst>
              <a:ext uri="{FF2B5EF4-FFF2-40B4-BE49-F238E27FC236}">
                <a16:creationId xmlns:a16="http://schemas.microsoft.com/office/drawing/2014/main" id="{91611927-91FE-44BA-8D52-98901C48CA2F}"/>
              </a:ext>
            </a:extLst>
          </p:cNvPr>
          <p:cNvPicPr>
            <a:picLocks noChangeAspect="1"/>
          </p:cNvPicPr>
          <p:nvPr/>
        </p:nvPicPr>
        <p:blipFill>
          <a:blip r:embed="rId3"/>
          <a:stretch>
            <a:fillRect/>
          </a:stretch>
        </p:blipFill>
        <p:spPr>
          <a:xfrm>
            <a:off x="2753470" y="1522821"/>
            <a:ext cx="2296543" cy="2400336"/>
          </a:xfrm>
          <a:prstGeom prst="rect">
            <a:avLst/>
          </a:prstGeom>
        </p:spPr>
      </p:pic>
      <p:sp>
        <p:nvSpPr>
          <p:cNvPr id="35" name="직사각형 34">
            <a:extLst>
              <a:ext uri="{FF2B5EF4-FFF2-40B4-BE49-F238E27FC236}">
                <a16:creationId xmlns:a16="http://schemas.microsoft.com/office/drawing/2014/main" id="{79CE40ED-EF30-4D5F-82B3-8CC4731A7BB1}"/>
              </a:ext>
            </a:extLst>
          </p:cNvPr>
          <p:cNvSpPr/>
          <p:nvPr/>
        </p:nvSpPr>
        <p:spPr>
          <a:xfrm>
            <a:off x="2840383" y="1217317"/>
            <a:ext cx="2079326"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1996</a:t>
            </a:r>
            <a:r>
              <a:rPr kumimoji="0" lang="ko-KR" altLang="en-US"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 </a:t>
            </a:r>
            <a:r>
              <a:rPr lang="ko-KR" altLang="en-US" sz="1600" b="1" dirty="0">
                <a:solidFill>
                  <a:prstClr val="white"/>
                </a:solidFill>
                <a:latin typeface="맑은 고딕" panose="020F0502020204030204"/>
                <a:ea typeface="맑은 고딕" panose="020B0503020000020004" pitchFamily="50" charset="-127"/>
              </a:rPr>
              <a:t>예측 정확도</a:t>
            </a:r>
            <a:endParaRPr kumimoji="0" lang="ko-KR"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6" name="직사각형 35">
            <a:extLst>
              <a:ext uri="{FF2B5EF4-FFF2-40B4-BE49-F238E27FC236}">
                <a16:creationId xmlns:a16="http://schemas.microsoft.com/office/drawing/2014/main" id="{F30653A9-700E-40F8-8B75-59E3BCA078B9}"/>
              </a:ext>
            </a:extLst>
          </p:cNvPr>
          <p:cNvSpPr/>
          <p:nvPr/>
        </p:nvSpPr>
        <p:spPr>
          <a:xfrm>
            <a:off x="181016" y="4235534"/>
            <a:ext cx="2079326"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1997</a:t>
            </a:r>
            <a:r>
              <a:rPr kumimoji="0" lang="ko-KR" altLang="en-US"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 </a:t>
            </a:r>
            <a:r>
              <a:rPr lang="ko-KR" altLang="en-US" sz="1600" b="1" dirty="0">
                <a:solidFill>
                  <a:prstClr val="white"/>
                </a:solidFill>
                <a:latin typeface="맑은 고딕" panose="020F0502020204030204"/>
                <a:ea typeface="맑은 고딕" panose="020B0503020000020004" pitchFamily="50" charset="-127"/>
              </a:rPr>
              <a:t>예측 정확도</a:t>
            </a:r>
            <a:endParaRPr kumimoji="0" lang="ko-KR"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pic>
        <p:nvPicPr>
          <p:cNvPr id="38" name="그림 37">
            <a:extLst>
              <a:ext uri="{FF2B5EF4-FFF2-40B4-BE49-F238E27FC236}">
                <a16:creationId xmlns:a16="http://schemas.microsoft.com/office/drawing/2014/main" id="{75B1C99F-5E59-478F-B855-C24C887548E0}"/>
              </a:ext>
            </a:extLst>
          </p:cNvPr>
          <p:cNvPicPr>
            <a:picLocks noChangeAspect="1"/>
          </p:cNvPicPr>
          <p:nvPr/>
        </p:nvPicPr>
        <p:blipFill>
          <a:blip r:embed="rId4"/>
          <a:stretch>
            <a:fillRect/>
          </a:stretch>
        </p:blipFill>
        <p:spPr>
          <a:xfrm>
            <a:off x="31642" y="4631575"/>
            <a:ext cx="2441359" cy="2072632"/>
          </a:xfrm>
          <a:prstGeom prst="rect">
            <a:avLst/>
          </a:prstGeom>
        </p:spPr>
      </p:pic>
      <p:pic>
        <p:nvPicPr>
          <p:cNvPr id="40" name="그림 39">
            <a:extLst>
              <a:ext uri="{FF2B5EF4-FFF2-40B4-BE49-F238E27FC236}">
                <a16:creationId xmlns:a16="http://schemas.microsoft.com/office/drawing/2014/main" id="{38294708-148C-49BB-B95F-488D7840B302}"/>
              </a:ext>
            </a:extLst>
          </p:cNvPr>
          <p:cNvPicPr>
            <a:picLocks noChangeAspect="1"/>
          </p:cNvPicPr>
          <p:nvPr/>
        </p:nvPicPr>
        <p:blipFill>
          <a:blip r:embed="rId5"/>
          <a:stretch>
            <a:fillRect/>
          </a:stretch>
        </p:blipFill>
        <p:spPr>
          <a:xfrm>
            <a:off x="2668657" y="4735324"/>
            <a:ext cx="3048562" cy="362001"/>
          </a:xfrm>
          <a:prstGeom prst="rect">
            <a:avLst/>
          </a:prstGeom>
        </p:spPr>
      </p:pic>
      <p:sp>
        <p:nvSpPr>
          <p:cNvPr id="41" name="직사각형 40">
            <a:extLst>
              <a:ext uri="{FF2B5EF4-FFF2-40B4-BE49-F238E27FC236}">
                <a16:creationId xmlns:a16="http://schemas.microsoft.com/office/drawing/2014/main" id="{2C331C87-B56D-43E0-84F2-672875AA00C0}"/>
              </a:ext>
            </a:extLst>
          </p:cNvPr>
          <p:cNvSpPr/>
          <p:nvPr/>
        </p:nvSpPr>
        <p:spPr>
          <a:xfrm>
            <a:off x="2753470" y="4314344"/>
            <a:ext cx="2079326"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2000</a:t>
            </a:r>
            <a:r>
              <a:rPr kumimoji="0" lang="ko-KR" altLang="en-US"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 </a:t>
            </a:r>
            <a:r>
              <a:rPr lang="ko-KR" altLang="en-US" sz="1600" b="1" dirty="0">
                <a:solidFill>
                  <a:prstClr val="white"/>
                </a:solidFill>
                <a:latin typeface="맑은 고딕" panose="020F0502020204030204"/>
                <a:ea typeface="맑은 고딕" panose="020B0503020000020004" pitchFamily="50" charset="-127"/>
              </a:rPr>
              <a:t>예측 정확도</a:t>
            </a:r>
            <a:endParaRPr kumimoji="0" lang="ko-KR"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4026572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8</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Does  the  logistic  regression  outperform  the  naive  forecasts?</a:t>
            </a:r>
            <a:endPar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graphicFrame>
        <p:nvGraphicFramePr>
          <p:cNvPr id="13" name="표 8">
            <a:extLst>
              <a:ext uri="{FF2B5EF4-FFF2-40B4-BE49-F238E27FC236}">
                <a16:creationId xmlns:a16="http://schemas.microsoft.com/office/drawing/2014/main" id="{111D88A8-3CE0-4874-8C92-0C69D3D22170}"/>
              </a:ext>
            </a:extLst>
          </p:cNvPr>
          <p:cNvGraphicFramePr>
            <a:graphicFrameLocks noGrp="1"/>
          </p:cNvGraphicFramePr>
          <p:nvPr>
            <p:extLst>
              <p:ext uri="{D42A27DB-BD31-4B8C-83A1-F6EECF244321}">
                <p14:modId xmlns:p14="http://schemas.microsoft.com/office/powerpoint/2010/main" val="2176290309"/>
              </p:ext>
            </p:extLst>
          </p:nvPr>
        </p:nvGraphicFramePr>
        <p:xfrm>
          <a:off x="7608163" y="1442761"/>
          <a:ext cx="3933014" cy="2103120"/>
        </p:xfrm>
        <a:graphic>
          <a:graphicData uri="http://schemas.openxmlformats.org/drawingml/2006/table">
            <a:tbl>
              <a:tblPr firstRow="1" bandRow="1">
                <a:tableStyleId>{5C22544A-7EE6-4342-B048-85BDC9FD1C3A}</a:tableStyleId>
              </a:tblPr>
              <a:tblGrid>
                <a:gridCol w="3933014">
                  <a:extLst>
                    <a:ext uri="{9D8B030D-6E8A-4147-A177-3AD203B41FA5}">
                      <a16:colId xmlns:a16="http://schemas.microsoft.com/office/drawing/2014/main" val="4093639860"/>
                    </a:ext>
                  </a:extLst>
                </a:gridCol>
              </a:tblGrid>
              <a:tr h="29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501999">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1995</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년의 값을 예측 했을 때는 단순 예측 보다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logistic regression</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이 더 정확했습니다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대체적으로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logistic regression</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의 정확도가 더 높은 것을 확인 할 수 있습니다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p>
                    <a:p>
                      <a:pPr marL="285750" lvl="0" indent="-285750" latinLnBrk="1">
                        <a:buFont typeface="Arial" panose="020B0604020202020204" pitchFamily="34" charset="0"/>
                        <a:buChar char="•"/>
                      </a:pPr>
                      <a:endParaRPr lang="en-US" altLang="ko-KR" sz="1800" b="0" kern="1200" dirty="0">
                        <a:solidFill>
                          <a:schemeClr val="tx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15" name="그림 14">
            <a:extLst>
              <a:ext uri="{FF2B5EF4-FFF2-40B4-BE49-F238E27FC236}">
                <a16:creationId xmlns:a16="http://schemas.microsoft.com/office/drawing/2014/main" id="{F54B424F-F5B3-4B5B-AEBC-78C9A4EB83B3}"/>
              </a:ext>
            </a:extLst>
          </p:cNvPr>
          <p:cNvPicPr>
            <a:picLocks noChangeAspect="1"/>
          </p:cNvPicPr>
          <p:nvPr/>
        </p:nvPicPr>
        <p:blipFill>
          <a:blip r:embed="rId2"/>
          <a:stretch>
            <a:fillRect/>
          </a:stretch>
        </p:blipFill>
        <p:spPr>
          <a:xfrm>
            <a:off x="172292" y="1842186"/>
            <a:ext cx="3234512" cy="3173627"/>
          </a:xfrm>
          <a:prstGeom prst="rect">
            <a:avLst/>
          </a:prstGeom>
        </p:spPr>
      </p:pic>
      <p:pic>
        <p:nvPicPr>
          <p:cNvPr id="16" name="그림 15">
            <a:extLst>
              <a:ext uri="{FF2B5EF4-FFF2-40B4-BE49-F238E27FC236}">
                <a16:creationId xmlns:a16="http://schemas.microsoft.com/office/drawing/2014/main" id="{879B36B7-C19C-46F0-BAFC-144FF7FAD85A}"/>
              </a:ext>
            </a:extLst>
          </p:cNvPr>
          <p:cNvPicPr>
            <a:picLocks noChangeAspect="1"/>
          </p:cNvPicPr>
          <p:nvPr/>
        </p:nvPicPr>
        <p:blipFill>
          <a:blip r:embed="rId3"/>
          <a:stretch>
            <a:fillRect/>
          </a:stretch>
        </p:blipFill>
        <p:spPr>
          <a:xfrm>
            <a:off x="3797444" y="1842186"/>
            <a:ext cx="3133987" cy="3038899"/>
          </a:xfrm>
          <a:prstGeom prst="rect">
            <a:avLst/>
          </a:prstGeom>
        </p:spPr>
      </p:pic>
      <p:sp>
        <p:nvSpPr>
          <p:cNvPr id="17" name="직사각형 16">
            <a:extLst>
              <a:ext uri="{FF2B5EF4-FFF2-40B4-BE49-F238E27FC236}">
                <a16:creationId xmlns:a16="http://schemas.microsoft.com/office/drawing/2014/main" id="{5A62AC57-25EC-4D08-A498-394753B29B8A}"/>
              </a:ext>
            </a:extLst>
          </p:cNvPr>
          <p:cNvSpPr/>
          <p:nvPr/>
        </p:nvSpPr>
        <p:spPr>
          <a:xfrm>
            <a:off x="1041385" y="1418953"/>
            <a:ext cx="2079326"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단순예측</a:t>
            </a:r>
            <a:endParaRPr kumimoji="0" lang="ko-KR"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8" name="직사각형 17">
            <a:extLst>
              <a:ext uri="{FF2B5EF4-FFF2-40B4-BE49-F238E27FC236}">
                <a16:creationId xmlns:a16="http://schemas.microsoft.com/office/drawing/2014/main" id="{80E40EB9-50A3-42A8-8192-07707CA5783D}"/>
              </a:ext>
            </a:extLst>
          </p:cNvPr>
          <p:cNvSpPr/>
          <p:nvPr/>
        </p:nvSpPr>
        <p:spPr>
          <a:xfrm>
            <a:off x="4467821" y="1418953"/>
            <a:ext cx="2079326"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Logistic regression</a:t>
            </a:r>
            <a:endParaRPr kumimoji="0" lang="ko-KR"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1481063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9</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For  year  1997,  there  is  some  uncertainty  regarding  the  data quality  of  the  outbreak  status10.  According  to  the  logistic regression  model,  is  it  more  likely  that  an  outbreak  occurred or  not?</a:t>
            </a:r>
            <a:endPar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sp>
        <p:nvSpPr>
          <p:cNvPr id="9" name="직사각형 8">
            <a:extLst>
              <a:ext uri="{FF2B5EF4-FFF2-40B4-BE49-F238E27FC236}">
                <a16:creationId xmlns:a16="http://schemas.microsoft.com/office/drawing/2014/main" id="{B80D4C17-7033-4572-838B-861A77CA3D50}"/>
              </a:ext>
            </a:extLst>
          </p:cNvPr>
          <p:cNvSpPr/>
          <p:nvPr/>
        </p:nvSpPr>
        <p:spPr>
          <a:xfrm>
            <a:off x="378372" y="1923618"/>
            <a:ext cx="5571483" cy="400110"/>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1987 ~ 1995</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이용해서 </a:t>
            </a: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1996</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예측</a:t>
            </a:r>
            <a:endParaRPr kumimoji="0" lang="ko-KR"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pic>
        <p:nvPicPr>
          <p:cNvPr id="11" name="그림 10">
            <a:extLst>
              <a:ext uri="{FF2B5EF4-FFF2-40B4-BE49-F238E27FC236}">
                <a16:creationId xmlns:a16="http://schemas.microsoft.com/office/drawing/2014/main" id="{91FEFA8A-D6BF-4FEB-96B3-5186B9611EF6}"/>
              </a:ext>
            </a:extLst>
          </p:cNvPr>
          <p:cNvPicPr>
            <a:picLocks noChangeAspect="1"/>
          </p:cNvPicPr>
          <p:nvPr/>
        </p:nvPicPr>
        <p:blipFill>
          <a:blip r:embed="rId2"/>
          <a:stretch>
            <a:fillRect/>
          </a:stretch>
        </p:blipFill>
        <p:spPr>
          <a:xfrm>
            <a:off x="650840" y="2532084"/>
            <a:ext cx="2860416" cy="428483"/>
          </a:xfrm>
          <a:prstGeom prst="rect">
            <a:avLst/>
          </a:prstGeom>
        </p:spPr>
      </p:pic>
      <p:sp>
        <p:nvSpPr>
          <p:cNvPr id="13" name="직사각형 12">
            <a:extLst>
              <a:ext uri="{FF2B5EF4-FFF2-40B4-BE49-F238E27FC236}">
                <a16:creationId xmlns:a16="http://schemas.microsoft.com/office/drawing/2014/main" id="{D8D7DCAD-8E79-4EF8-8EED-0C04F8042C03}"/>
              </a:ext>
            </a:extLst>
          </p:cNvPr>
          <p:cNvSpPr/>
          <p:nvPr/>
        </p:nvSpPr>
        <p:spPr>
          <a:xfrm>
            <a:off x="378372" y="3294199"/>
            <a:ext cx="5571483" cy="400110"/>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1987 ~ 1996</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이용해서 </a:t>
            </a:r>
            <a:r>
              <a:rPr kumimoji="0" lang="en-US"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1997</a:t>
            </a:r>
            <a:r>
              <a:rPr kumimoji="0" lang="ko-KR" altLang="en-US"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년을 예측</a:t>
            </a:r>
            <a:endParaRPr kumimoji="0" lang="ko-KR" altLang="ko-KR" sz="20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pic>
        <p:nvPicPr>
          <p:cNvPr id="14" name="그림 13">
            <a:extLst>
              <a:ext uri="{FF2B5EF4-FFF2-40B4-BE49-F238E27FC236}">
                <a16:creationId xmlns:a16="http://schemas.microsoft.com/office/drawing/2014/main" id="{C54961DA-CC77-42C4-8007-57E10AA27460}"/>
              </a:ext>
            </a:extLst>
          </p:cNvPr>
          <p:cNvPicPr>
            <a:picLocks noChangeAspect="1"/>
          </p:cNvPicPr>
          <p:nvPr/>
        </p:nvPicPr>
        <p:blipFill>
          <a:blip r:embed="rId3"/>
          <a:stretch>
            <a:fillRect/>
          </a:stretch>
        </p:blipFill>
        <p:spPr>
          <a:xfrm>
            <a:off x="650840" y="3931038"/>
            <a:ext cx="1954893" cy="465451"/>
          </a:xfrm>
          <a:prstGeom prst="rect">
            <a:avLst/>
          </a:prstGeom>
        </p:spPr>
      </p:pic>
      <p:graphicFrame>
        <p:nvGraphicFramePr>
          <p:cNvPr id="15" name="표 8">
            <a:extLst>
              <a:ext uri="{FF2B5EF4-FFF2-40B4-BE49-F238E27FC236}">
                <a16:creationId xmlns:a16="http://schemas.microsoft.com/office/drawing/2014/main" id="{6EF448E5-E0E1-4ADC-B72C-B0362EAE00DE}"/>
              </a:ext>
            </a:extLst>
          </p:cNvPr>
          <p:cNvGraphicFramePr>
            <a:graphicFrameLocks noGrp="1"/>
          </p:cNvGraphicFramePr>
          <p:nvPr>
            <p:extLst>
              <p:ext uri="{D42A27DB-BD31-4B8C-83A1-F6EECF244321}">
                <p14:modId xmlns:p14="http://schemas.microsoft.com/office/powerpoint/2010/main" val="1403184446"/>
              </p:ext>
            </p:extLst>
          </p:nvPr>
        </p:nvGraphicFramePr>
        <p:xfrm>
          <a:off x="6681984" y="1494870"/>
          <a:ext cx="4721411" cy="2926080"/>
        </p:xfrm>
        <a:graphic>
          <a:graphicData uri="http://schemas.openxmlformats.org/drawingml/2006/table">
            <a:tbl>
              <a:tblPr firstRow="1" bandRow="1">
                <a:tableStyleId>{5C22544A-7EE6-4342-B048-85BDC9FD1C3A}</a:tableStyleId>
              </a:tblPr>
              <a:tblGrid>
                <a:gridCol w="4721411">
                  <a:extLst>
                    <a:ext uri="{9D8B030D-6E8A-4147-A177-3AD203B41FA5}">
                      <a16:colId xmlns:a16="http://schemas.microsoft.com/office/drawing/2014/main" val="4093639860"/>
                    </a:ext>
                  </a:extLst>
                </a:gridCol>
              </a:tblGrid>
              <a:tr h="29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501999">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1997</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년의 실제 값은 발병을 하지 않았지만</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logistic regression</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으로 알아본 값은 발병 한다 에 가까웠습니다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 </a:t>
                      </a:r>
                      <a:endParaRPr kumimoji="0" lang="en-US" altLang="ko-KR" sz="1800" b="0" i="0" u="none" strike="noStrike" kern="0" cap="none" spc="0" normalizeH="0" baseline="0" noProof="0" dirty="0">
                        <a:ln>
                          <a:noFill/>
                        </a:ln>
                        <a:solidFill>
                          <a:schemeClr val="tx1"/>
                        </a:solidFill>
                        <a:effectLst/>
                        <a:uLnTx/>
                        <a:uFillTx/>
                        <a:latin typeface="+mn-lt"/>
                        <a:ea typeface="+mn-ea"/>
                        <a:cs typeface="+mn-cs"/>
                      </a:endParaRPr>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1997</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년의 데이터에는 불확실성이 존재했습니다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800" b="0" i="0" u="none" strike="noStrike" kern="0" cap="none" spc="0" normalizeH="0" baseline="0" noProof="0" dirty="0">
                          <a:ln>
                            <a:noFill/>
                          </a:ln>
                          <a:solidFill>
                            <a:schemeClr val="tx1"/>
                          </a:solidFill>
                          <a:effectLst/>
                          <a:uLnTx/>
                          <a:uFillTx/>
                          <a:latin typeface="+mn-lt"/>
                          <a:ea typeface="+mn-ea"/>
                          <a:cs typeface="+mn-cs"/>
                        </a:rPr>
                        <a:t>Log(odds)</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가</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0.674821 </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이므로 발병할 확률이 높고</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 </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두 변수의 </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p-value</a:t>
                      </a:r>
                      <a:r>
                        <a:rPr kumimoji="0" lang="ko-KR" altLang="en-US" sz="1800" b="0" i="0" u="none" strike="noStrike" kern="0" cap="none" spc="0" normalizeH="0" baseline="0" noProof="0" dirty="0">
                          <a:ln>
                            <a:noFill/>
                          </a:ln>
                          <a:solidFill>
                            <a:schemeClr val="tx1"/>
                          </a:solidFill>
                          <a:effectLst/>
                          <a:uLnTx/>
                          <a:uFillTx/>
                          <a:latin typeface="+mn-lt"/>
                          <a:ea typeface="+mn-ea"/>
                          <a:cs typeface="+mn-cs"/>
                        </a:rPr>
                        <a:t>값이 높아서 통계적으로 유의하지 않습니다</a:t>
                      </a:r>
                      <a:r>
                        <a:rPr kumimoji="0" lang="en-US" altLang="ko-KR" sz="1800" b="0" i="0" u="none" strike="noStrike" kern="0" cap="none" spc="0" normalizeH="0" baseline="0" noProof="0" dirty="0">
                          <a:ln>
                            <a:noFill/>
                          </a:ln>
                          <a:solidFill>
                            <a:schemeClr val="tx1"/>
                          </a:solidFill>
                          <a:effectLst/>
                          <a:uLnTx/>
                          <a:uFillTx/>
                          <a:latin typeface="+mn-lt"/>
                          <a:ea typeface="+mn-ea"/>
                          <a:cs typeface="+mn-cs"/>
                        </a:rPr>
                        <a:t>.</a:t>
                      </a:r>
                    </a:p>
                    <a:p>
                      <a:pPr marL="285750" lvl="0" indent="-285750" latinLnBrk="1">
                        <a:buFont typeface="Arial" panose="020B0604020202020204" pitchFamily="34" charset="0"/>
                        <a:buChar char="•"/>
                      </a:pPr>
                      <a:endParaRPr lang="en-US" altLang="ko-KR" sz="1800" b="0" kern="1200" dirty="0">
                        <a:solidFill>
                          <a:schemeClr val="tx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mc:AlternateContent xmlns:mc="http://schemas.openxmlformats.org/markup-compatibility/2006">
        <mc:Choice xmlns:p14="http://schemas.microsoft.com/office/powerpoint/2010/main" Requires="p14">
          <p:contentPart p14:bwMode="auto" r:id="rId4">
            <p14:nvContentPartPr>
              <p14:cNvPr id="4" name="잉크 3">
                <a:extLst>
                  <a:ext uri="{FF2B5EF4-FFF2-40B4-BE49-F238E27FC236}">
                    <a16:creationId xmlns:a16="http://schemas.microsoft.com/office/drawing/2014/main" id="{209E009B-0972-4373-94AD-00CCF1F6959E}"/>
                  </a:ext>
                </a:extLst>
              </p14:cNvPr>
              <p14:cNvContentPartPr/>
              <p14:nvPr/>
            </p14:nvContentPartPr>
            <p14:xfrm>
              <a:off x="1595384" y="2546430"/>
              <a:ext cx="909720" cy="534240"/>
            </p14:xfrm>
          </p:contentPart>
        </mc:Choice>
        <mc:Fallback>
          <p:pic>
            <p:nvPicPr>
              <p:cNvPr id="4" name="잉크 3">
                <a:extLst>
                  <a:ext uri="{FF2B5EF4-FFF2-40B4-BE49-F238E27FC236}">
                    <a16:creationId xmlns:a16="http://schemas.microsoft.com/office/drawing/2014/main" id="{209E009B-0972-4373-94AD-00CCF1F6959E}"/>
                  </a:ext>
                </a:extLst>
              </p:cNvPr>
              <p:cNvPicPr/>
              <p:nvPr/>
            </p:nvPicPr>
            <p:blipFill>
              <a:blip r:embed="rId5"/>
              <a:stretch>
                <a:fillRect/>
              </a:stretch>
            </p:blipFill>
            <p:spPr>
              <a:xfrm>
                <a:off x="1577384" y="2528790"/>
                <a:ext cx="945360" cy="569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잉크 4">
                <a:extLst>
                  <a:ext uri="{FF2B5EF4-FFF2-40B4-BE49-F238E27FC236}">
                    <a16:creationId xmlns:a16="http://schemas.microsoft.com/office/drawing/2014/main" id="{8F143308-A22F-46A3-BB2B-4BACC8B9592D}"/>
                  </a:ext>
                </a:extLst>
              </p14:cNvPr>
              <p14:cNvContentPartPr/>
              <p14:nvPr/>
            </p14:nvContentPartPr>
            <p14:xfrm>
              <a:off x="255464" y="3885630"/>
              <a:ext cx="1424520" cy="536400"/>
            </p14:xfrm>
          </p:contentPart>
        </mc:Choice>
        <mc:Fallback>
          <p:pic>
            <p:nvPicPr>
              <p:cNvPr id="5" name="잉크 4">
                <a:extLst>
                  <a:ext uri="{FF2B5EF4-FFF2-40B4-BE49-F238E27FC236}">
                    <a16:creationId xmlns:a16="http://schemas.microsoft.com/office/drawing/2014/main" id="{8F143308-A22F-46A3-BB2B-4BACC8B9592D}"/>
                  </a:ext>
                </a:extLst>
              </p:cNvPr>
              <p:cNvPicPr/>
              <p:nvPr/>
            </p:nvPicPr>
            <p:blipFill>
              <a:blip r:embed="rId7"/>
              <a:stretch>
                <a:fillRect/>
              </a:stretch>
            </p:blipFill>
            <p:spPr>
              <a:xfrm>
                <a:off x="237464" y="3867990"/>
                <a:ext cx="1460160" cy="572040"/>
              </a:xfrm>
              <a:prstGeom prst="rect">
                <a:avLst/>
              </a:prstGeom>
            </p:spPr>
          </p:pic>
        </mc:Fallback>
      </mc:AlternateContent>
      <p:pic>
        <p:nvPicPr>
          <p:cNvPr id="20" name="그림 19">
            <a:extLst>
              <a:ext uri="{FF2B5EF4-FFF2-40B4-BE49-F238E27FC236}">
                <a16:creationId xmlns:a16="http://schemas.microsoft.com/office/drawing/2014/main" id="{4A184A77-154E-4B4B-8623-9B1C6ED3C797}"/>
              </a:ext>
            </a:extLst>
          </p:cNvPr>
          <p:cNvPicPr>
            <a:picLocks noChangeAspect="1"/>
          </p:cNvPicPr>
          <p:nvPr/>
        </p:nvPicPr>
        <p:blipFill>
          <a:blip r:embed="rId8"/>
          <a:stretch>
            <a:fillRect/>
          </a:stretch>
        </p:blipFill>
        <p:spPr>
          <a:xfrm>
            <a:off x="590239" y="4772436"/>
            <a:ext cx="4030987" cy="1875978"/>
          </a:xfrm>
          <a:prstGeom prst="rect">
            <a:avLst/>
          </a:prstGeom>
        </p:spPr>
      </p:pic>
      <p:pic>
        <p:nvPicPr>
          <p:cNvPr id="21" name="그림 20">
            <a:extLst>
              <a:ext uri="{FF2B5EF4-FFF2-40B4-BE49-F238E27FC236}">
                <a16:creationId xmlns:a16="http://schemas.microsoft.com/office/drawing/2014/main" id="{DD7DF58F-714A-478F-8990-5A5CB50C4408}"/>
              </a:ext>
            </a:extLst>
          </p:cNvPr>
          <p:cNvPicPr>
            <a:picLocks noChangeAspect="1"/>
          </p:cNvPicPr>
          <p:nvPr/>
        </p:nvPicPr>
        <p:blipFill>
          <a:blip r:embed="rId9"/>
          <a:stretch>
            <a:fillRect/>
          </a:stretch>
        </p:blipFill>
        <p:spPr>
          <a:xfrm>
            <a:off x="4551322" y="5407347"/>
            <a:ext cx="1035288" cy="595893"/>
          </a:xfrm>
          <a:prstGeom prst="rect">
            <a:avLst/>
          </a:prstGeom>
        </p:spPr>
      </p:pic>
      <p:sp>
        <p:nvSpPr>
          <p:cNvPr id="22" name="직사각형 21">
            <a:extLst>
              <a:ext uri="{FF2B5EF4-FFF2-40B4-BE49-F238E27FC236}">
                <a16:creationId xmlns:a16="http://schemas.microsoft.com/office/drawing/2014/main" id="{5439AF51-9627-48FD-88F3-E8EE11DB189C}"/>
              </a:ext>
            </a:extLst>
          </p:cNvPr>
          <p:cNvSpPr/>
          <p:nvPr/>
        </p:nvSpPr>
        <p:spPr>
          <a:xfrm>
            <a:off x="5516706" y="5407347"/>
            <a:ext cx="6675294" cy="400110"/>
          </a:xfrm>
          <a:prstGeom prst="rect">
            <a:avLst/>
          </a:prstGeom>
        </p:spPr>
        <p:txBody>
          <a:bodyPr wrap="square">
            <a:spAutoFit/>
          </a:bodyPr>
          <a:lstStyle/>
          <a:p>
            <a:pPr lvl="0" latinLnBrk="1"/>
            <a:r>
              <a:rPr lang="en-US" altLang="ko-KR" sz="2000" b="1" i="0" u="none" strike="noStrike" kern="1200" dirty="0">
                <a:solidFill>
                  <a:schemeClr val="bg1"/>
                </a:solidFill>
                <a:effectLst/>
                <a:latin typeface="+mn-lt"/>
                <a:ea typeface="+mn-ea"/>
                <a:cs typeface="+mn-cs"/>
              </a:rPr>
              <a:t>= −72.488+1.8459⋅Max.temp+0.2199⋅Rel.humidity</a:t>
            </a:r>
            <a:endParaRPr lang="ko-KR" altLang="ko-KR" sz="2000" b="1" kern="1200" dirty="0">
              <a:solidFill>
                <a:schemeClr val="bg1"/>
              </a:solidFill>
              <a:effectLst/>
              <a:latin typeface="+mn-lt"/>
              <a:ea typeface="+mn-ea"/>
              <a:cs typeface="+mn-cs"/>
            </a:endParaRPr>
          </a:p>
        </p:txBody>
      </p:sp>
      <p:pic>
        <p:nvPicPr>
          <p:cNvPr id="24" name="그림 23">
            <a:extLst>
              <a:ext uri="{FF2B5EF4-FFF2-40B4-BE49-F238E27FC236}">
                <a16:creationId xmlns:a16="http://schemas.microsoft.com/office/drawing/2014/main" id="{877D746F-3090-4120-8F4F-F508BE02EC79}"/>
              </a:ext>
            </a:extLst>
          </p:cNvPr>
          <p:cNvPicPr>
            <a:picLocks noChangeAspect="1"/>
          </p:cNvPicPr>
          <p:nvPr/>
        </p:nvPicPr>
        <p:blipFill>
          <a:blip r:embed="rId10"/>
          <a:stretch>
            <a:fillRect/>
          </a:stretch>
        </p:blipFill>
        <p:spPr>
          <a:xfrm>
            <a:off x="5949855" y="4772436"/>
            <a:ext cx="4201111" cy="257211"/>
          </a:xfrm>
          <a:prstGeom prst="rect">
            <a:avLst/>
          </a:prstGeom>
        </p:spPr>
      </p:pic>
    </p:spTree>
    <p:extLst>
      <p:ext uri="{BB962C8B-B14F-4D97-AF65-F5344CB8AC3E}">
        <p14:creationId xmlns:p14="http://schemas.microsoft.com/office/powerpoint/2010/main" val="3793005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10</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081048" y="427886"/>
            <a:ext cx="10110952"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If  we  ﬁt  a  logistic  regression  with  a  lag-outbreak  predictor such  as  log(odds)t    =  β0  + β1 (Outbreak)t−1   to  years  1987-1997, how  can  this  model  be  used  to  forecast  an  outbreak  in  year 2000?</a:t>
            </a:r>
            <a:endPar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graphicFrame>
        <p:nvGraphicFramePr>
          <p:cNvPr id="11" name="표 8">
            <a:extLst>
              <a:ext uri="{FF2B5EF4-FFF2-40B4-BE49-F238E27FC236}">
                <a16:creationId xmlns:a16="http://schemas.microsoft.com/office/drawing/2014/main" id="{A61B2D8B-2282-466E-870A-70931A198702}"/>
              </a:ext>
            </a:extLst>
          </p:cNvPr>
          <p:cNvGraphicFramePr>
            <a:graphicFrameLocks noGrp="1"/>
          </p:cNvGraphicFramePr>
          <p:nvPr>
            <p:extLst>
              <p:ext uri="{D42A27DB-BD31-4B8C-83A1-F6EECF244321}">
                <p14:modId xmlns:p14="http://schemas.microsoft.com/office/powerpoint/2010/main" val="2651850581"/>
              </p:ext>
            </p:extLst>
          </p:nvPr>
        </p:nvGraphicFramePr>
        <p:xfrm>
          <a:off x="1819921" y="3896656"/>
          <a:ext cx="5397623" cy="2651760"/>
        </p:xfrm>
        <a:graphic>
          <a:graphicData uri="http://schemas.openxmlformats.org/drawingml/2006/table">
            <a:tbl>
              <a:tblPr firstRow="1" bandRow="1">
                <a:tableStyleId>{5C22544A-7EE6-4342-B048-85BDC9FD1C3A}</a:tableStyleId>
              </a:tblPr>
              <a:tblGrid>
                <a:gridCol w="5397623">
                  <a:extLst>
                    <a:ext uri="{9D8B030D-6E8A-4147-A177-3AD203B41FA5}">
                      <a16:colId xmlns:a16="http://schemas.microsoft.com/office/drawing/2014/main" val="4093639860"/>
                    </a:ext>
                  </a:extLst>
                </a:gridCol>
              </a:tblGrid>
              <a:tr h="290840">
                <a:tc>
                  <a:txBody>
                    <a:bodyPr/>
                    <a:lstStyle/>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Roll-forward prediction</a:t>
                      </a:r>
                      <a:endParaRPr lang="ko-KR" altLang="en-US" dirty="0"/>
                    </a:p>
                  </a:txBody>
                  <a:tcPr/>
                </a:tc>
                <a:extLst>
                  <a:ext uri="{0D108BD9-81ED-4DB2-BD59-A6C34878D82A}">
                    <a16:rowId xmlns:a16="http://schemas.microsoft.com/office/drawing/2014/main" val="3200778601"/>
                  </a:ext>
                </a:extLst>
              </a:tr>
              <a:tr h="501999">
                <a:tc>
                  <a:txBody>
                    <a:bodyPr/>
                    <a:lstStyle/>
                    <a:p>
                      <a:pPr marL="285750" lvl="0" indent="-285750" latinLnBrk="1">
                        <a:buFont typeface="Arial" panose="020B0604020202020204" pitchFamily="34" charset="0"/>
                        <a:buChar char="•"/>
                      </a:pPr>
                      <a:r>
                        <a:rPr lang="ko-KR" altLang="ko-KR" sz="1800" kern="1200" dirty="0" err="1">
                          <a:solidFill>
                            <a:schemeClr val="dk1"/>
                          </a:solidFill>
                          <a:effectLst/>
                          <a:latin typeface="+mn-lt"/>
                          <a:ea typeface="+mn-ea"/>
                          <a:cs typeface="+mn-cs"/>
                        </a:rPr>
                        <a:t>로지스트에서는</a:t>
                      </a:r>
                      <a:r>
                        <a:rPr lang="ko-KR" altLang="ko-KR" sz="1800" kern="1200" dirty="0">
                          <a:solidFill>
                            <a:schemeClr val="dk1"/>
                          </a:solidFill>
                          <a:effectLst/>
                          <a:latin typeface="+mn-lt"/>
                          <a:ea typeface="+mn-ea"/>
                          <a:cs typeface="+mn-cs"/>
                        </a:rPr>
                        <a:t> 하나의 년도를 가지고 예측하고 온도하고 습도를 가지고 그해에 발생여부를 예측합니다</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즉 다른 년도의 데이터를 가지고 예측을 하지 않</a:t>
                      </a:r>
                      <a:r>
                        <a:rPr lang="ko-KR" altLang="en-US" sz="1800" kern="1200" dirty="0">
                          <a:solidFill>
                            <a:schemeClr val="dk1"/>
                          </a:solidFill>
                          <a:effectLst/>
                          <a:latin typeface="+mn-lt"/>
                          <a:ea typeface="+mn-ea"/>
                          <a:cs typeface="+mn-cs"/>
                        </a:rPr>
                        <a:t>기에</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올해의 발생여부와 지난해의 발생여부가 독립적입니다</a:t>
                      </a:r>
                      <a:r>
                        <a:rPr lang="en-US" altLang="ko-KR" sz="1800" kern="1200" dirty="0">
                          <a:solidFill>
                            <a:schemeClr val="dk1"/>
                          </a:solidFill>
                          <a:effectLst/>
                          <a:latin typeface="+mn-lt"/>
                          <a:ea typeface="+mn-ea"/>
                          <a:cs typeface="+mn-cs"/>
                        </a:rPr>
                        <a:t>. </a:t>
                      </a:r>
                      <a:endParaRPr lang="ko-KR"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98</a:t>
                      </a:r>
                      <a:r>
                        <a:rPr lang="ko-KR" altLang="ko-KR" sz="1800" kern="1200" dirty="0">
                          <a:solidFill>
                            <a:schemeClr val="dk1"/>
                          </a:solidFill>
                          <a:effectLst/>
                          <a:latin typeface="+mn-lt"/>
                          <a:ea typeface="+mn-ea"/>
                          <a:cs typeface="+mn-cs"/>
                        </a:rPr>
                        <a:t>년을 </a:t>
                      </a:r>
                      <a:r>
                        <a:rPr lang="ko-KR" altLang="ko-KR" sz="1800" kern="1200" dirty="0" err="1">
                          <a:solidFill>
                            <a:schemeClr val="dk1"/>
                          </a:solidFill>
                          <a:effectLst/>
                          <a:latin typeface="+mn-lt"/>
                          <a:ea typeface="+mn-ea"/>
                          <a:cs typeface="+mn-cs"/>
                        </a:rPr>
                        <a:t>예측한뒤</a:t>
                      </a:r>
                      <a:r>
                        <a:rPr lang="ko-KR" altLang="ko-KR" sz="1800" kern="1200" dirty="0">
                          <a:solidFill>
                            <a:schemeClr val="dk1"/>
                          </a:solidFill>
                          <a:effectLst/>
                          <a:latin typeface="+mn-lt"/>
                          <a:ea typeface="+mn-ea"/>
                          <a:cs typeface="+mn-cs"/>
                        </a:rPr>
                        <a:t> </a:t>
                      </a:r>
                      <a:r>
                        <a:rPr lang="en-US" altLang="ko-KR" sz="1800" kern="1200" dirty="0">
                          <a:solidFill>
                            <a:schemeClr val="dk1"/>
                          </a:solidFill>
                          <a:effectLst/>
                          <a:latin typeface="+mn-lt"/>
                          <a:ea typeface="+mn-ea"/>
                          <a:cs typeface="+mn-cs"/>
                        </a:rPr>
                        <a:t>99</a:t>
                      </a:r>
                      <a:r>
                        <a:rPr lang="ko-KR" altLang="ko-KR" sz="1800" kern="1200" dirty="0">
                          <a:solidFill>
                            <a:schemeClr val="dk1"/>
                          </a:solidFill>
                          <a:effectLst/>
                          <a:latin typeface="+mn-lt"/>
                          <a:ea typeface="+mn-ea"/>
                          <a:cs typeface="+mn-cs"/>
                        </a:rPr>
                        <a:t>년을 예측하고 </a:t>
                      </a:r>
                      <a:r>
                        <a:rPr lang="ko-KR" altLang="ko-KR" sz="1800" kern="1200" dirty="0" err="1">
                          <a:solidFill>
                            <a:schemeClr val="dk1"/>
                          </a:solidFill>
                          <a:effectLst/>
                          <a:latin typeface="+mn-lt"/>
                          <a:ea typeface="+mn-ea"/>
                          <a:cs typeface="+mn-cs"/>
                        </a:rPr>
                        <a:t>그다음</a:t>
                      </a:r>
                      <a:r>
                        <a:rPr lang="ko-KR" altLang="ko-KR" sz="1800" kern="1200" dirty="0">
                          <a:solidFill>
                            <a:schemeClr val="dk1"/>
                          </a:solidFill>
                          <a:effectLst/>
                          <a:latin typeface="+mn-lt"/>
                          <a:ea typeface="+mn-ea"/>
                          <a:cs typeface="+mn-cs"/>
                        </a:rPr>
                        <a:t> </a:t>
                      </a:r>
                      <a:r>
                        <a:rPr lang="en-US" altLang="ko-KR" sz="1800" kern="1200" dirty="0">
                          <a:solidFill>
                            <a:schemeClr val="dk1"/>
                          </a:solidFill>
                          <a:effectLst/>
                          <a:latin typeface="+mn-lt"/>
                          <a:ea typeface="+mn-ea"/>
                          <a:cs typeface="+mn-cs"/>
                        </a:rPr>
                        <a:t>2000</a:t>
                      </a:r>
                      <a:r>
                        <a:rPr lang="ko-KR" altLang="ko-KR" sz="1800" kern="1200" dirty="0">
                          <a:solidFill>
                            <a:schemeClr val="dk1"/>
                          </a:solidFill>
                          <a:effectLst/>
                          <a:latin typeface="+mn-lt"/>
                          <a:ea typeface="+mn-ea"/>
                          <a:cs typeface="+mn-cs"/>
                        </a:rPr>
                        <a:t>년을 예측해서 </a:t>
                      </a:r>
                      <a:r>
                        <a:rPr lang="en-US" altLang="ko-KR" sz="1800" kern="1200" dirty="0">
                          <a:solidFill>
                            <a:schemeClr val="dk1"/>
                          </a:solidFill>
                          <a:effectLst/>
                          <a:latin typeface="+mn-lt"/>
                          <a:ea typeface="+mn-ea"/>
                          <a:cs typeface="+mn-cs"/>
                        </a:rPr>
                        <a:t>roll </a:t>
                      </a:r>
                      <a:r>
                        <a:rPr lang="en-US" altLang="ko-KR" sz="1800" kern="1200" dirty="0" err="1">
                          <a:solidFill>
                            <a:schemeClr val="dk1"/>
                          </a:solidFill>
                          <a:effectLst/>
                          <a:latin typeface="+mn-lt"/>
                          <a:ea typeface="+mn-ea"/>
                          <a:cs typeface="+mn-cs"/>
                        </a:rPr>
                        <a:t>forwading</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예측을</a:t>
                      </a:r>
                      <a:r>
                        <a:rPr lang="en-US" altLang="ko-KR" sz="1800" kern="1200" dirty="0">
                          <a:solidFill>
                            <a:schemeClr val="dk1"/>
                          </a:solidFill>
                          <a:effectLst/>
                          <a:latin typeface="+mn-lt"/>
                          <a:ea typeface="+mn-ea"/>
                          <a:cs typeface="+mn-cs"/>
                        </a:rPr>
                        <a:t> </a:t>
                      </a:r>
                      <a:r>
                        <a:rPr lang="ko-KR" altLang="en-US" sz="1800" kern="1200" dirty="0">
                          <a:solidFill>
                            <a:schemeClr val="dk1"/>
                          </a:solidFill>
                          <a:effectLst/>
                          <a:latin typeface="+mn-lt"/>
                          <a:ea typeface="+mn-ea"/>
                          <a:cs typeface="+mn-cs"/>
                        </a:rPr>
                        <a:t>했습니다</a:t>
                      </a:r>
                      <a:r>
                        <a:rPr lang="en-US" altLang="ko-KR" sz="1800" kern="1200" dirty="0">
                          <a:solidFill>
                            <a:schemeClr val="dk1"/>
                          </a:solidFill>
                          <a:effectLst/>
                          <a:latin typeface="+mn-lt"/>
                          <a:ea typeface="+mn-ea"/>
                          <a:cs typeface="+mn-cs"/>
                        </a:rPr>
                        <a:t>.</a:t>
                      </a:r>
                      <a:r>
                        <a:rPr lang="ko-KR" altLang="ko-KR" sz="1800" kern="1200" dirty="0">
                          <a:solidFill>
                            <a:schemeClr val="dk1"/>
                          </a:solidFill>
                          <a:effectLst/>
                          <a:latin typeface="+mn-lt"/>
                          <a:ea typeface="+mn-ea"/>
                          <a:cs typeface="+mn-cs"/>
                        </a:rPr>
                        <a:t> </a:t>
                      </a:r>
                    </a:p>
                    <a:p>
                      <a:pPr marL="285750" lvl="0" indent="-285750" latinLnBrk="1">
                        <a:buFont typeface="Arial" panose="020B0604020202020204" pitchFamily="34" charset="0"/>
                        <a:buChar char="•"/>
                      </a:pPr>
                      <a:endParaRPr lang="en-US" altLang="ko-KR" sz="1800" b="0" kern="1200" dirty="0">
                        <a:solidFill>
                          <a:schemeClr val="tx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13" name="그림 12">
            <a:extLst>
              <a:ext uri="{FF2B5EF4-FFF2-40B4-BE49-F238E27FC236}">
                <a16:creationId xmlns:a16="http://schemas.microsoft.com/office/drawing/2014/main" id="{359F6FA1-493C-489D-AC8D-538957561885}"/>
              </a:ext>
            </a:extLst>
          </p:cNvPr>
          <p:cNvPicPr>
            <a:picLocks noChangeAspect="1"/>
          </p:cNvPicPr>
          <p:nvPr/>
        </p:nvPicPr>
        <p:blipFill>
          <a:blip r:embed="rId2"/>
          <a:stretch>
            <a:fillRect/>
          </a:stretch>
        </p:blipFill>
        <p:spPr>
          <a:xfrm>
            <a:off x="378372" y="1966556"/>
            <a:ext cx="1035288" cy="595893"/>
          </a:xfrm>
          <a:prstGeom prst="rect">
            <a:avLst/>
          </a:prstGeom>
        </p:spPr>
      </p:pic>
      <p:sp>
        <p:nvSpPr>
          <p:cNvPr id="14" name="직사각형 13">
            <a:extLst>
              <a:ext uri="{FF2B5EF4-FFF2-40B4-BE49-F238E27FC236}">
                <a16:creationId xmlns:a16="http://schemas.microsoft.com/office/drawing/2014/main" id="{AF9F187C-5661-4790-9519-65976EF71105}"/>
              </a:ext>
            </a:extLst>
          </p:cNvPr>
          <p:cNvSpPr/>
          <p:nvPr/>
        </p:nvSpPr>
        <p:spPr>
          <a:xfrm>
            <a:off x="1592775" y="2025109"/>
            <a:ext cx="6627947" cy="400110"/>
          </a:xfrm>
          <a:prstGeom prst="rect">
            <a:avLst/>
          </a:prstGeom>
        </p:spPr>
        <p:txBody>
          <a:bodyPr wrap="square">
            <a:spAutoFit/>
          </a:bodyPr>
          <a:lstStyle/>
          <a:p>
            <a:pPr lvl="0" latinLnBrk="1"/>
            <a:r>
              <a:rPr lang="en-US" altLang="ko-KR" sz="2000" b="1" i="0" u="none" strike="noStrike" kern="1200" dirty="0">
                <a:solidFill>
                  <a:schemeClr val="bg1"/>
                </a:solidFill>
                <a:effectLst/>
                <a:latin typeface="+mn-lt"/>
                <a:ea typeface="+mn-ea"/>
                <a:cs typeface="+mn-cs"/>
              </a:rPr>
              <a:t>= −56.1543+1.3849⋅Max.temp+0.1877⋅Rel.humidity</a:t>
            </a:r>
            <a:endParaRPr lang="ko-KR" altLang="ko-KR" sz="2000" b="1" kern="1200" dirty="0">
              <a:solidFill>
                <a:schemeClr val="bg1"/>
              </a:solidFill>
              <a:effectLst/>
              <a:latin typeface="+mn-lt"/>
              <a:ea typeface="+mn-ea"/>
              <a:cs typeface="+mn-cs"/>
            </a:endParaRPr>
          </a:p>
        </p:txBody>
      </p:sp>
      <p:pic>
        <p:nvPicPr>
          <p:cNvPr id="15" name="그림 14">
            <a:extLst>
              <a:ext uri="{FF2B5EF4-FFF2-40B4-BE49-F238E27FC236}">
                <a16:creationId xmlns:a16="http://schemas.microsoft.com/office/drawing/2014/main" id="{BF375911-F0AA-46F2-AACF-A56304484273}"/>
              </a:ext>
            </a:extLst>
          </p:cNvPr>
          <p:cNvPicPr>
            <a:picLocks noChangeAspect="1"/>
          </p:cNvPicPr>
          <p:nvPr/>
        </p:nvPicPr>
        <p:blipFill>
          <a:blip r:embed="rId2"/>
          <a:stretch>
            <a:fillRect/>
          </a:stretch>
        </p:blipFill>
        <p:spPr>
          <a:xfrm>
            <a:off x="378372" y="3131053"/>
            <a:ext cx="1035288" cy="595893"/>
          </a:xfrm>
          <a:prstGeom prst="rect">
            <a:avLst/>
          </a:prstGeom>
        </p:spPr>
      </p:pic>
      <p:sp>
        <p:nvSpPr>
          <p:cNvPr id="16" name="직사각형 15">
            <a:extLst>
              <a:ext uri="{FF2B5EF4-FFF2-40B4-BE49-F238E27FC236}">
                <a16:creationId xmlns:a16="http://schemas.microsoft.com/office/drawing/2014/main" id="{C21B299E-34F8-48D5-A6DB-521155746D32}"/>
              </a:ext>
            </a:extLst>
          </p:cNvPr>
          <p:cNvSpPr/>
          <p:nvPr/>
        </p:nvSpPr>
        <p:spPr>
          <a:xfrm>
            <a:off x="1545428" y="3228944"/>
            <a:ext cx="6675294" cy="400110"/>
          </a:xfrm>
          <a:prstGeom prst="rect">
            <a:avLst/>
          </a:prstGeom>
        </p:spPr>
        <p:txBody>
          <a:bodyPr wrap="square">
            <a:spAutoFit/>
          </a:bodyPr>
          <a:lstStyle/>
          <a:p>
            <a:pPr lvl="0" latinLnBrk="1"/>
            <a:r>
              <a:rPr lang="en-US" altLang="ko-KR" sz="2000" b="1" i="0" u="none" strike="noStrike" kern="1200" dirty="0">
                <a:solidFill>
                  <a:schemeClr val="bg1"/>
                </a:solidFill>
                <a:effectLst/>
                <a:latin typeface="+mn-lt"/>
                <a:ea typeface="+mn-ea"/>
                <a:cs typeface="+mn-cs"/>
              </a:rPr>
              <a:t>= −72.488+1.8459⋅Max.temp+0.2199⋅Rel.humidity</a:t>
            </a:r>
            <a:endParaRPr lang="ko-KR" altLang="ko-KR" sz="2000" b="1" kern="1200" dirty="0">
              <a:solidFill>
                <a:schemeClr val="bg1"/>
              </a:solidFill>
              <a:effectLst/>
              <a:latin typeface="+mn-lt"/>
              <a:ea typeface="+mn-ea"/>
              <a:cs typeface="+mn-cs"/>
            </a:endParaRPr>
          </a:p>
        </p:txBody>
      </p:sp>
      <p:sp>
        <p:nvSpPr>
          <p:cNvPr id="17" name="직사각형 16">
            <a:extLst>
              <a:ext uri="{FF2B5EF4-FFF2-40B4-BE49-F238E27FC236}">
                <a16:creationId xmlns:a16="http://schemas.microsoft.com/office/drawing/2014/main" id="{AE3F96AA-FAB7-4F25-9CBC-B8D7F58CC4D9}"/>
              </a:ext>
            </a:extLst>
          </p:cNvPr>
          <p:cNvSpPr/>
          <p:nvPr/>
        </p:nvSpPr>
        <p:spPr>
          <a:xfrm>
            <a:off x="1041385" y="1418953"/>
            <a:ext cx="2079326"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1995</a:t>
            </a:r>
            <a:endParaRPr kumimoji="0" lang="ko-KR"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8" name="직사각형 17">
            <a:extLst>
              <a:ext uri="{FF2B5EF4-FFF2-40B4-BE49-F238E27FC236}">
                <a16:creationId xmlns:a16="http://schemas.microsoft.com/office/drawing/2014/main" id="{56073F31-C011-4F2A-962D-6E38D6801DD2}"/>
              </a:ext>
            </a:extLst>
          </p:cNvPr>
          <p:cNvSpPr/>
          <p:nvPr/>
        </p:nvSpPr>
        <p:spPr>
          <a:xfrm>
            <a:off x="1229710" y="2625757"/>
            <a:ext cx="2079326" cy="33855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1997</a:t>
            </a:r>
            <a:endParaRPr kumimoji="0" lang="ko-KR" altLang="ko-KR" sz="16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3293214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E99683CD-5327-43A5-BBDB-DEE950C0004C}"/>
              </a:ext>
            </a:extLst>
          </p:cNvPr>
          <p:cNvSpPr>
            <a:spLocks noGrp="1"/>
          </p:cNvSpPr>
          <p:nvPr>
            <p:ph type="ctrTitle"/>
          </p:nvPr>
        </p:nvSpPr>
        <p:spPr>
          <a:xfrm>
            <a:off x="1440024" y="1243661"/>
            <a:ext cx="9144000" cy="2387600"/>
          </a:xfrm>
          <a:solidFill>
            <a:srgbClr val="354BA1"/>
          </a:solidFill>
        </p:spPr>
        <p:txBody>
          <a:bodyPr/>
          <a:lstStyle/>
          <a:p>
            <a:r>
              <a:rPr lang="ko-KR" altLang="en-US" dirty="0">
                <a:solidFill>
                  <a:schemeClr val="bg1"/>
                </a:solidFill>
              </a:rPr>
              <a:t>감사합니다</a:t>
            </a:r>
            <a:r>
              <a:rPr lang="en-US" altLang="ko-KR" dirty="0">
                <a:solidFill>
                  <a:schemeClr val="bg1"/>
                </a:solidFill>
              </a:rPr>
              <a:t>.</a:t>
            </a:r>
            <a:endParaRPr lang="ko-KR" altLang="en-US" dirty="0">
              <a:solidFill>
                <a:schemeClr val="bg1"/>
              </a:solidFill>
            </a:endParaRPr>
          </a:p>
        </p:txBody>
      </p:sp>
    </p:spTree>
    <p:extLst>
      <p:ext uri="{BB962C8B-B14F-4D97-AF65-F5344CB8AC3E}">
        <p14:creationId xmlns:p14="http://schemas.microsoft.com/office/powerpoint/2010/main" val="3822292500"/>
      </p:ext>
    </p:extLst>
  </p:cSld>
  <p:clrMapOvr>
    <a:masterClrMapping/>
  </p:clrMapOvr>
</p:sld>
</file>

<file path=ppt/theme/theme1.xml><?xml version="1.0" encoding="utf-8"?>
<a:theme xmlns:a="http://schemas.openxmlformats.org/drawingml/2006/main" name="7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57BFF985544F2743B28ACC715ADD8BA6" ma:contentTypeVersion="6" ma:contentTypeDescription="새 문서를 만듭니다." ma:contentTypeScope="" ma:versionID="9989f32a0a98f6e0a033ac716a142466">
  <xsd:schema xmlns:xsd="http://www.w3.org/2001/XMLSchema" xmlns:xs="http://www.w3.org/2001/XMLSchema" xmlns:p="http://schemas.microsoft.com/office/2006/metadata/properties" xmlns:ns2="ef95c4c0-bf8b-426c-ad8a-ca26a879c726" targetNamespace="http://schemas.microsoft.com/office/2006/metadata/properties" ma:root="true" ma:fieldsID="b1b0f4ec7a4b0e812ba6cadb2c446972" ns2:_="">
    <xsd:import namespace="ef95c4c0-bf8b-426c-ad8a-ca26a879c7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95c4c0-bf8b-426c-ad8a-ca26a879c7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4E96D98-BA92-442D-A9AE-EF94A58965B0}">
  <ds:schemaRefs>
    <ds:schemaRef ds:uri="http://schemas.microsoft.com/sharepoint/v3/contenttype/forms"/>
  </ds:schemaRefs>
</ds:datastoreItem>
</file>

<file path=customXml/itemProps2.xml><?xml version="1.0" encoding="utf-8"?>
<ds:datastoreItem xmlns:ds="http://schemas.openxmlformats.org/officeDocument/2006/customXml" ds:itemID="{C686537D-DF0B-4BE3-9A4C-93C63B4EAF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95c4c0-bf8b-426c-ad8a-ca26a879c7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02179EB-61C1-45DF-BBCA-F7F7E4193D4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5718</TotalTime>
  <Words>1053</Words>
  <Application>Microsoft Office PowerPoint</Application>
  <PresentationFormat>와이드스크린</PresentationFormat>
  <Paragraphs>90</Paragraphs>
  <Slides>14</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14</vt:i4>
      </vt:variant>
    </vt:vector>
  </HeadingPairs>
  <TitlesOfParts>
    <vt:vector size="17" baseType="lpstr">
      <vt:lpstr>맑은 고딕</vt:lpstr>
      <vt:lpstr>Arial</vt:lpstr>
      <vt:lpstr>7_Office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감사합니다.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조현석</dc:creator>
  <cp:lastModifiedBy>ok7624583@daum.net</cp:lastModifiedBy>
  <cp:revision>163</cp:revision>
  <dcterms:created xsi:type="dcterms:W3CDTF">2020-08-28T03:04:35Z</dcterms:created>
  <dcterms:modified xsi:type="dcterms:W3CDTF">2021-11-19T14:57:12Z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0x01010057BFF985544F2743B28ACC715ADD8BA6</vt:lpwstr>
  </property>
</Properties>
</file>