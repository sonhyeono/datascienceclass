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9" r:id="rId6"/>
    <p:sldId id="262" r:id="rId7"/>
    <p:sldId id="294" r:id="rId8"/>
    <p:sldId id="306" r:id="rId9"/>
    <p:sldId id="310" r:id="rId10"/>
    <p:sldId id="295" r:id="rId11"/>
    <p:sldId id="300" r:id="rId12"/>
    <p:sldId id="302" r:id="rId13"/>
    <p:sldId id="307" r:id="rId14"/>
    <p:sldId id="301" r:id="rId15"/>
    <p:sldId id="303" r:id="rId16"/>
    <p:sldId id="311" r:id="rId17"/>
    <p:sldId id="312" r:id="rId18"/>
    <p:sldId id="26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손 현오" initials="손현" lastIdx="4" clrIdx="0">
    <p:extLst>
      <p:ext uri="{19B8F6BF-5375-455C-9EA6-DF929625EA0E}">
        <p15:presenceInfo xmlns:p15="http://schemas.microsoft.com/office/powerpoint/2012/main" userId="dc2350536a7fc0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4B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22" autoAdjust="0"/>
    <p:restoredTop sz="94660"/>
  </p:normalViewPr>
  <p:slideViewPr>
    <p:cSldViewPr snapToGrid="0">
      <p:cViewPr varScale="1">
        <p:scale>
          <a:sx n="86" d="100"/>
          <a:sy n="86" d="100"/>
        </p:scale>
        <p:origin x="46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2021-10-14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95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2021-10-14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76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2021-10-14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192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2021-10-14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14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2021-10-14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89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2021-10-14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80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2021-10-14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68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2021-10-14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31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2021-10-14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75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2021-10-14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940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2021-10-14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963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2021-10-14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567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522966" y="2349815"/>
            <a:ext cx="7956016" cy="2334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4400" b="1" i="1" kern="0" dirty="0">
                <a:solidFill>
                  <a:srgbClr val="FFC000"/>
                </a:solidFill>
              </a:rPr>
              <a:t>Data Science Applications </a:t>
            </a:r>
            <a:r>
              <a:rPr lang="ko-KR" altLang="en-US" sz="4400" b="1" i="1" kern="0" dirty="0">
                <a:solidFill>
                  <a:srgbClr val="FFC000"/>
                </a:solidFill>
              </a:rPr>
              <a:t>조별과제</a:t>
            </a:r>
            <a:r>
              <a:rPr lang="en-US" altLang="ko-KR" sz="4400" b="1" i="1" kern="0" dirty="0">
                <a:solidFill>
                  <a:srgbClr val="FFC000"/>
                </a:solidFill>
              </a:rPr>
              <a:t> 7</a:t>
            </a:r>
            <a:r>
              <a:rPr lang="ko-KR" altLang="en-US" sz="4400" b="1" i="1" kern="0" dirty="0">
                <a:solidFill>
                  <a:srgbClr val="FFC000"/>
                </a:solidFill>
              </a:rPr>
              <a:t>주차 </a:t>
            </a:r>
            <a:endParaRPr lang="en-US" altLang="ko-KR" sz="4400" b="1" i="1" kern="0" dirty="0">
              <a:solidFill>
                <a:srgbClr val="FFC000"/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50" kern="0" dirty="0">
                <a:solidFill>
                  <a:prstClr val="white"/>
                </a:solidFill>
              </a:rPr>
              <a:t>KOREA AERO SPACE UNIV.</a:t>
            </a:r>
            <a:endParaRPr lang="ko-KR" altLang="en-US" sz="6000" kern="0" dirty="0">
              <a:solidFill>
                <a:prstClr val="white"/>
              </a:solidFill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6625772" y="3204197"/>
            <a:ext cx="4896000" cy="0"/>
          </a:xfrm>
          <a:prstGeom prst="line">
            <a:avLst/>
          </a:prstGeom>
          <a:ln>
            <a:solidFill>
              <a:srgbClr val="748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575605" y="3653803"/>
            <a:ext cx="299633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0">
              <a:defRPr/>
            </a:pPr>
            <a:r>
              <a:rPr lang="en-US" altLang="ko-KR" sz="2400" b="1" kern="0" dirty="0">
                <a:solidFill>
                  <a:schemeClr val="bg1"/>
                </a:solidFill>
              </a:rPr>
              <a:t>D</a:t>
            </a:r>
            <a:r>
              <a:rPr lang="ko-KR" altLang="en-US" sz="2400" b="1" kern="0" dirty="0">
                <a:solidFill>
                  <a:schemeClr val="bg1"/>
                </a:solidFill>
              </a:rPr>
              <a:t>조</a:t>
            </a:r>
            <a:endParaRPr lang="en-US" altLang="ko-KR" sz="2400" b="1" kern="0" dirty="0">
              <a:solidFill>
                <a:schemeClr val="bg1"/>
              </a:solidFill>
            </a:endParaRPr>
          </a:p>
          <a:p>
            <a:pPr algn="ctr" latinLnBrk="0">
              <a:defRPr/>
            </a:pPr>
            <a:r>
              <a:rPr lang="en-US" altLang="ko-KR" sz="2400" b="1" kern="0" dirty="0">
                <a:solidFill>
                  <a:schemeClr val="bg1"/>
                </a:solidFill>
              </a:rPr>
              <a:t>2016125032 </a:t>
            </a:r>
            <a:r>
              <a:rPr lang="ko-KR" altLang="en-US" sz="2400" b="1" kern="0" dirty="0" err="1">
                <a:solidFill>
                  <a:schemeClr val="bg1"/>
                </a:solidFill>
              </a:rPr>
              <a:t>손현오</a:t>
            </a:r>
            <a:endParaRPr lang="en-US" altLang="ko-KR" sz="2400" b="1" kern="0" dirty="0">
              <a:solidFill>
                <a:schemeClr val="bg1"/>
              </a:solidFill>
            </a:endParaRPr>
          </a:p>
          <a:p>
            <a:pPr algn="ctr" latinLnBrk="0">
              <a:defRPr/>
            </a:pPr>
            <a:r>
              <a:rPr lang="en-US" altLang="ko-KR" sz="2400" b="1" kern="0" dirty="0">
                <a:solidFill>
                  <a:schemeClr val="bg1"/>
                </a:solidFill>
              </a:rPr>
              <a:t>2019125014 </a:t>
            </a:r>
            <a:r>
              <a:rPr lang="ko-KR" altLang="en-US" sz="2400" b="1" kern="0" dirty="0" err="1">
                <a:solidFill>
                  <a:schemeClr val="bg1"/>
                </a:solidFill>
              </a:rPr>
              <a:t>김영채</a:t>
            </a:r>
            <a:endParaRPr lang="en-US" altLang="ko-KR" sz="2400" b="1" kern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938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1647824" y="370386"/>
            <a:ext cx="7931182" cy="745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ko-KR" altLang="en-US" sz="3200" b="1" kern="0" dirty="0" err="1">
                <a:solidFill>
                  <a:srgbClr val="FFC000"/>
                </a:solidFill>
              </a:rPr>
              <a:t>주교재</a:t>
            </a:r>
            <a:r>
              <a:rPr lang="en-US" altLang="ko-KR" sz="3200" b="1" kern="0" dirty="0">
                <a:solidFill>
                  <a:srgbClr val="FFC000"/>
                </a:solidFill>
              </a:rPr>
              <a:t> 5 </a:t>
            </a:r>
            <a:r>
              <a:rPr lang="ko-KR" altLang="en-US" sz="3200" b="1" kern="0" dirty="0">
                <a:solidFill>
                  <a:srgbClr val="FFC000"/>
                </a:solidFill>
              </a:rPr>
              <a:t>연습문제 </a:t>
            </a:r>
            <a:r>
              <a:rPr lang="en-US" altLang="ko-KR" sz="3200" b="1" kern="0" dirty="0">
                <a:solidFill>
                  <a:srgbClr val="FFC000"/>
                </a:solidFill>
              </a:rPr>
              <a:t>5</a:t>
            </a:r>
            <a:r>
              <a:rPr lang="ko-KR" altLang="en-US" sz="3200" b="1" kern="0" dirty="0">
                <a:solidFill>
                  <a:srgbClr val="FFC000"/>
                </a:solidFill>
              </a:rPr>
              <a:t>번</a:t>
            </a:r>
            <a:endParaRPr lang="en-US" altLang="ko-KR" sz="3200" b="1" kern="0" dirty="0">
              <a:solidFill>
                <a:srgbClr val="FFC000"/>
              </a:solidFill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800" b="1" kern="0" dirty="0">
                <a:solidFill>
                  <a:prstClr val="white"/>
                </a:solidFill>
              </a:rPr>
              <a:t>KOREA AERO SPACE UNIV.</a:t>
            </a:r>
            <a:endParaRPr lang="ko-KR" altLang="en-US" sz="4400" b="1" kern="0" dirty="0">
              <a:solidFill>
                <a:prstClr val="white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C8FA82D-5BA4-4C0E-B648-296EFAB66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082" y="1261167"/>
            <a:ext cx="5323835" cy="120760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B051B97-26A2-41EC-9A29-E55A58A95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40" y="2859973"/>
            <a:ext cx="5323835" cy="34715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3AE885-BEEA-420E-903C-F9B78C853196}"/>
              </a:ext>
            </a:extLst>
          </p:cNvPr>
          <p:cNvSpPr txBox="1"/>
          <p:nvPr/>
        </p:nvSpPr>
        <p:spPr>
          <a:xfrm>
            <a:off x="7011712" y="4141453"/>
            <a:ext cx="4670535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분기 데이터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계절성이 있음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3670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r>
              <a:rPr lang="en-US" altLang="ko-KR" sz="2800" b="1" kern="0" dirty="0">
                <a:solidFill>
                  <a:srgbClr val="FFC000"/>
                </a:solidFill>
              </a:rPr>
              <a:t>05  (a)</a:t>
            </a:r>
            <a:endParaRPr lang="ko-KR" altLang="en-US" sz="2800" b="1" kern="0" dirty="0">
              <a:solidFill>
                <a:srgbClr val="FFC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04525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400" b="1" kern="0" dirty="0">
                <a:solidFill>
                  <a:srgbClr val="FFC000"/>
                </a:solidFill>
              </a:rPr>
              <a:t>Q. </a:t>
            </a:r>
            <a:r>
              <a:rPr lang="ko-KR" altLang="en-US" sz="2400" b="1" kern="0" dirty="0">
                <a:solidFill>
                  <a:srgbClr val="FFC000"/>
                </a:solidFill>
              </a:rPr>
              <a:t> 다음 중 이 계열을 예측하는 데 적합하지 않은 방법은 무엇입니까</a:t>
            </a:r>
            <a:r>
              <a:rPr lang="en-US" altLang="ko-KR" sz="2400" b="1" kern="0" dirty="0">
                <a:solidFill>
                  <a:srgbClr val="FFC000"/>
                </a:solidFill>
              </a:rPr>
              <a:t>?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1919120-B88A-41B6-AA4D-68E53E6B1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065658"/>
              </p:ext>
            </p:extLst>
          </p:nvPr>
        </p:nvGraphicFramePr>
        <p:xfrm>
          <a:off x="378372" y="1957261"/>
          <a:ext cx="11004333" cy="3369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6306">
                  <a:extLst>
                    <a:ext uri="{9D8B030D-6E8A-4147-A177-3AD203B41FA5}">
                      <a16:colId xmlns:a16="http://schemas.microsoft.com/office/drawing/2014/main" val="755036678"/>
                    </a:ext>
                  </a:extLst>
                </a:gridCol>
                <a:gridCol w="5108027">
                  <a:extLst>
                    <a:ext uri="{9D8B030D-6E8A-4147-A177-3AD203B41FA5}">
                      <a16:colId xmlns:a16="http://schemas.microsoft.com/office/drawing/2014/main" val="840557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805560"/>
                  </a:ext>
                </a:extLst>
              </a:tr>
              <a:tr h="5923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Moving average of raw series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계열에 추세와 계절성이 모두 있어서 부적절함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588615"/>
                  </a:ext>
                </a:extLst>
              </a:tr>
              <a:tr h="5978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Moving average of </a:t>
                      </a:r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deseasonalized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series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계열에 추세와 계절성이 모두 있지만 데이터를 비 계절화 할 수 있기에 부적절함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974043"/>
                  </a:ext>
                </a:extLst>
              </a:tr>
              <a:tr h="5738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Simple </a:t>
                      </a:r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expontentional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smoothing of the raw series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계열에 추세와 계절성이 있어서 부적절함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695490"/>
                  </a:ext>
                </a:extLst>
              </a:tr>
              <a:tr h="55179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 exponential smoothing of the raw series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계절성을 고려하지 않기 때문에 부적절함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989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Holts-Winter exponential smoothing of the raw series 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Holts-Winter</a:t>
                      </a:r>
                      <a:r>
                        <a:rPr lang="ko-KR" altLang="en-US" dirty="0"/>
                        <a:t>는 계절성과 추세가 있기 때문에 가장 적절함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079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811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57654" y="220880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05  (b)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046465" y="220880"/>
            <a:ext cx="1045253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예측자는 앞으로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분기에 대한 예측을 생성하는 임무를 받았고 마지막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분기를 검증 기간으로 지정하도록 데이터를 분할했습니다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예측자는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multiplicative  Holt-Winter ’s  exponential  smoothing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사용하여 예측 작업에 접근했습니다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The smoothing  constants  used  were  α  =  0.2, β  =  0.15, γ  =  0.05. (forecast, fable package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사용해서 비교해보고 일치하는 보기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latinLnBrk="0">
              <a:defRPr/>
            </a:pPr>
            <a:r>
              <a:rPr lang="en-US" altLang="ko-KR" sz="2000" b="1" kern="0" dirty="0" err="1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i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모델을 만들고 평가용 기간에 대해서 평가를 해라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A1F8AFE5-A620-45BB-86FE-477B4DAA8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500874"/>
              </p:ext>
            </p:extLst>
          </p:nvPr>
        </p:nvGraphicFramePr>
        <p:xfrm>
          <a:off x="7250067" y="4792764"/>
          <a:ext cx="473278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2784">
                  <a:extLst>
                    <a:ext uri="{9D8B030D-6E8A-4147-A177-3AD203B41FA5}">
                      <a16:colId xmlns:a16="http://schemas.microsoft.com/office/drawing/2014/main" val="1672897527"/>
                    </a:ext>
                  </a:extLst>
                </a:gridCol>
              </a:tblGrid>
              <a:tr h="2612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Forecast package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189766"/>
                  </a:ext>
                </a:extLst>
              </a:tr>
              <a:tr h="105887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위에서 주어진 각 계수들의 값을 이용하고 모델은 </a:t>
                      </a:r>
                      <a:r>
                        <a:rPr lang="en-US" altLang="ko-KR" dirty="0"/>
                        <a:t>ZZZ(MAA</a:t>
                      </a:r>
                      <a:r>
                        <a:rPr lang="ko-KR" altLang="en-US" dirty="0"/>
                        <a:t>는 오차가 큼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로 하여 </a:t>
                      </a:r>
                      <a:r>
                        <a:rPr lang="en-US" altLang="ko-KR" dirty="0"/>
                        <a:t>forecast package</a:t>
                      </a:r>
                      <a:r>
                        <a:rPr lang="ko-KR" altLang="en-US" dirty="0"/>
                        <a:t>로 예측함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실제 예측 값과 차이가 크지 않은 것을   확인함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491039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4A0E6C0D-0626-40B9-A521-33F2131D5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028" y="2224306"/>
            <a:ext cx="4352861" cy="106745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9ADC5E9-519E-4922-9309-355F1D86B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54" y="2224306"/>
            <a:ext cx="6711559" cy="447356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0ED5A2A-AE03-4D69-9F99-B6DC3E00B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703" y="3721717"/>
            <a:ext cx="1792150" cy="9193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7C399F0-A5C7-4A69-AA79-FBCFE172A25C}"/>
              </a:ext>
            </a:extLst>
          </p:cNvPr>
          <p:cNvSpPr txBox="1"/>
          <p:nvPr/>
        </p:nvSpPr>
        <p:spPr>
          <a:xfrm>
            <a:off x="8888394" y="1676998"/>
            <a:ext cx="1456127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예측 값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3CFF87-DB92-47F1-BF29-7BCDAA2B01B1}"/>
              </a:ext>
            </a:extLst>
          </p:cNvPr>
          <p:cNvSpPr txBox="1"/>
          <p:nvPr/>
        </p:nvSpPr>
        <p:spPr>
          <a:xfrm>
            <a:off x="8671726" y="3291763"/>
            <a:ext cx="1456127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실제 값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753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05  (b)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04525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</a:t>
            </a:r>
            <a:r>
              <a:rPr lang="en-US" altLang="ko-KR" sz="2400" b="1" kern="0" dirty="0" err="1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i</a:t>
            </a:r>
            <a:r>
              <a:rPr kumimoji="0" lang="en-US" altLang="ko-K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lang="en-US" altLang="ko-KR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MAPE</a:t>
            </a:r>
            <a:r>
              <a:rPr lang="ko-KR" altLang="en-US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를 계산 해보라</a:t>
            </a:r>
            <a:r>
              <a:rPr lang="en-US" altLang="ko-KR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en-US" altLang="ko-KR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A1F8AFE5-A620-45BB-86FE-477B4DAA8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383489"/>
              </p:ext>
            </p:extLst>
          </p:nvPr>
        </p:nvGraphicFramePr>
        <p:xfrm>
          <a:off x="534168" y="3788640"/>
          <a:ext cx="4732784" cy="1424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2784">
                  <a:extLst>
                    <a:ext uri="{9D8B030D-6E8A-4147-A177-3AD203B41FA5}">
                      <a16:colId xmlns:a16="http://schemas.microsoft.com/office/drawing/2014/main" val="1672897527"/>
                    </a:ext>
                  </a:extLst>
                </a:gridCol>
              </a:tblGrid>
              <a:tr h="2612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189766"/>
                  </a:ext>
                </a:extLst>
              </a:tr>
              <a:tr h="105887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MAPE</a:t>
                      </a:r>
                      <a:r>
                        <a:rPr lang="ko-KR" altLang="en-US" dirty="0"/>
                        <a:t>의 경우는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에 가까울수록 회귀 모형의 성능이 좋으므로 </a:t>
                      </a:r>
                      <a:r>
                        <a:rPr lang="en-US" altLang="ko-KR" dirty="0"/>
                        <a:t>1.444875 </a:t>
                      </a:r>
                      <a:r>
                        <a:rPr lang="ko-KR" altLang="en-US" dirty="0"/>
                        <a:t>으로 예측이 정확함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491039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5253C36F-9328-4AB9-819E-76B7AA295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68" y="2305087"/>
            <a:ext cx="7755260" cy="62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549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05  (b)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1135772"/>
            <a:ext cx="104525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forecast, fable package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사용해서 비교</a:t>
            </a:r>
            <a:r>
              <a:rPr lang="ko-KR" altLang="en-US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하기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A1F8AFE5-A620-45BB-86FE-477B4DAA8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673282"/>
              </p:ext>
            </p:extLst>
          </p:nvPr>
        </p:nvGraphicFramePr>
        <p:xfrm>
          <a:off x="3238249" y="5009913"/>
          <a:ext cx="4732784" cy="1424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2784">
                  <a:extLst>
                    <a:ext uri="{9D8B030D-6E8A-4147-A177-3AD203B41FA5}">
                      <a16:colId xmlns:a16="http://schemas.microsoft.com/office/drawing/2014/main" val="1672897527"/>
                    </a:ext>
                  </a:extLst>
                </a:gridCol>
              </a:tblGrid>
              <a:tr h="2612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189766"/>
                  </a:ext>
                </a:extLst>
              </a:tr>
              <a:tr h="105887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Fable package</a:t>
                      </a:r>
                      <a:r>
                        <a:rPr lang="ko-KR" altLang="en-US" dirty="0"/>
                        <a:t>에서 </a:t>
                      </a:r>
                      <a:r>
                        <a:rPr lang="en-US" altLang="ko-KR" dirty="0"/>
                        <a:t>ARIMA</a:t>
                      </a:r>
                      <a:r>
                        <a:rPr lang="ko-KR" altLang="en-US" dirty="0"/>
                        <a:t>를 사용해서 예측 해본 결과가 </a:t>
                      </a:r>
                      <a:r>
                        <a:rPr lang="en-US" altLang="ko-KR" dirty="0" err="1"/>
                        <a:t>ets</a:t>
                      </a:r>
                      <a:r>
                        <a:rPr lang="ko-KR" altLang="en-US" dirty="0"/>
                        <a:t>로 예측한 결과와 비슷한 것을 알 수 있음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491039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FC5BE485-C185-4E96-BD76-A169C25A7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901" y="1955740"/>
            <a:ext cx="5370990" cy="266797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BCD6814-7C55-4D91-80E3-CB85AF870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23" y="1957437"/>
            <a:ext cx="4967269" cy="26645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25ED85-78D8-4982-A6F0-F1C7D7353DCD}"/>
              </a:ext>
            </a:extLst>
          </p:cNvPr>
          <p:cNvSpPr txBox="1"/>
          <p:nvPr/>
        </p:nvSpPr>
        <p:spPr>
          <a:xfrm>
            <a:off x="1685798" y="1401480"/>
            <a:ext cx="2150517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Forecast package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E11D12-08C4-4B76-B363-F733DBBE4586}"/>
              </a:ext>
            </a:extLst>
          </p:cNvPr>
          <p:cNvSpPr txBox="1"/>
          <p:nvPr/>
        </p:nvSpPr>
        <p:spPr>
          <a:xfrm>
            <a:off x="8202526" y="1320600"/>
            <a:ext cx="1944517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f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able package</a:t>
            </a:r>
          </a:p>
        </p:txBody>
      </p:sp>
    </p:spTree>
    <p:extLst>
      <p:ext uri="{BB962C8B-B14F-4D97-AF65-F5344CB8AC3E}">
        <p14:creationId xmlns:p14="http://schemas.microsoft.com/office/powerpoint/2010/main" val="946297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05  (c)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13564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결과를 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plot 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해보고 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(b)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한 것이 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21, 22 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분기를 예측하는데 적절합니까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79F8D-7F5B-4561-ACDB-57652DC30DE1}"/>
              </a:ext>
            </a:extLst>
          </p:cNvPr>
          <p:cNvSpPr txBox="1"/>
          <p:nvPr/>
        </p:nvSpPr>
        <p:spPr>
          <a:xfrm>
            <a:off x="7482444" y="2778615"/>
            <a:ext cx="4535385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MAPE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1.444875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으로 예측 값의     평균이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1%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를 벗어나는 것이기에       정확해서 적절함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D8CD9C-8722-4014-9134-E399A762E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97" y="2181120"/>
            <a:ext cx="641696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72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49772" y="42207"/>
            <a:ext cx="1702676" cy="729043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05  (d)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71250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더 간단한 접근 방식을 취하기로 결정했으며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exponential smoothing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 사용하는 대신 차분을 사용했습니다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차분을 사용하여 추세와 계절 패턴을 제거합니다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어떤 순서가 더 잘 작동합니까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먼저 추세를 제거한 다음 계절성을 제거하거나 반대 순서를 제거합니까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 Final series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time plot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 보여라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E875ED-799C-44A0-B6EC-3ABC30FA6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79" y="1813168"/>
            <a:ext cx="6357201" cy="4579825"/>
          </a:xfrm>
          <a:prstGeom prst="rect">
            <a:avLst/>
          </a:prstGeom>
        </p:spPr>
      </p:pic>
      <p:graphicFrame>
        <p:nvGraphicFramePr>
          <p:cNvPr id="6" name="표 4">
            <a:extLst>
              <a:ext uri="{FF2B5EF4-FFF2-40B4-BE49-F238E27FC236}">
                <a16:creationId xmlns:a16="http://schemas.microsoft.com/office/drawing/2014/main" id="{A6483A4E-8D8E-43DF-9923-5D683CA27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700144"/>
              </p:ext>
            </p:extLst>
          </p:nvPr>
        </p:nvGraphicFramePr>
        <p:xfrm>
          <a:off x="6877643" y="2515956"/>
          <a:ext cx="493598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5984">
                  <a:extLst>
                    <a:ext uri="{9D8B030D-6E8A-4147-A177-3AD203B41FA5}">
                      <a16:colId xmlns:a16="http://schemas.microsoft.com/office/drawing/2014/main" val="1672897527"/>
                    </a:ext>
                  </a:extLst>
                </a:gridCol>
              </a:tblGrid>
              <a:tr h="2612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189766"/>
                  </a:ext>
                </a:extLst>
              </a:tr>
              <a:tr h="105887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일차 차분</a:t>
                      </a:r>
                      <a:r>
                        <a:rPr lang="en-US" altLang="ko-KR" dirty="0"/>
                        <a:t>(Lag 1), </a:t>
                      </a:r>
                      <a:r>
                        <a:rPr lang="ko-KR" altLang="en-US" dirty="0"/>
                        <a:t>계절 차분</a:t>
                      </a:r>
                      <a:r>
                        <a:rPr lang="en-US" altLang="ko-KR" dirty="0"/>
                        <a:t>(Lag 4)</a:t>
                      </a:r>
                      <a:r>
                        <a:rPr lang="ko-KR" altLang="en-US" dirty="0"/>
                        <a:t> 순으로 추세와 계절 패턴을 제거한 </a:t>
                      </a:r>
                      <a:r>
                        <a:rPr lang="en-US" altLang="ko-KR" dirty="0"/>
                        <a:t>plot</a:t>
                      </a:r>
                      <a:r>
                        <a:rPr lang="ko-KR" altLang="en-US" dirty="0"/>
                        <a:t>을 보임</a:t>
                      </a:r>
                      <a:endParaRPr lang="en-US" altLang="ko-KR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최종 </a:t>
                      </a:r>
                      <a:r>
                        <a:rPr lang="en-US" altLang="ko-KR" dirty="0"/>
                        <a:t>time plot</a:t>
                      </a:r>
                      <a:r>
                        <a:rPr lang="ko-KR" altLang="en-US" dirty="0"/>
                        <a:t>에서 </a:t>
                      </a:r>
                      <a:r>
                        <a:rPr lang="en-US" altLang="ko-KR" dirty="0"/>
                        <a:t>Lag 1 </a:t>
                      </a:r>
                      <a:r>
                        <a:rPr lang="ko-KR" altLang="en-US" dirty="0"/>
                        <a:t>차이를 적용한 것과 </a:t>
                      </a:r>
                      <a:r>
                        <a:rPr lang="en-US" altLang="ko-KR" dirty="0"/>
                        <a:t>Lag 4 </a:t>
                      </a:r>
                      <a:r>
                        <a:rPr lang="ko-KR" altLang="en-US" dirty="0"/>
                        <a:t>차이를 적용한 것은 차이가 없음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491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499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05  (e)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1" y="1129597"/>
            <a:ext cx="1158872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(d)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이중 차분 계열의 평균을 사용하여 분기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21-22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예측합니다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훈련 기간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(20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분기까지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만 사용하고 추세 및 계절 패턴에 맞게 조정해야 합니다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최종 결과를 가지고 예측을 해보겠습니다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B0D66F83-E2BF-43F6-874E-C9BC42DE0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616388"/>
              </p:ext>
            </p:extLst>
          </p:nvPr>
        </p:nvGraphicFramePr>
        <p:xfrm>
          <a:off x="378371" y="2859085"/>
          <a:ext cx="11083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3160">
                  <a:extLst>
                    <a:ext uri="{9D8B030D-6E8A-4147-A177-3AD203B41FA5}">
                      <a16:colId xmlns:a16="http://schemas.microsoft.com/office/drawing/2014/main" val="3743879510"/>
                    </a:ext>
                  </a:extLst>
                </a:gridCol>
              </a:tblGrid>
              <a:tr h="27758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551646"/>
                  </a:ext>
                </a:extLst>
              </a:tr>
              <a:tr h="308624"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계열이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가지 요소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계절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등으로 되어있습니다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	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계열이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개의 요소로 계절 요소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추세 요소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수준 요소등으로 구성이 되어있는데 에러는 없다고 가정하고 차분을 이용해서 계절요소와 추세요소를 제거를 하면 남아있는 것은 수준요소가 됩니다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일차 차분에서 추세 요소 제거하고 계절 차분까지 제거를 하면 결과 계열이 수준 요소만 남습니다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수준요소계열의 평균을 취해서 하나의 수준 값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(L)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만듭니다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원계열에서 추세 계절요소를 완전 제거를 하는 것이 수준 요소이고 수준요소는 하나의 평균값으로 나타낸 것을 가지고 예측을 합니다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Yt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 값을 구하는 것인데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식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처럼 나오게 되고 식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이용해서 예측을 할 수가 있습니다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즉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y21, y22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집어넣어서 구할 수 있습니다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87505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E51B60F8-CA6F-40A1-9A93-003E724CC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047" y="2145260"/>
            <a:ext cx="4168772" cy="3980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EA4FAD5-3851-4249-A0A7-C7E96FF3DEF1}"/>
              </a:ext>
            </a:extLst>
          </p:cNvPr>
          <p:cNvSpPr txBox="1"/>
          <p:nvPr/>
        </p:nvSpPr>
        <p:spPr>
          <a:xfrm>
            <a:off x="8919925" y="1637428"/>
            <a:ext cx="1456127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식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434697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05  (e)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1" y="1129597"/>
            <a:ext cx="1158872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(d)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이중 차분 계열의 평균을 사용하여 분기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21-22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예측합니다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훈련 기간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(20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분기까지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만 사용하고 추세 및 계절 패턴에 맞게 조정해야 합니다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최종 결과를 가지고 예측을 해보겠습니다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9C5D4B5-255D-4618-A211-6728D97EA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1" y="2370354"/>
            <a:ext cx="6256417" cy="37730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4F44930-9EE8-41F7-A597-2D070DFD2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314" y="3429000"/>
            <a:ext cx="3612853" cy="71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34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05  (f)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13564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(e)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예측 값을 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(b)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지수 </a:t>
            </a:r>
            <a:r>
              <a:rPr kumimoji="0" lang="ko-KR" alt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평활화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예측 값과 비교하십시오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두 가지 예측 방법 중 어느 것을 선택 하시겠습니까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 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모델의 성능을 비교해보세요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7C7E12B2-5648-463E-80D7-03E55AC4F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704786"/>
              </p:ext>
            </p:extLst>
          </p:nvPr>
        </p:nvGraphicFramePr>
        <p:xfrm>
          <a:off x="1434662" y="2674418"/>
          <a:ext cx="9459310" cy="118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9310">
                  <a:extLst>
                    <a:ext uri="{9D8B030D-6E8A-4147-A177-3AD203B41FA5}">
                      <a16:colId xmlns:a16="http://schemas.microsoft.com/office/drawing/2014/main" val="1955710130"/>
                    </a:ext>
                  </a:extLst>
                </a:gridCol>
              </a:tblGrid>
              <a:tr h="22643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404664"/>
                  </a:ext>
                </a:extLst>
              </a:tr>
              <a:tr h="8221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DepartmentStoreSales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데이터</a:t>
                      </a:r>
                      <a:r>
                        <a:rPr lang="ko-KR" altLang="ko-KR" dirty="0"/>
                        <a:t>를 사용하여 </a:t>
                      </a:r>
                      <a:r>
                        <a:rPr lang="ko-KR" altLang="ko-KR" dirty="0" err="1"/>
                        <a:t>Holt-Winter</a:t>
                      </a:r>
                      <a:r>
                        <a:rPr lang="ko-KR" altLang="ko-KR" dirty="0"/>
                        <a:t>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smoothing</a:t>
                      </a:r>
                      <a:r>
                        <a:rPr lang="ko-KR" altLang="ko-KR" dirty="0"/>
                        <a:t>와 이중 차분을 비교할 때 이중 차분 프로세스가 사용하기 더 쉽고 더 적은 단계가 필요한 것처럼 보</a:t>
                      </a:r>
                      <a:r>
                        <a:rPr lang="ko-KR" altLang="en-US" dirty="0"/>
                        <a:t>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532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1625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05  (g)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13564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더 간단한 방법이 없을까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EAE86-4B6D-47C4-8C3B-4AF9BAE15BDD}"/>
              </a:ext>
            </a:extLst>
          </p:cNvPr>
          <p:cNvSpPr txBox="1"/>
          <p:nvPr/>
        </p:nvSpPr>
        <p:spPr>
          <a:xfrm>
            <a:off x="378372" y="2826212"/>
            <a:ext cx="1135642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단순 예측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navie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 forecasting)</a:t>
            </a:r>
            <a:r>
              <a:rPr lang="ko-KR" altLang="en-US" sz="20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입니다</a:t>
            </a:r>
            <a:r>
              <a:rPr lang="en-US" altLang="ko-KR" sz="20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시점에 있어서 바로 직전의 값으로 예측을 하는 것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3547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4320000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kern="0" dirty="0" err="1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손현오</a:t>
            </a:r>
            <a:r>
              <a:rPr kumimoji="0" lang="ko-KR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팀원 페이지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1356428" cy="4649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/>
            </a:pP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 내용</a:t>
            </a:r>
            <a:endParaRPr kumimoji="0" lang="en-US" altLang="ko-KR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971550" marR="0" lvl="1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/>
            </a:pP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연습문제 풀이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 PPT </a:t>
            </a: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작성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600" b="1" kern="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연습문제 풀이와</a:t>
            </a: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해석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모델 코드 구성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/>
            </a:pPr>
            <a:endParaRPr kumimoji="0" lang="en-US" altLang="ko-KR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/>
            </a:pP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자기성찰</a:t>
            </a:r>
            <a:endParaRPr kumimoji="0" lang="en-US" altLang="ko-KR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시계열을 나눈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가지 요소들을 가지고 예측을 해보고 모델을 제작해보고 비교해 보면서 단순히 이론으로만 알던 내용을 코드로 만들어 보기까지 시간이 많이 걸렸지만 팀원과 의논하면서 잘 해결해 나갈 수 있었습니다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5642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4320000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김영채 팀원 페이지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1356428" cy="4187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/>
            </a:pP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 내용</a:t>
            </a:r>
            <a:endParaRPr kumimoji="0" lang="en-US" altLang="ko-KR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971550" marR="0" lvl="1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/>
            </a:pP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연습문제 풀이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모델 제작 및 평가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차분을 사용하여 추세와 계절 패턴 제거 및 최종 </a:t>
            </a: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time plot </a:t>
            </a: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해석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모델 성능 비교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/>
            </a:pPr>
            <a:endParaRPr kumimoji="0" lang="en-US" altLang="ko-KR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/>
            </a:pP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자기성찰</a:t>
            </a:r>
            <a:endParaRPr kumimoji="0" lang="en-US" altLang="ko-KR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모델의 제작과 평가에 이어 모델의 성능을 비교한 것까지 공부하였다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문제 풀이 이후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결과를 해석하는데 다소 어려움이 있었지만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팀원과의 적극적인 소통을 통해 해결할 수 있었다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14264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99683CD-5327-43A5-BBDB-DEE950C00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24" y="1243661"/>
            <a:ext cx="9144000" cy="2387600"/>
          </a:xfrm>
          <a:solidFill>
            <a:srgbClr val="354BA1"/>
          </a:solidFill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감사합니다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292500"/>
      </p:ext>
    </p:extLst>
  </p:cSld>
  <p:clrMapOvr>
    <a:masterClrMapping/>
  </p:clrMapOvr>
</p:sld>
</file>

<file path=ppt/theme/theme1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7BFF985544F2743B28ACC715ADD8BA6" ma:contentTypeVersion="6" ma:contentTypeDescription="새 문서를 만듭니다." ma:contentTypeScope="" ma:versionID="9989f32a0a98f6e0a033ac716a142466">
  <xsd:schema xmlns:xsd="http://www.w3.org/2001/XMLSchema" xmlns:xs="http://www.w3.org/2001/XMLSchema" xmlns:p="http://schemas.microsoft.com/office/2006/metadata/properties" xmlns:ns2="ef95c4c0-bf8b-426c-ad8a-ca26a879c726" targetNamespace="http://schemas.microsoft.com/office/2006/metadata/properties" ma:root="true" ma:fieldsID="b1b0f4ec7a4b0e812ba6cadb2c446972" ns2:_="">
    <xsd:import namespace="ef95c4c0-bf8b-426c-ad8a-ca26a879c7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95c4c0-bf8b-426c-ad8a-ca26a879c7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E96D98-BA92-442D-A9AE-EF94A58965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2179EB-61C1-45DF-BBCA-F7F7E4193D4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686537D-DF0B-4BE3-9A4C-93C63B4EAF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95c4c0-bf8b-426c-ad8a-ca26a879c7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4106</TotalTime>
  <Words>815</Words>
  <Application>Microsoft Office PowerPoint</Application>
  <PresentationFormat>와이드스크린</PresentationFormat>
  <Paragraphs>80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7_Office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ok7624583@daum.net</cp:lastModifiedBy>
  <cp:revision>138</cp:revision>
  <dcterms:created xsi:type="dcterms:W3CDTF">2020-08-28T03:04:35Z</dcterms:created>
  <dcterms:modified xsi:type="dcterms:W3CDTF">2021-10-14T14:07:07Z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0x01010057BFF985544F2743B28ACC715ADD8BA6</vt:lpwstr>
  </property>
</Properties>
</file>