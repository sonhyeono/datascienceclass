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7" r:id="rId5"/>
    <p:sldId id="259" r:id="rId6"/>
    <p:sldId id="262" r:id="rId7"/>
    <p:sldId id="290" r:id="rId8"/>
    <p:sldId id="284" r:id="rId9"/>
    <p:sldId id="287" r:id="rId10"/>
    <p:sldId id="288" r:id="rId11"/>
    <p:sldId id="289" r:id="rId12"/>
    <p:sldId id="271" r:id="rId13"/>
    <p:sldId id="292" r:id="rId14"/>
    <p:sldId id="291" r:id="rId15"/>
    <p:sldId id="293" r:id="rId16"/>
    <p:sldId id="264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손 현오" initials="손현" lastIdx="4" clrIdx="0">
    <p:extLst>
      <p:ext uri="{19B8F6BF-5375-455C-9EA6-DF929625EA0E}">
        <p15:presenceInfo xmlns:p15="http://schemas.microsoft.com/office/powerpoint/2012/main" userId="dc2350536a7fc01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54B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22" autoAdjust="0"/>
    <p:restoredTop sz="94660"/>
  </p:normalViewPr>
  <p:slideViewPr>
    <p:cSldViewPr snapToGrid="0">
      <p:cViewPr varScale="1">
        <p:scale>
          <a:sx n="86" d="100"/>
          <a:sy n="86" d="100"/>
        </p:scale>
        <p:origin x="46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2022-02-09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7959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2022-02-09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4762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2022-02-09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9192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2022-02-09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1144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2022-02-09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1899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2022-02-09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2807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2022-02-09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168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2022-02-09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1314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2022-02-09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6755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2022-02-09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6940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2022-02-09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1963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2022-02-09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2567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522966" y="2349815"/>
            <a:ext cx="7956016" cy="23348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>
              <a:lnSpc>
                <a:spcPct val="150000"/>
              </a:lnSpc>
              <a:defRPr/>
            </a:pPr>
            <a:r>
              <a:rPr lang="en-US" altLang="ko-KR" sz="4400" b="1" i="1" kern="0" dirty="0">
                <a:solidFill>
                  <a:srgbClr val="FFC000"/>
                </a:solidFill>
              </a:rPr>
              <a:t>Data Science Applications </a:t>
            </a:r>
            <a:r>
              <a:rPr lang="ko-KR" altLang="en-US" sz="4400" b="1" i="1" kern="0" dirty="0">
                <a:solidFill>
                  <a:srgbClr val="FFC000"/>
                </a:solidFill>
              </a:rPr>
              <a:t>조별과제</a:t>
            </a:r>
            <a:r>
              <a:rPr lang="en-US" altLang="ko-KR" sz="4400" b="1" i="1" kern="0" dirty="0">
                <a:solidFill>
                  <a:srgbClr val="FFC000"/>
                </a:solidFill>
              </a:rPr>
              <a:t> 2</a:t>
            </a:r>
            <a:r>
              <a:rPr lang="ko-KR" altLang="en-US" sz="4400" b="1" i="1" kern="0" dirty="0">
                <a:solidFill>
                  <a:srgbClr val="FFC000"/>
                </a:solidFill>
              </a:rPr>
              <a:t>주차 </a:t>
            </a:r>
            <a:endParaRPr lang="en-US" altLang="ko-KR" sz="4400" b="1" i="1" kern="0" dirty="0">
              <a:solidFill>
                <a:srgbClr val="FFC000"/>
              </a:solidFill>
            </a:endParaRPr>
          </a:p>
          <a:p>
            <a:pPr latinLnBrk="0">
              <a:lnSpc>
                <a:spcPct val="150000"/>
              </a:lnSpc>
              <a:defRPr/>
            </a:pPr>
            <a:r>
              <a:rPr lang="en-US" altLang="ko-KR" sz="1050" kern="0" dirty="0">
                <a:solidFill>
                  <a:prstClr val="white"/>
                </a:solidFill>
              </a:rPr>
              <a:t>KOREA AERO SPACE UNIV.</a:t>
            </a:r>
            <a:endParaRPr lang="ko-KR" altLang="en-US" sz="6000" kern="0" dirty="0">
              <a:solidFill>
                <a:prstClr val="white"/>
              </a:solidFill>
            </a:endParaRPr>
          </a:p>
        </p:txBody>
      </p:sp>
      <p:cxnSp>
        <p:nvCxnSpPr>
          <p:cNvPr id="12" name="직선 연결선 11"/>
          <p:cNvCxnSpPr/>
          <p:nvPr/>
        </p:nvCxnSpPr>
        <p:spPr>
          <a:xfrm>
            <a:off x="6625772" y="3204197"/>
            <a:ext cx="4896000" cy="0"/>
          </a:xfrm>
          <a:prstGeom prst="line">
            <a:avLst/>
          </a:prstGeom>
          <a:ln>
            <a:solidFill>
              <a:srgbClr val="7488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/>
          <p:cNvSpPr/>
          <p:nvPr/>
        </p:nvSpPr>
        <p:spPr>
          <a:xfrm>
            <a:off x="8519773" y="3653803"/>
            <a:ext cx="1107996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latinLnBrk="0">
              <a:defRPr/>
            </a:pPr>
            <a:r>
              <a:rPr lang="en-US" altLang="ko-KR" sz="2400" b="1" kern="0" dirty="0">
                <a:solidFill>
                  <a:schemeClr val="bg1"/>
                </a:solidFill>
              </a:rPr>
              <a:t>H</a:t>
            </a:r>
            <a:r>
              <a:rPr lang="ko-KR" altLang="en-US" sz="2400" b="1" kern="0" dirty="0">
                <a:solidFill>
                  <a:schemeClr val="bg1"/>
                </a:solidFill>
              </a:rPr>
              <a:t>조</a:t>
            </a:r>
            <a:endParaRPr lang="en-US" altLang="ko-KR" sz="2400" b="1" kern="0" dirty="0">
              <a:solidFill>
                <a:schemeClr val="bg1"/>
              </a:solidFill>
            </a:endParaRPr>
          </a:p>
          <a:p>
            <a:pPr algn="ctr" latinLnBrk="0">
              <a:defRPr/>
            </a:pPr>
            <a:r>
              <a:rPr lang="ko-KR" altLang="en-US" sz="2400" b="1" kern="0" dirty="0" err="1">
                <a:solidFill>
                  <a:schemeClr val="bg1"/>
                </a:solidFill>
              </a:rPr>
              <a:t>손현오</a:t>
            </a:r>
            <a:endParaRPr lang="en-US" altLang="ko-KR" sz="2400" b="1" kern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99384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1647824" y="370386"/>
            <a:ext cx="7931182" cy="7456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latinLnBrk="0">
              <a:defRPr/>
            </a:pPr>
            <a:r>
              <a:rPr lang="ko-KR" altLang="en-US" sz="3200" b="1" kern="0" dirty="0">
                <a:solidFill>
                  <a:srgbClr val="FFC000"/>
                </a:solidFill>
              </a:rPr>
              <a:t>시계열 만들기</a:t>
            </a:r>
            <a:endParaRPr lang="en-US" altLang="ko-KR" sz="3200" b="1" kern="0" dirty="0">
              <a:solidFill>
                <a:srgbClr val="FFC000"/>
              </a:solidFill>
            </a:endParaRPr>
          </a:p>
          <a:p>
            <a:pPr algn="ctr" latinLnBrk="0">
              <a:lnSpc>
                <a:spcPct val="150000"/>
              </a:lnSpc>
              <a:defRPr/>
            </a:pPr>
            <a:r>
              <a:rPr lang="en-US" altLang="ko-KR" sz="800" b="1" kern="0" dirty="0">
                <a:solidFill>
                  <a:prstClr val="white"/>
                </a:solidFill>
              </a:rPr>
              <a:t>KOREA AERO SPACE UNIV.</a:t>
            </a:r>
            <a:endParaRPr lang="ko-KR" altLang="en-US" sz="4400" b="1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06A5CB-0D8F-440A-8FB5-563A6533C34B}"/>
              </a:ext>
            </a:extLst>
          </p:cNvPr>
          <p:cNvSpPr txBox="1"/>
          <p:nvPr/>
        </p:nvSpPr>
        <p:spPr>
          <a:xfrm>
            <a:off x="1064440" y="2633666"/>
            <a:ext cx="10731441" cy="1682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</a:rPr>
              <a:t>1. </a:t>
            </a:r>
            <a:r>
              <a:rPr lang="en-US" altLang="ko-KR" sz="2400" b="1" dirty="0" err="1">
                <a:solidFill>
                  <a:schemeClr val="bg1"/>
                </a:solidFill>
              </a:rPr>
              <a:t>My_ts</a:t>
            </a:r>
            <a:r>
              <a:rPr lang="en-US" altLang="ko-KR" sz="2400" b="1" dirty="0">
                <a:solidFill>
                  <a:schemeClr val="bg1"/>
                </a:solidFill>
              </a:rPr>
              <a:t> </a:t>
            </a:r>
            <a:r>
              <a:rPr lang="ko-KR" altLang="en-US" sz="2400" b="1" dirty="0">
                <a:solidFill>
                  <a:schemeClr val="bg1"/>
                </a:solidFill>
              </a:rPr>
              <a:t>함수 작성하기</a:t>
            </a:r>
            <a:endParaRPr lang="en-US" altLang="ko-KR" sz="2400" b="1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</a:rPr>
              <a:t>2. </a:t>
            </a:r>
            <a:r>
              <a:rPr lang="ko-KR" altLang="en-US" sz="2400" b="1" dirty="0">
                <a:solidFill>
                  <a:schemeClr val="bg1"/>
                </a:solidFill>
              </a:rPr>
              <a:t>교재 연습문제 </a:t>
            </a:r>
            <a:r>
              <a:rPr lang="en-US" altLang="ko-KR" sz="2400" b="1" dirty="0">
                <a:solidFill>
                  <a:schemeClr val="bg1"/>
                </a:solidFill>
              </a:rPr>
              <a:t>(2</a:t>
            </a:r>
            <a:r>
              <a:rPr lang="ko-KR" altLang="en-US" sz="2400" b="1" dirty="0">
                <a:solidFill>
                  <a:schemeClr val="bg1"/>
                </a:solidFill>
              </a:rPr>
              <a:t>장 연습 </a:t>
            </a:r>
            <a:r>
              <a:rPr lang="en-US" altLang="ko-KR" sz="2400" b="1" dirty="0">
                <a:solidFill>
                  <a:schemeClr val="bg1"/>
                </a:solidFill>
              </a:rPr>
              <a:t>2</a:t>
            </a:r>
            <a:r>
              <a:rPr lang="ko-KR" altLang="en-US" sz="2400" b="1" dirty="0">
                <a:solidFill>
                  <a:schemeClr val="bg1"/>
                </a:solidFill>
              </a:rPr>
              <a:t>번</a:t>
            </a:r>
            <a:r>
              <a:rPr lang="en-US" altLang="ko-KR" sz="2400" b="1" dirty="0">
                <a:solidFill>
                  <a:schemeClr val="bg1"/>
                </a:solidFill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</a:rPr>
              <a:t>3. </a:t>
            </a:r>
            <a:r>
              <a:rPr lang="ko-KR" altLang="en-US" sz="2400" b="1" dirty="0">
                <a:solidFill>
                  <a:schemeClr val="bg1"/>
                </a:solidFill>
              </a:rPr>
              <a:t>교재 연습문제 </a:t>
            </a:r>
            <a:r>
              <a:rPr lang="en-US" altLang="ko-KR" sz="2400" b="1" dirty="0">
                <a:solidFill>
                  <a:schemeClr val="bg1"/>
                </a:solidFill>
              </a:rPr>
              <a:t>(2</a:t>
            </a:r>
            <a:r>
              <a:rPr lang="ko-KR" altLang="en-US" sz="2400" b="1" dirty="0">
                <a:solidFill>
                  <a:schemeClr val="bg1"/>
                </a:solidFill>
              </a:rPr>
              <a:t>장 연습 </a:t>
            </a:r>
            <a:r>
              <a:rPr lang="en-US" altLang="ko-KR" sz="2400" b="1" dirty="0">
                <a:solidFill>
                  <a:schemeClr val="bg1"/>
                </a:solidFill>
              </a:rPr>
              <a:t>5</a:t>
            </a:r>
            <a:r>
              <a:rPr lang="ko-KR" altLang="en-US" sz="2400" b="1" dirty="0">
                <a:solidFill>
                  <a:schemeClr val="bg1"/>
                </a:solidFill>
              </a:rPr>
              <a:t>번</a:t>
            </a:r>
            <a:r>
              <a:rPr lang="en-US" altLang="ko-KR" sz="2400" b="1" dirty="0">
                <a:solidFill>
                  <a:schemeClr val="bg1"/>
                </a:solidFill>
              </a:rPr>
              <a:t>)</a:t>
            </a:r>
            <a:endParaRPr lang="ko-KR" altLang="en-US" sz="2400" b="1" dirty="0">
              <a:solidFill>
                <a:schemeClr val="bg1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C1360CE-DC71-485A-821F-8B6A854AD3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0160" y="1183218"/>
            <a:ext cx="4484278" cy="273573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B17C8B8-081B-41A7-967C-353441BCCC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9594" y="3918953"/>
            <a:ext cx="4484844" cy="2657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670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880256" y="415772"/>
            <a:ext cx="720000" cy="720000"/>
          </a:xfrm>
          <a:prstGeom prst="rect">
            <a:avLst/>
          </a:prstGeom>
          <a:noFill/>
          <a:ln w="19050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>
              <a:defRPr/>
            </a:pPr>
            <a:r>
              <a:rPr lang="en-US" altLang="ko-KR" sz="2800" b="1" kern="0" dirty="0">
                <a:solidFill>
                  <a:srgbClr val="FFC000"/>
                </a:solidFill>
              </a:rPr>
              <a:t>01</a:t>
            </a:r>
            <a:endParaRPr lang="ko-KR" altLang="en-US" sz="2800" b="1" kern="0" dirty="0">
              <a:solidFill>
                <a:srgbClr val="FFC000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647824" y="370386"/>
            <a:ext cx="858812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>
              <a:defRPr/>
            </a:pPr>
            <a:r>
              <a:rPr lang="en-US" altLang="ko-KR" sz="3200" b="1" kern="0" dirty="0" err="1">
                <a:solidFill>
                  <a:srgbClr val="FFC000"/>
                </a:solidFill>
              </a:rPr>
              <a:t>My_ts</a:t>
            </a:r>
            <a:r>
              <a:rPr lang="en-US" altLang="ko-KR" sz="3200" b="1" kern="0" dirty="0">
                <a:solidFill>
                  <a:srgbClr val="FFC000"/>
                </a:solidFill>
              </a:rPr>
              <a:t> </a:t>
            </a:r>
            <a:r>
              <a:rPr lang="ko-KR" altLang="en-US" sz="3200" b="1" kern="0" dirty="0">
                <a:solidFill>
                  <a:srgbClr val="FFC000"/>
                </a:solidFill>
              </a:rPr>
              <a:t>함수 작성</a:t>
            </a:r>
            <a:endParaRPr lang="en-US" altLang="ko-KR" sz="3200" b="1" kern="0" dirty="0">
              <a:solidFill>
                <a:srgbClr val="FFC000"/>
              </a:solidFill>
            </a:endParaRPr>
          </a:p>
          <a:p>
            <a:pPr latinLnBrk="0">
              <a:defRPr/>
            </a:pPr>
            <a:r>
              <a:rPr lang="en-US" altLang="ko-KR" sz="800" kern="0" dirty="0">
                <a:solidFill>
                  <a:srgbClr val="FFC000"/>
                </a:solidFill>
              </a:rPr>
              <a:t>KOREA AERO SPACE UNIV.</a:t>
            </a:r>
            <a:endParaRPr lang="ko-KR" altLang="en-US" sz="4400" kern="0" dirty="0">
              <a:solidFill>
                <a:srgbClr val="FFC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CBEF8A-44C8-4A49-9B9B-1157D1858169}"/>
              </a:ext>
            </a:extLst>
          </p:cNvPr>
          <p:cNvSpPr txBox="1"/>
          <p:nvPr/>
        </p:nvSpPr>
        <p:spPr>
          <a:xfrm>
            <a:off x="522902" y="1452936"/>
            <a:ext cx="10731441" cy="4193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chemeClr val="bg1"/>
                </a:solidFill>
              </a:rPr>
              <a:t>1. 3</a:t>
            </a:r>
            <a:r>
              <a:rPr lang="ko-KR" altLang="en-US" b="1" dirty="0">
                <a:solidFill>
                  <a:schemeClr val="bg1"/>
                </a:solidFill>
              </a:rPr>
              <a:t>가지 예제 </a:t>
            </a:r>
            <a:r>
              <a:rPr lang="en-US" altLang="ko-KR" b="1" dirty="0">
                <a:solidFill>
                  <a:schemeClr val="bg1"/>
                </a:solidFill>
              </a:rPr>
              <a:t>: 10</a:t>
            </a:r>
            <a:r>
              <a:rPr lang="ko-KR" altLang="en-US" b="1" dirty="0">
                <a:solidFill>
                  <a:schemeClr val="bg1"/>
                </a:solidFill>
              </a:rPr>
              <a:t>년간 </a:t>
            </a:r>
            <a:r>
              <a:rPr lang="ko-KR" altLang="en-US" b="1" dirty="0" err="1">
                <a:solidFill>
                  <a:schemeClr val="bg1"/>
                </a:solidFill>
              </a:rPr>
              <a:t>누가바</a:t>
            </a:r>
            <a:r>
              <a:rPr lang="ko-KR" altLang="en-US" b="1" dirty="0">
                <a:solidFill>
                  <a:schemeClr val="bg1"/>
                </a:solidFill>
              </a:rPr>
              <a:t> 판매량</a:t>
            </a:r>
            <a:r>
              <a:rPr lang="en-US" altLang="ko-KR" b="1" dirty="0">
                <a:solidFill>
                  <a:schemeClr val="bg1"/>
                </a:solidFill>
              </a:rPr>
              <a:t>, 10</a:t>
            </a:r>
            <a:r>
              <a:rPr lang="ko-KR" altLang="en-US" b="1" dirty="0">
                <a:solidFill>
                  <a:schemeClr val="bg1"/>
                </a:solidFill>
              </a:rPr>
              <a:t>년간 </a:t>
            </a:r>
            <a:r>
              <a:rPr lang="en-US" altLang="ko-KR" b="1" dirty="0">
                <a:solidFill>
                  <a:schemeClr val="bg1"/>
                </a:solidFill>
              </a:rPr>
              <a:t>CGV </a:t>
            </a:r>
            <a:r>
              <a:rPr lang="ko-KR" altLang="en-US" b="1" dirty="0">
                <a:solidFill>
                  <a:schemeClr val="bg1"/>
                </a:solidFill>
              </a:rPr>
              <a:t>관람객수 </a:t>
            </a:r>
            <a:r>
              <a:rPr lang="en-US" altLang="ko-KR" b="1" dirty="0">
                <a:solidFill>
                  <a:schemeClr val="bg1"/>
                </a:solidFill>
              </a:rPr>
              <a:t>, 10</a:t>
            </a:r>
            <a:r>
              <a:rPr lang="ko-KR" altLang="en-US" b="1" dirty="0">
                <a:solidFill>
                  <a:schemeClr val="bg1"/>
                </a:solidFill>
              </a:rPr>
              <a:t>년간 포르쉐 판매량</a:t>
            </a:r>
          </a:p>
          <a:p>
            <a:pPr>
              <a:lnSpc>
                <a:spcPct val="150000"/>
              </a:lnSpc>
            </a:pPr>
            <a:endParaRPr lang="en-US" altLang="ko-KR" b="1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chemeClr val="bg1"/>
                </a:solidFill>
              </a:rPr>
              <a:t>2. </a:t>
            </a:r>
            <a:r>
              <a:rPr lang="ko-KR" altLang="en-US" b="1" dirty="0">
                <a:solidFill>
                  <a:schemeClr val="bg1"/>
                </a:solidFill>
              </a:rPr>
              <a:t>함수생성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chemeClr val="bg1"/>
                </a:solidFill>
              </a:rPr>
              <a:t>  length:</a:t>
            </a:r>
            <a:r>
              <a:rPr lang="ko-KR" altLang="en-US" b="1" dirty="0">
                <a:solidFill>
                  <a:schemeClr val="bg1"/>
                </a:solidFill>
              </a:rPr>
              <a:t>계열의 길이 </a:t>
            </a:r>
            <a:r>
              <a:rPr lang="en-US" altLang="ko-KR" b="1" dirty="0">
                <a:solidFill>
                  <a:schemeClr val="bg1"/>
                </a:solidFill>
              </a:rPr>
              <a:t>	level:</a:t>
            </a:r>
            <a:r>
              <a:rPr lang="ko-KR" altLang="en-US" b="1" dirty="0">
                <a:solidFill>
                  <a:schemeClr val="bg1"/>
                </a:solidFill>
              </a:rPr>
              <a:t>평균값 </a:t>
            </a:r>
            <a:r>
              <a:rPr lang="en-US" altLang="ko-KR" b="1" dirty="0">
                <a:solidFill>
                  <a:schemeClr val="bg1"/>
                </a:solidFill>
              </a:rPr>
              <a:t>	</a:t>
            </a:r>
            <a:r>
              <a:rPr lang="en-US" altLang="ko-KR" b="1" dirty="0" err="1">
                <a:solidFill>
                  <a:schemeClr val="bg1"/>
                </a:solidFill>
              </a:rPr>
              <a:t>inc</a:t>
            </a:r>
            <a:r>
              <a:rPr lang="en-US" altLang="ko-KR" b="1" dirty="0">
                <a:solidFill>
                  <a:schemeClr val="bg1"/>
                </a:solidFill>
              </a:rPr>
              <a:t>:   linear/log</a:t>
            </a:r>
            <a:r>
              <a:rPr lang="ko-KR" altLang="en-US" b="1" dirty="0">
                <a:solidFill>
                  <a:schemeClr val="bg1"/>
                </a:solidFill>
              </a:rPr>
              <a:t>구분  </a:t>
            </a:r>
            <a:r>
              <a:rPr lang="en-US" altLang="ko-KR" b="1" dirty="0">
                <a:solidFill>
                  <a:schemeClr val="bg1"/>
                </a:solidFill>
              </a:rPr>
              <a:t>	method:    </a:t>
            </a:r>
            <a:r>
              <a:rPr lang="ko-KR" altLang="en-US" b="1" dirty="0">
                <a:solidFill>
                  <a:schemeClr val="bg1"/>
                </a:solidFill>
              </a:rPr>
              <a:t>결합방법</a:t>
            </a:r>
            <a:endParaRPr lang="en-US" altLang="ko-KR" b="1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endParaRPr lang="en-US" altLang="ko-KR" b="1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endParaRPr lang="en-US" altLang="ko-KR" b="1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chemeClr val="bg1"/>
                </a:solidFill>
              </a:rPr>
              <a:t>3. 3</a:t>
            </a:r>
            <a:r>
              <a:rPr lang="ko-KR" altLang="en-US" b="1" dirty="0">
                <a:solidFill>
                  <a:schemeClr val="bg1"/>
                </a:solidFill>
              </a:rPr>
              <a:t>가지 사례에 대한 공통가정</a:t>
            </a:r>
            <a:r>
              <a:rPr lang="en-US" altLang="ko-KR" b="1" dirty="0">
                <a:solidFill>
                  <a:schemeClr val="bg1"/>
                </a:solidFill>
              </a:rPr>
              <a:t>- 1)2010~2020</a:t>
            </a:r>
            <a:r>
              <a:rPr lang="ko-KR" altLang="en-US" b="1" dirty="0">
                <a:solidFill>
                  <a:schemeClr val="bg1"/>
                </a:solidFill>
              </a:rPr>
              <a:t>년의 월별데이터</a:t>
            </a:r>
            <a:r>
              <a:rPr lang="en-US" altLang="ko-KR" b="1" dirty="0">
                <a:solidFill>
                  <a:schemeClr val="bg1"/>
                </a:solidFill>
              </a:rPr>
              <a:t>(</a:t>
            </a:r>
            <a:r>
              <a:rPr lang="en-US" altLang="ko-KR" b="1" dirty="0" err="1">
                <a:solidFill>
                  <a:schemeClr val="bg1"/>
                </a:solidFill>
              </a:rPr>
              <a:t>freq</a:t>
            </a:r>
            <a:r>
              <a:rPr lang="en-US" altLang="ko-KR" b="1" dirty="0">
                <a:solidFill>
                  <a:schemeClr val="bg1"/>
                </a:solidFill>
              </a:rPr>
              <a:t>=12)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chemeClr val="bg1"/>
                </a:solidFill>
              </a:rPr>
              <a:t>                            	        2)length=120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chemeClr val="bg1"/>
                </a:solidFill>
              </a:rPr>
              <a:t>                                          3)</a:t>
            </a:r>
            <a:r>
              <a:rPr lang="en-US" altLang="ko-KR" b="1" dirty="0" err="1">
                <a:solidFill>
                  <a:schemeClr val="bg1"/>
                </a:solidFill>
              </a:rPr>
              <a:t>sesonality</a:t>
            </a:r>
            <a:r>
              <a:rPr lang="ko-KR" altLang="en-US" b="1" dirty="0">
                <a:solidFill>
                  <a:schemeClr val="bg1"/>
                </a:solidFill>
              </a:rPr>
              <a:t>는 </a:t>
            </a:r>
            <a:r>
              <a:rPr lang="en-US" altLang="ko-KR" b="1" dirty="0">
                <a:solidFill>
                  <a:schemeClr val="bg1"/>
                </a:solidFill>
              </a:rPr>
              <a:t>sin</a:t>
            </a:r>
            <a:r>
              <a:rPr lang="ko-KR" altLang="en-US" b="1" dirty="0">
                <a:solidFill>
                  <a:schemeClr val="bg1"/>
                </a:solidFill>
              </a:rPr>
              <a:t>함수로 가정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chemeClr val="bg1"/>
                </a:solidFill>
              </a:rPr>
              <a:t>                                          4)impact</a:t>
            </a:r>
            <a:r>
              <a:rPr lang="ko-KR" altLang="en-US" b="1" dirty="0">
                <a:solidFill>
                  <a:schemeClr val="bg1"/>
                </a:solidFill>
              </a:rPr>
              <a:t>는 </a:t>
            </a:r>
            <a:r>
              <a:rPr lang="en-US" altLang="ko-KR" b="1" dirty="0">
                <a:solidFill>
                  <a:schemeClr val="bg1"/>
                </a:solidFill>
              </a:rPr>
              <a:t>2018</a:t>
            </a:r>
            <a:r>
              <a:rPr lang="ko-KR" altLang="en-US" b="1" dirty="0">
                <a:solidFill>
                  <a:schemeClr val="bg1"/>
                </a:solidFill>
              </a:rPr>
              <a:t>년 </a:t>
            </a:r>
            <a:r>
              <a:rPr lang="en-US" altLang="ko-KR" b="1" dirty="0">
                <a:solidFill>
                  <a:schemeClr val="bg1"/>
                </a:solidFill>
              </a:rPr>
              <a:t>1</a:t>
            </a:r>
            <a:r>
              <a:rPr lang="ko-KR" altLang="en-US" b="1" dirty="0">
                <a:solidFill>
                  <a:schemeClr val="bg1"/>
                </a:solidFill>
              </a:rPr>
              <a:t>월에 발생 </a:t>
            </a:r>
            <a:endParaRPr lang="en-US" altLang="ko-KR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78116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880256" y="415772"/>
            <a:ext cx="720000" cy="720000"/>
          </a:xfrm>
          <a:prstGeom prst="rect">
            <a:avLst/>
          </a:prstGeom>
          <a:noFill/>
          <a:ln w="19050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01</a:t>
            </a:r>
            <a:endParaRPr kumimoji="0" lang="ko-KR" altLang="en-US" sz="28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647824" y="370386"/>
            <a:ext cx="858812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My_ts</a:t>
            </a:r>
            <a:r>
              <a:rPr kumimoji="0" lang="en-US" altLang="ko-KR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함수 코드 분석</a:t>
            </a:r>
            <a:endParaRPr kumimoji="0" lang="en-US" altLang="ko-KR" sz="32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KOREA AERO SPACE UNIV.</a:t>
            </a:r>
            <a:endParaRPr kumimoji="0" lang="ko-KR" altLang="en-US" sz="4400" b="0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A618B90-234D-4225-B4FF-E1BCF61F3D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225" y="1332111"/>
            <a:ext cx="7214774" cy="4638865"/>
          </a:xfrm>
          <a:prstGeom prst="rect">
            <a:avLst/>
          </a:prstGeom>
        </p:spPr>
      </p:pic>
      <p:graphicFrame>
        <p:nvGraphicFramePr>
          <p:cNvPr id="12" name="표 4">
            <a:extLst>
              <a:ext uri="{FF2B5EF4-FFF2-40B4-BE49-F238E27FC236}">
                <a16:creationId xmlns:a16="http://schemas.microsoft.com/office/drawing/2014/main" id="{B2046163-2723-42B2-AF23-1A3C9351D2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8083740"/>
              </p:ext>
            </p:extLst>
          </p:nvPr>
        </p:nvGraphicFramePr>
        <p:xfrm>
          <a:off x="6161753" y="1766656"/>
          <a:ext cx="5734974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34974">
                  <a:extLst>
                    <a:ext uri="{9D8B030D-6E8A-4147-A177-3AD203B41FA5}">
                      <a16:colId xmlns:a16="http://schemas.microsoft.com/office/drawing/2014/main" val="100818911"/>
                    </a:ext>
                  </a:extLst>
                </a:gridCol>
              </a:tblGrid>
              <a:tr h="36398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dirty="0"/>
                        <a:t>코드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1558499"/>
                  </a:ext>
                </a:extLst>
              </a:tr>
              <a:tr h="1308598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dirty="0"/>
                        <a:t>Level</a:t>
                      </a:r>
                      <a:r>
                        <a:rPr lang="ko-KR" altLang="en-US" dirty="0"/>
                        <a:t>은 평균값을 나타내고 파라미터로 평균 값을 설정할 수 있습니다</a:t>
                      </a:r>
                      <a:r>
                        <a:rPr lang="en-US" altLang="ko-KR" dirty="0"/>
                        <a:t>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dirty="0"/>
                        <a:t>Inc</a:t>
                      </a:r>
                      <a:r>
                        <a:rPr lang="ko-KR" altLang="en-US" dirty="0"/>
                        <a:t>는 </a:t>
                      </a:r>
                      <a:r>
                        <a:rPr lang="en-US" altLang="ko-KR" dirty="0"/>
                        <a:t>linear</a:t>
                      </a:r>
                      <a:r>
                        <a:rPr lang="ko-KR" altLang="en-US" dirty="0"/>
                        <a:t>과 </a:t>
                      </a:r>
                      <a:r>
                        <a:rPr lang="en-US" altLang="ko-KR" dirty="0"/>
                        <a:t>log</a:t>
                      </a:r>
                      <a:r>
                        <a:rPr lang="ko-KR" altLang="en-US" dirty="0"/>
                        <a:t>를 구분하기 위한 파라미터로    </a:t>
                      </a:r>
                      <a:r>
                        <a:rPr lang="en-US" altLang="ko-KR" dirty="0" err="1"/>
                        <a:t>inc</a:t>
                      </a:r>
                      <a:r>
                        <a:rPr lang="ko-KR" altLang="en-US" dirty="0"/>
                        <a:t>가 </a:t>
                      </a:r>
                      <a:r>
                        <a:rPr lang="en-US" altLang="ko-KR" dirty="0"/>
                        <a:t>0</a:t>
                      </a:r>
                      <a:r>
                        <a:rPr lang="ko-KR" altLang="en-US" dirty="0"/>
                        <a:t>이면 </a:t>
                      </a:r>
                      <a:r>
                        <a:rPr lang="en-US" altLang="ko-KR" dirty="0"/>
                        <a:t>log, </a:t>
                      </a:r>
                      <a:r>
                        <a:rPr lang="en-US" altLang="ko-KR" dirty="0" err="1"/>
                        <a:t>inc</a:t>
                      </a:r>
                      <a:r>
                        <a:rPr lang="ko-KR" altLang="en-US" dirty="0"/>
                        <a:t>가 </a:t>
                      </a:r>
                      <a:r>
                        <a:rPr lang="en-US" altLang="ko-KR" dirty="0"/>
                        <a:t>0</a:t>
                      </a:r>
                      <a:r>
                        <a:rPr lang="ko-KR" altLang="en-US" dirty="0"/>
                        <a:t>이 아니면 </a:t>
                      </a:r>
                      <a:r>
                        <a:rPr lang="en-US" altLang="ko-KR" dirty="0"/>
                        <a:t>linear</a:t>
                      </a:r>
                      <a:r>
                        <a:rPr lang="ko-KR" altLang="en-US" dirty="0"/>
                        <a:t>를 사용하게 하여 기울기 값을 받아서 함수를 설정할 수 있습니다</a:t>
                      </a:r>
                      <a:r>
                        <a:rPr lang="en-US" altLang="ko-KR" dirty="0"/>
                        <a:t>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dirty="0"/>
                        <a:t>Method(</a:t>
                      </a:r>
                      <a:r>
                        <a:rPr lang="ko-KR" altLang="en-US" dirty="0"/>
                        <a:t>결합방법</a:t>
                      </a:r>
                      <a:r>
                        <a:rPr lang="en-US" altLang="ko-KR" dirty="0"/>
                        <a:t>)</a:t>
                      </a:r>
                      <a:r>
                        <a:rPr lang="ko-KR" altLang="en-US" dirty="0"/>
                        <a:t>의 경우는 </a:t>
                      </a:r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이면 </a:t>
                      </a:r>
                      <a:r>
                        <a:rPr lang="en-US" altLang="ko-KR" dirty="0"/>
                        <a:t>Additive </a:t>
                      </a:r>
                      <a:r>
                        <a:rPr lang="ko-KR" altLang="en-US" dirty="0"/>
                        <a:t>결합</a:t>
                      </a:r>
                      <a:r>
                        <a:rPr lang="en-US" altLang="ko-KR" dirty="0"/>
                        <a:t>,    1</a:t>
                      </a:r>
                      <a:r>
                        <a:rPr lang="ko-KR" altLang="en-US" dirty="0"/>
                        <a:t>이 아니면 </a:t>
                      </a:r>
                      <a:r>
                        <a:rPr lang="en-US" altLang="ko-KR" dirty="0"/>
                        <a:t>Multiplicative </a:t>
                      </a:r>
                      <a:r>
                        <a:rPr lang="ko-KR" altLang="en-US" dirty="0"/>
                        <a:t>결합을 사용할 수 있게 설정하였습니다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35442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6513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683601" y="393719"/>
            <a:ext cx="720000" cy="720000"/>
          </a:xfrm>
          <a:prstGeom prst="rect">
            <a:avLst/>
          </a:prstGeom>
          <a:noFill/>
          <a:ln w="19050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>
              <a:defRPr/>
            </a:pPr>
            <a:r>
              <a:rPr lang="en-US" altLang="ko-KR" sz="2800" b="1" kern="0" dirty="0">
                <a:solidFill>
                  <a:srgbClr val="FFC000"/>
                </a:solidFill>
              </a:rPr>
              <a:t>01</a:t>
            </a:r>
            <a:endParaRPr lang="ko-KR" altLang="en-US" sz="2800" b="1" kern="0" dirty="0">
              <a:solidFill>
                <a:srgbClr val="FFC000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647824" y="370386"/>
            <a:ext cx="605711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>
              <a:defRPr/>
            </a:pPr>
            <a:r>
              <a:rPr lang="en-US" altLang="ko-KR" sz="3200" b="1" kern="0" dirty="0">
                <a:solidFill>
                  <a:srgbClr val="FFC000"/>
                </a:solidFill>
              </a:rPr>
              <a:t>10</a:t>
            </a:r>
            <a:r>
              <a:rPr lang="ko-KR" altLang="en-US" sz="3200" b="1" kern="0" dirty="0">
                <a:solidFill>
                  <a:srgbClr val="FFC000"/>
                </a:solidFill>
              </a:rPr>
              <a:t>년간 </a:t>
            </a:r>
            <a:r>
              <a:rPr lang="ko-KR" altLang="en-US" sz="3200" b="1" kern="0" dirty="0" err="1">
                <a:solidFill>
                  <a:srgbClr val="FFC000"/>
                </a:solidFill>
              </a:rPr>
              <a:t>누가바</a:t>
            </a:r>
            <a:r>
              <a:rPr lang="ko-KR" altLang="en-US" sz="3200" b="1" kern="0" dirty="0">
                <a:solidFill>
                  <a:srgbClr val="FFC000"/>
                </a:solidFill>
              </a:rPr>
              <a:t> 판매량</a:t>
            </a:r>
            <a:endParaRPr lang="en-US" altLang="ko-KR" sz="3200" b="1" kern="0" dirty="0">
              <a:solidFill>
                <a:srgbClr val="FFC000"/>
              </a:solidFill>
            </a:endParaRPr>
          </a:p>
          <a:p>
            <a:pPr latinLnBrk="0">
              <a:defRPr/>
            </a:pPr>
            <a:r>
              <a:rPr lang="en-US" altLang="ko-KR" sz="800" kern="0" dirty="0">
                <a:solidFill>
                  <a:srgbClr val="FFC000"/>
                </a:solidFill>
              </a:rPr>
              <a:t>KOREA AERO SPACE UNIV.</a:t>
            </a:r>
            <a:endParaRPr lang="ko-KR" altLang="en-US" sz="4400" kern="0" dirty="0">
              <a:solidFill>
                <a:srgbClr val="FFC000"/>
              </a:solidFill>
            </a:endParaRPr>
          </a:p>
        </p:txBody>
      </p:sp>
      <p:sp>
        <p:nvSpPr>
          <p:cNvPr id="5" name="부제목 15">
            <a:extLst>
              <a:ext uri="{FF2B5EF4-FFF2-40B4-BE49-F238E27FC236}">
                <a16:creationId xmlns:a16="http://schemas.microsoft.com/office/drawing/2014/main" id="{7489FA4E-0600-4A5E-9F37-2B5EC8C47D34}"/>
              </a:ext>
            </a:extLst>
          </p:cNvPr>
          <p:cNvSpPr txBox="1">
            <a:spLocks/>
          </p:cNvSpPr>
          <p:nvPr/>
        </p:nvSpPr>
        <p:spPr>
          <a:xfrm>
            <a:off x="7649413" y="1312875"/>
            <a:ext cx="1979139" cy="33957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b="1" dirty="0" err="1">
                <a:solidFill>
                  <a:schemeClr val="bg1"/>
                </a:solidFill>
              </a:rPr>
              <a:t>리턴값</a:t>
            </a:r>
            <a:r>
              <a:rPr lang="en-US" altLang="ko-KR" b="1" dirty="0">
                <a:solidFill>
                  <a:schemeClr val="bg1"/>
                </a:solidFill>
              </a:rPr>
              <a:t>(</a:t>
            </a:r>
            <a:r>
              <a:rPr lang="ko-KR" altLang="en-US" b="1" dirty="0">
                <a:solidFill>
                  <a:schemeClr val="bg1"/>
                </a:solidFill>
              </a:rPr>
              <a:t>리스트</a:t>
            </a:r>
            <a:r>
              <a:rPr lang="en-US" altLang="ko-KR" b="1" dirty="0">
                <a:solidFill>
                  <a:schemeClr val="bg1"/>
                </a:solidFill>
              </a:rPr>
              <a:t>)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13" name="부제목 15">
            <a:extLst>
              <a:ext uri="{FF2B5EF4-FFF2-40B4-BE49-F238E27FC236}">
                <a16:creationId xmlns:a16="http://schemas.microsoft.com/office/drawing/2014/main" id="{DFA83A8E-F821-4E92-B2CC-B0F9F67AD31E}"/>
              </a:ext>
            </a:extLst>
          </p:cNvPr>
          <p:cNvSpPr txBox="1">
            <a:spLocks/>
          </p:cNvSpPr>
          <p:nvPr/>
        </p:nvSpPr>
        <p:spPr>
          <a:xfrm>
            <a:off x="2042623" y="1210305"/>
            <a:ext cx="1041647" cy="33957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b="1" dirty="0">
                <a:solidFill>
                  <a:schemeClr val="bg1"/>
                </a:solidFill>
              </a:rPr>
              <a:t>그래프</a:t>
            </a:r>
          </a:p>
        </p:txBody>
      </p:sp>
      <p:graphicFrame>
        <p:nvGraphicFramePr>
          <p:cNvPr id="15" name="표 4">
            <a:extLst>
              <a:ext uri="{FF2B5EF4-FFF2-40B4-BE49-F238E27FC236}">
                <a16:creationId xmlns:a16="http://schemas.microsoft.com/office/drawing/2014/main" id="{9DCB3B04-C240-49B2-9457-8125D64E0B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6081217"/>
              </p:ext>
            </p:extLst>
          </p:nvPr>
        </p:nvGraphicFramePr>
        <p:xfrm>
          <a:off x="5572218" y="4453352"/>
          <a:ext cx="5734974" cy="18320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34974">
                  <a:extLst>
                    <a:ext uri="{9D8B030D-6E8A-4147-A177-3AD203B41FA5}">
                      <a16:colId xmlns:a16="http://schemas.microsoft.com/office/drawing/2014/main" val="100818911"/>
                    </a:ext>
                  </a:extLst>
                </a:gridCol>
              </a:tblGrid>
              <a:tr h="52343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dirty="0"/>
                        <a:t>결과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1558499"/>
                  </a:ext>
                </a:extLst>
              </a:tr>
              <a:tr h="1308598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누가바의 판매량의 그래프를 비교해보면 특이하게 </a:t>
                      </a:r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월부터 판매량이 증가하고 </a:t>
                      </a:r>
                      <a:r>
                        <a:rPr lang="en-US" altLang="ko-KR" dirty="0"/>
                        <a:t>7</a:t>
                      </a:r>
                      <a:r>
                        <a:rPr lang="ko-KR" altLang="en-US" dirty="0"/>
                        <a:t>월이후로 감소하는 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주기</a:t>
                      </a:r>
                      <a:r>
                        <a:rPr lang="en-US" altLang="ko-KR" dirty="0"/>
                        <a:t>,</a:t>
                      </a:r>
                      <a:r>
                        <a:rPr lang="ko-KR" altLang="en-US" dirty="0"/>
                        <a:t>패턴이 발견되고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전체적인 추세는 큰 변화가 없습니다</a:t>
                      </a:r>
                      <a:r>
                        <a:rPr lang="en-US" altLang="ko-KR" dirty="0"/>
                        <a:t>.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>
                          <a:sym typeface="Wingdings" panose="05000000000000000000" pitchFamily="2" charset="2"/>
                        </a:rPr>
                        <a:t> </a:t>
                      </a:r>
                      <a:r>
                        <a:rPr lang="ko-KR" altLang="en-US" dirty="0">
                          <a:sym typeface="Wingdings" panose="05000000000000000000" pitchFamily="2" charset="2"/>
                        </a:rPr>
                        <a:t>정상시계열 입니다</a:t>
                      </a:r>
                      <a:r>
                        <a:rPr lang="en-US" altLang="ko-KR" dirty="0">
                          <a:sym typeface="Wingdings" panose="05000000000000000000" pitchFamily="2" charset="2"/>
                        </a:rPr>
                        <a:t>.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3544236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3AF8A328-28A7-497D-A5C7-CB3A34B7AB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24" y="1558665"/>
            <a:ext cx="4907247" cy="334957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7919C31-C03F-4BFD-82C9-03F9FD41B6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7926" y="1947936"/>
            <a:ext cx="7034074" cy="2168957"/>
          </a:xfrm>
          <a:prstGeom prst="rect">
            <a:avLst/>
          </a:prstGeom>
        </p:spPr>
      </p:pic>
      <p:graphicFrame>
        <p:nvGraphicFramePr>
          <p:cNvPr id="7" name="표 8">
            <a:extLst>
              <a:ext uri="{FF2B5EF4-FFF2-40B4-BE49-F238E27FC236}">
                <a16:creationId xmlns:a16="http://schemas.microsoft.com/office/drawing/2014/main" id="{17DE90D6-51AB-45FF-B619-4788A9F4B3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4274384"/>
              </p:ext>
            </p:extLst>
          </p:nvPr>
        </p:nvGraphicFramePr>
        <p:xfrm>
          <a:off x="683601" y="4933643"/>
          <a:ext cx="351432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7163">
                  <a:extLst>
                    <a:ext uri="{9D8B030D-6E8A-4147-A177-3AD203B41FA5}">
                      <a16:colId xmlns:a16="http://schemas.microsoft.com/office/drawing/2014/main" val="4007130793"/>
                    </a:ext>
                  </a:extLst>
                </a:gridCol>
                <a:gridCol w="1757163">
                  <a:extLst>
                    <a:ext uri="{9D8B030D-6E8A-4147-A177-3AD203B41FA5}">
                      <a16:colId xmlns:a16="http://schemas.microsoft.com/office/drawing/2014/main" val="2675984867"/>
                    </a:ext>
                  </a:extLst>
                </a:gridCol>
              </a:tblGrid>
              <a:tr h="31339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340236"/>
                  </a:ext>
                </a:extLst>
              </a:tr>
              <a:tr h="31339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Length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120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9523755"/>
                  </a:ext>
                </a:extLst>
              </a:tr>
              <a:tr h="31339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Level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50000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30049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Trend </a:t>
                      </a:r>
                      <a:r>
                        <a:rPr lang="ko-KR" altLang="en-US" dirty="0"/>
                        <a:t>요소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Log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843887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결합방법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Add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78916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7124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683601" y="393719"/>
            <a:ext cx="720000" cy="720000"/>
          </a:xfrm>
          <a:prstGeom prst="rect">
            <a:avLst/>
          </a:prstGeom>
          <a:noFill/>
          <a:ln w="19050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01</a:t>
            </a:r>
            <a:endParaRPr kumimoji="0" lang="ko-KR" altLang="en-US" sz="28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647824" y="370386"/>
            <a:ext cx="605711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10</a:t>
            </a:r>
            <a:r>
              <a:rPr kumimoji="0" lang="ko-KR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년간 </a:t>
            </a:r>
            <a:r>
              <a:rPr kumimoji="0" lang="en-US" altLang="ko-KR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CGV </a:t>
            </a:r>
            <a:r>
              <a:rPr kumimoji="0" lang="ko-KR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관람객 수</a:t>
            </a:r>
            <a:endParaRPr kumimoji="0" lang="en-US" altLang="ko-KR" sz="32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KOREA AERO SPACE UNIV.</a:t>
            </a:r>
            <a:endParaRPr kumimoji="0" lang="ko-KR" altLang="en-US" sz="4400" b="0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부제목 15">
            <a:extLst>
              <a:ext uri="{FF2B5EF4-FFF2-40B4-BE49-F238E27FC236}">
                <a16:creationId xmlns:a16="http://schemas.microsoft.com/office/drawing/2014/main" id="{7489FA4E-0600-4A5E-9F37-2B5EC8C47D34}"/>
              </a:ext>
            </a:extLst>
          </p:cNvPr>
          <p:cNvSpPr txBox="1">
            <a:spLocks/>
          </p:cNvSpPr>
          <p:nvPr/>
        </p:nvSpPr>
        <p:spPr>
          <a:xfrm>
            <a:off x="7704943" y="1180108"/>
            <a:ext cx="1722561" cy="339571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b="1" dirty="0" err="1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리턴값</a:t>
            </a:r>
            <a:r>
              <a:rPr lang="en-US" altLang="ko-KR" b="1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(</a:t>
            </a:r>
            <a:r>
              <a:rPr lang="ko-KR" altLang="en-US" b="1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리스트</a:t>
            </a:r>
            <a:r>
              <a:rPr lang="en-US" altLang="ko-KR" b="1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)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부제목 15">
            <a:extLst>
              <a:ext uri="{FF2B5EF4-FFF2-40B4-BE49-F238E27FC236}">
                <a16:creationId xmlns:a16="http://schemas.microsoft.com/office/drawing/2014/main" id="{DFA83A8E-F821-4E92-B2CC-B0F9F67AD31E}"/>
              </a:ext>
            </a:extLst>
          </p:cNvPr>
          <p:cNvSpPr txBox="1">
            <a:spLocks/>
          </p:cNvSpPr>
          <p:nvPr/>
        </p:nvSpPr>
        <p:spPr>
          <a:xfrm>
            <a:off x="1919940" y="1243889"/>
            <a:ext cx="1041647" cy="33957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그래프</a:t>
            </a:r>
          </a:p>
        </p:txBody>
      </p:sp>
      <p:graphicFrame>
        <p:nvGraphicFramePr>
          <p:cNvPr id="15" name="표 4">
            <a:extLst>
              <a:ext uri="{FF2B5EF4-FFF2-40B4-BE49-F238E27FC236}">
                <a16:creationId xmlns:a16="http://schemas.microsoft.com/office/drawing/2014/main" id="{9DCB3B04-C240-49B2-9457-8125D64E0B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0745736"/>
              </p:ext>
            </p:extLst>
          </p:nvPr>
        </p:nvGraphicFramePr>
        <p:xfrm>
          <a:off x="5906901" y="4475648"/>
          <a:ext cx="5734974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34974">
                  <a:extLst>
                    <a:ext uri="{9D8B030D-6E8A-4147-A177-3AD203B41FA5}">
                      <a16:colId xmlns:a16="http://schemas.microsoft.com/office/drawing/2014/main" val="100818911"/>
                    </a:ext>
                  </a:extLst>
                </a:gridCol>
              </a:tblGrid>
              <a:tr h="26318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dirty="0"/>
                        <a:t>결과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1558499"/>
                  </a:ext>
                </a:extLst>
              </a:tr>
              <a:tr h="624586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dirty="0"/>
                        <a:t>CGV</a:t>
                      </a:r>
                      <a:r>
                        <a:rPr lang="ko-KR" altLang="en-US" dirty="0"/>
                        <a:t> 관람객 수의 그래프를 비교해보면 봄여름에는  판매량이 증가하고 가을이후로 감소하는 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주기</a:t>
                      </a:r>
                      <a:r>
                        <a:rPr lang="en-US" altLang="ko-KR" dirty="0"/>
                        <a:t>,</a:t>
                      </a:r>
                      <a:r>
                        <a:rPr lang="ko-KR" altLang="en-US" dirty="0"/>
                        <a:t>패턴이 발견되고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전체적인 추세는 감소하는 형태입니다</a:t>
                      </a:r>
                      <a:r>
                        <a:rPr lang="en-US" altLang="ko-KR" dirty="0"/>
                        <a:t>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dirty="0"/>
                        <a:t>2017</a:t>
                      </a:r>
                      <a:r>
                        <a:rPr lang="ko-KR" altLang="en-US" dirty="0"/>
                        <a:t>년 </a:t>
                      </a:r>
                      <a:r>
                        <a:rPr lang="en-US" altLang="ko-KR" dirty="0"/>
                        <a:t>12</a:t>
                      </a:r>
                      <a:r>
                        <a:rPr lang="ko-KR" altLang="en-US" dirty="0" err="1"/>
                        <a:t>월달에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noise</a:t>
                      </a:r>
                      <a:r>
                        <a:rPr lang="ko-KR" altLang="en-US" dirty="0"/>
                        <a:t>가 있습니다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3544236"/>
                  </a:ext>
                </a:extLst>
              </a:tr>
            </a:tbl>
          </a:graphicData>
        </a:graphic>
      </p:graphicFrame>
      <p:pic>
        <p:nvPicPr>
          <p:cNvPr id="4" name="그림 3">
            <a:extLst>
              <a:ext uri="{FF2B5EF4-FFF2-40B4-BE49-F238E27FC236}">
                <a16:creationId xmlns:a16="http://schemas.microsoft.com/office/drawing/2014/main" id="{864D3B0F-DBFC-45CF-9FD0-4CDE063447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86" y="1644307"/>
            <a:ext cx="5098899" cy="296320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494E087-742B-4F61-9902-27FCF837F3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6776" y="1749078"/>
            <a:ext cx="6835224" cy="2219240"/>
          </a:xfrm>
          <a:prstGeom prst="rect">
            <a:avLst/>
          </a:prstGeom>
        </p:spPr>
      </p:pic>
      <p:graphicFrame>
        <p:nvGraphicFramePr>
          <p:cNvPr id="12" name="표 8">
            <a:extLst>
              <a:ext uri="{FF2B5EF4-FFF2-40B4-BE49-F238E27FC236}">
                <a16:creationId xmlns:a16="http://schemas.microsoft.com/office/drawing/2014/main" id="{567631A6-D86D-485A-9457-1EA0615653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4419457"/>
              </p:ext>
            </p:extLst>
          </p:nvPr>
        </p:nvGraphicFramePr>
        <p:xfrm>
          <a:off x="683601" y="4834602"/>
          <a:ext cx="351432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7163">
                  <a:extLst>
                    <a:ext uri="{9D8B030D-6E8A-4147-A177-3AD203B41FA5}">
                      <a16:colId xmlns:a16="http://schemas.microsoft.com/office/drawing/2014/main" val="4007130793"/>
                    </a:ext>
                  </a:extLst>
                </a:gridCol>
                <a:gridCol w="1757163">
                  <a:extLst>
                    <a:ext uri="{9D8B030D-6E8A-4147-A177-3AD203B41FA5}">
                      <a16:colId xmlns:a16="http://schemas.microsoft.com/office/drawing/2014/main" val="2675984867"/>
                    </a:ext>
                  </a:extLst>
                </a:gridCol>
              </a:tblGrid>
              <a:tr h="31339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340236"/>
                  </a:ext>
                </a:extLst>
              </a:tr>
              <a:tr h="31339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Length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120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9523755"/>
                  </a:ext>
                </a:extLst>
              </a:tr>
              <a:tr h="31339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Level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2000000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30049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Trend </a:t>
                      </a:r>
                      <a:r>
                        <a:rPr lang="ko-KR" altLang="en-US" dirty="0"/>
                        <a:t>요소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Linear(-1)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843887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결합방법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Add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78916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5619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683601" y="393719"/>
            <a:ext cx="720000" cy="720000"/>
          </a:xfrm>
          <a:prstGeom prst="rect">
            <a:avLst/>
          </a:prstGeom>
          <a:noFill/>
          <a:ln w="19050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01</a:t>
            </a:r>
            <a:endParaRPr kumimoji="0" lang="ko-KR" altLang="en-US" sz="28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647824" y="370386"/>
            <a:ext cx="605711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10</a:t>
            </a:r>
            <a:r>
              <a:rPr kumimoji="0" lang="ko-KR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년간 포르쉐 판매량</a:t>
            </a:r>
            <a:r>
              <a:rPr kumimoji="0" lang="en-US" altLang="ko-KR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(Add)</a:t>
            </a:r>
            <a:r>
              <a:rPr kumimoji="0" lang="ko-KR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endParaRPr kumimoji="0" lang="en-US" altLang="ko-KR" sz="32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KOREA AERO SPACE UNIV.</a:t>
            </a:r>
            <a:endParaRPr kumimoji="0" lang="ko-KR" altLang="en-US" sz="4400" b="0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부제목 15">
            <a:extLst>
              <a:ext uri="{FF2B5EF4-FFF2-40B4-BE49-F238E27FC236}">
                <a16:creationId xmlns:a16="http://schemas.microsoft.com/office/drawing/2014/main" id="{7489FA4E-0600-4A5E-9F37-2B5EC8C47D34}"/>
              </a:ext>
            </a:extLst>
          </p:cNvPr>
          <p:cNvSpPr txBox="1">
            <a:spLocks/>
          </p:cNvSpPr>
          <p:nvPr/>
        </p:nvSpPr>
        <p:spPr>
          <a:xfrm>
            <a:off x="8069802" y="1224589"/>
            <a:ext cx="1793289" cy="458821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b="1" dirty="0" err="1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리턴값</a:t>
            </a:r>
            <a:r>
              <a:rPr lang="en-US" altLang="ko-KR" b="1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(</a:t>
            </a:r>
            <a:r>
              <a:rPr lang="ko-KR" altLang="en-US" b="1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리스트</a:t>
            </a:r>
            <a:r>
              <a:rPr lang="en-US" altLang="ko-KR" b="1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)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부제목 15">
            <a:extLst>
              <a:ext uri="{FF2B5EF4-FFF2-40B4-BE49-F238E27FC236}">
                <a16:creationId xmlns:a16="http://schemas.microsoft.com/office/drawing/2014/main" id="{DFA83A8E-F821-4E92-B2CC-B0F9F67AD31E}"/>
              </a:ext>
            </a:extLst>
          </p:cNvPr>
          <p:cNvSpPr txBox="1">
            <a:spLocks/>
          </p:cNvSpPr>
          <p:nvPr/>
        </p:nvSpPr>
        <p:spPr>
          <a:xfrm>
            <a:off x="2176507" y="1226782"/>
            <a:ext cx="1041647" cy="33957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그래프</a:t>
            </a:r>
          </a:p>
        </p:txBody>
      </p:sp>
      <p:graphicFrame>
        <p:nvGraphicFramePr>
          <p:cNvPr id="15" name="표 4">
            <a:extLst>
              <a:ext uri="{FF2B5EF4-FFF2-40B4-BE49-F238E27FC236}">
                <a16:creationId xmlns:a16="http://schemas.microsoft.com/office/drawing/2014/main" id="{9DCB3B04-C240-49B2-9457-8125D64E0B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2403854"/>
              </p:ext>
            </p:extLst>
          </p:nvPr>
        </p:nvGraphicFramePr>
        <p:xfrm>
          <a:off x="5773425" y="4933643"/>
          <a:ext cx="5734974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34974">
                  <a:extLst>
                    <a:ext uri="{9D8B030D-6E8A-4147-A177-3AD203B41FA5}">
                      <a16:colId xmlns:a16="http://schemas.microsoft.com/office/drawing/2014/main" val="100818911"/>
                    </a:ext>
                  </a:extLst>
                </a:gridCol>
              </a:tblGrid>
              <a:tr h="26318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dirty="0"/>
                        <a:t>결과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1558499"/>
                  </a:ext>
                </a:extLst>
              </a:tr>
              <a:tr h="624586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포르쉐의 판매량의 그래프를 보면 추세가 상승하는 형태이고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계절적인 특성으로는 부족하지만 대체로 겨울에 증가하는 패턴이 나옵니다</a:t>
                      </a:r>
                      <a:r>
                        <a:rPr lang="en-US" altLang="ko-KR" dirty="0"/>
                        <a:t>.</a:t>
                      </a:r>
                      <a:r>
                        <a:rPr lang="ko-KR" altLang="en-US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3544236"/>
                  </a:ext>
                </a:extLst>
              </a:tr>
            </a:tbl>
          </a:graphicData>
        </a:graphic>
      </p:graphicFrame>
      <p:graphicFrame>
        <p:nvGraphicFramePr>
          <p:cNvPr id="17" name="표 8">
            <a:extLst>
              <a:ext uri="{FF2B5EF4-FFF2-40B4-BE49-F238E27FC236}">
                <a16:creationId xmlns:a16="http://schemas.microsoft.com/office/drawing/2014/main" id="{12B9745A-FEFD-400E-B7E3-3FDCCE521D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0136631"/>
              </p:ext>
            </p:extLst>
          </p:nvPr>
        </p:nvGraphicFramePr>
        <p:xfrm>
          <a:off x="683601" y="4818233"/>
          <a:ext cx="351432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7163">
                  <a:extLst>
                    <a:ext uri="{9D8B030D-6E8A-4147-A177-3AD203B41FA5}">
                      <a16:colId xmlns:a16="http://schemas.microsoft.com/office/drawing/2014/main" val="4007130793"/>
                    </a:ext>
                  </a:extLst>
                </a:gridCol>
                <a:gridCol w="1757163">
                  <a:extLst>
                    <a:ext uri="{9D8B030D-6E8A-4147-A177-3AD203B41FA5}">
                      <a16:colId xmlns:a16="http://schemas.microsoft.com/office/drawing/2014/main" val="2675984867"/>
                    </a:ext>
                  </a:extLst>
                </a:gridCol>
              </a:tblGrid>
              <a:tr h="31339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340236"/>
                  </a:ext>
                </a:extLst>
              </a:tr>
              <a:tr h="31339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Length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120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9523755"/>
                  </a:ext>
                </a:extLst>
              </a:tr>
              <a:tr h="31339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Level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90000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30049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Trend </a:t>
                      </a:r>
                      <a:r>
                        <a:rPr lang="ko-KR" altLang="en-US" dirty="0"/>
                        <a:t>요소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Linear(2.0)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843887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결합방법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Add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7891642"/>
                  </a:ext>
                </a:extLst>
              </a:tr>
            </a:tbl>
          </a:graphicData>
        </a:graphic>
      </p:graphicFrame>
      <p:pic>
        <p:nvPicPr>
          <p:cNvPr id="18" name="그림 17">
            <a:extLst>
              <a:ext uri="{FF2B5EF4-FFF2-40B4-BE49-F238E27FC236}">
                <a16:creationId xmlns:a16="http://schemas.microsoft.com/office/drawing/2014/main" id="{04704655-1CEB-4109-92B2-2CB5882226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25" y="1609708"/>
            <a:ext cx="5033639" cy="2871301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A10D67F7-CF0E-47AC-A621-C57641ACFF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0689" y="1683410"/>
            <a:ext cx="6891311" cy="2426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1636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683601" y="393719"/>
            <a:ext cx="720000" cy="720000"/>
          </a:xfrm>
          <a:prstGeom prst="rect">
            <a:avLst/>
          </a:prstGeom>
          <a:noFill/>
          <a:ln w="19050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01</a:t>
            </a:r>
            <a:endParaRPr kumimoji="0" lang="ko-KR" altLang="en-US" sz="28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647824" y="370386"/>
            <a:ext cx="605711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10</a:t>
            </a:r>
            <a:r>
              <a:rPr kumimoji="0" lang="ko-KR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년간 포르쉐 판매량</a:t>
            </a:r>
            <a:r>
              <a:rPr kumimoji="0" lang="en-US" altLang="ko-KR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(Multi)</a:t>
            </a:r>
            <a:r>
              <a:rPr kumimoji="0" lang="ko-KR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endParaRPr kumimoji="0" lang="en-US" altLang="ko-KR" sz="32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KOREA AERO SPACE UNIV.</a:t>
            </a:r>
            <a:endParaRPr kumimoji="0" lang="ko-KR" altLang="en-US" sz="4400" b="0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부제목 15">
            <a:extLst>
              <a:ext uri="{FF2B5EF4-FFF2-40B4-BE49-F238E27FC236}">
                <a16:creationId xmlns:a16="http://schemas.microsoft.com/office/drawing/2014/main" id="{7489FA4E-0600-4A5E-9F37-2B5EC8C47D34}"/>
              </a:ext>
            </a:extLst>
          </p:cNvPr>
          <p:cNvSpPr txBox="1">
            <a:spLocks/>
          </p:cNvSpPr>
          <p:nvPr/>
        </p:nvSpPr>
        <p:spPr>
          <a:xfrm>
            <a:off x="8069802" y="1224589"/>
            <a:ext cx="1793289" cy="458821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리턴값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리스트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부제목 15">
            <a:extLst>
              <a:ext uri="{FF2B5EF4-FFF2-40B4-BE49-F238E27FC236}">
                <a16:creationId xmlns:a16="http://schemas.microsoft.com/office/drawing/2014/main" id="{DFA83A8E-F821-4E92-B2CC-B0F9F67AD31E}"/>
              </a:ext>
            </a:extLst>
          </p:cNvPr>
          <p:cNvSpPr txBox="1">
            <a:spLocks/>
          </p:cNvSpPr>
          <p:nvPr/>
        </p:nvSpPr>
        <p:spPr>
          <a:xfrm>
            <a:off x="2176507" y="1226782"/>
            <a:ext cx="1041647" cy="33957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그래프</a:t>
            </a:r>
          </a:p>
        </p:txBody>
      </p:sp>
      <p:graphicFrame>
        <p:nvGraphicFramePr>
          <p:cNvPr id="15" name="표 4">
            <a:extLst>
              <a:ext uri="{FF2B5EF4-FFF2-40B4-BE49-F238E27FC236}">
                <a16:creationId xmlns:a16="http://schemas.microsoft.com/office/drawing/2014/main" id="{9DCB3B04-C240-49B2-9457-8125D64E0B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6047274"/>
              </p:ext>
            </p:extLst>
          </p:nvPr>
        </p:nvGraphicFramePr>
        <p:xfrm>
          <a:off x="5773425" y="4933643"/>
          <a:ext cx="5734974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34974">
                  <a:extLst>
                    <a:ext uri="{9D8B030D-6E8A-4147-A177-3AD203B41FA5}">
                      <a16:colId xmlns:a16="http://schemas.microsoft.com/office/drawing/2014/main" val="100818911"/>
                    </a:ext>
                  </a:extLst>
                </a:gridCol>
              </a:tblGrid>
              <a:tr h="26318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dirty="0"/>
                        <a:t>결과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1558499"/>
                  </a:ext>
                </a:extLst>
              </a:tr>
              <a:tr h="624586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포르쉐의 판매량의 그래프와 리스트의 결합방법을 </a:t>
                      </a:r>
                      <a:r>
                        <a:rPr lang="en-US" altLang="ko-KR" dirty="0"/>
                        <a:t>Multi</a:t>
                      </a:r>
                      <a:r>
                        <a:rPr lang="ko-KR" altLang="en-US" dirty="0"/>
                        <a:t>로 하였을 때에는 값이 음수 값이 나오며     그래프의 해석이 </a:t>
                      </a:r>
                      <a:r>
                        <a:rPr lang="en-US" altLang="ko-KR" dirty="0"/>
                        <a:t>Add</a:t>
                      </a:r>
                      <a:r>
                        <a:rPr lang="ko-KR" altLang="en-US" dirty="0"/>
                        <a:t>보다 어려워졌습니다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3544236"/>
                  </a:ext>
                </a:extLst>
              </a:tr>
            </a:tbl>
          </a:graphicData>
        </a:graphic>
      </p:graphicFrame>
      <p:pic>
        <p:nvPicPr>
          <p:cNvPr id="4" name="그림 3">
            <a:extLst>
              <a:ext uri="{FF2B5EF4-FFF2-40B4-BE49-F238E27FC236}">
                <a16:creationId xmlns:a16="http://schemas.microsoft.com/office/drawing/2014/main" id="{15D981F5-3E3B-4648-B382-844FF79C5B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66353"/>
            <a:ext cx="5104660" cy="324534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5407E95-39E3-4438-B0FC-BAEA85BB45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9204" y="1683410"/>
            <a:ext cx="6972796" cy="3096834"/>
          </a:xfrm>
          <a:prstGeom prst="rect">
            <a:avLst/>
          </a:prstGeom>
        </p:spPr>
      </p:pic>
      <p:graphicFrame>
        <p:nvGraphicFramePr>
          <p:cNvPr id="17" name="표 8">
            <a:extLst>
              <a:ext uri="{FF2B5EF4-FFF2-40B4-BE49-F238E27FC236}">
                <a16:creationId xmlns:a16="http://schemas.microsoft.com/office/drawing/2014/main" id="{12B9745A-FEFD-400E-B7E3-3FDCCE521D7A}"/>
              </a:ext>
            </a:extLst>
          </p:cNvPr>
          <p:cNvGraphicFramePr>
            <a:graphicFrameLocks noGrp="1"/>
          </p:cNvGraphicFramePr>
          <p:nvPr/>
        </p:nvGraphicFramePr>
        <p:xfrm>
          <a:off x="683601" y="4933643"/>
          <a:ext cx="351432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7163">
                  <a:extLst>
                    <a:ext uri="{9D8B030D-6E8A-4147-A177-3AD203B41FA5}">
                      <a16:colId xmlns:a16="http://schemas.microsoft.com/office/drawing/2014/main" val="4007130793"/>
                    </a:ext>
                  </a:extLst>
                </a:gridCol>
                <a:gridCol w="1757163">
                  <a:extLst>
                    <a:ext uri="{9D8B030D-6E8A-4147-A177-3AD203B41FA5}">
                      <a16:colId xmlns:a16="http://schemas.microsoft.com/office/drawing/2014/main" val="2675984867"/>
                    </a:ext>
                  </a:extLst>
                </a:gridCol>
              </a:tblGrid>
              <a:tr h="31339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340236"/>
                  </a:ext>
                </a:extLst>
              </a:tr>
              <a:tr h="31339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Length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120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9523755"/>
                  </a:ext>
                </a:extLst>
              </a:tr>
              <a:tr h="31339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Level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90000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30049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Trend </a:t>
                      </a:r>
                      <a:r>
                        <a:rPr lang="ko-KR" altLang="en-US" dirty="0"/>
                        <a:t>요소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Linear(2.0)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843887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결합방법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Multi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78916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50307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683601" y="393719"/>
            <a:ext cx="720000" cy="720000"/>
          </a:xfrm>
          <a:prstGeom prst="rect">
            <a:avLst/>
          </a:prstGeom>
          <a:noFill/>
          <a:ln w="19050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>
              <a:defRPr/>
            </a:pPr>
            <a:r>
              <a:rPr lang="en-US" altLang="ko-KR" sz="2800" b="1" kern="0" dirty="0">
                <a:solidFill>
                  <a:srgbClr val="FFC000"/>
                </a:solidFill>
              </a:rPr>
              <a:t>02</a:t>
            </a:r>
            <a:endParaRPr lang="ko-KR" altLang="en-US" sz="2800" b="1" kern="0" dirty="0">
              <a:solidFill>
                <a:srgbClr val="FFC000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647824" y="370386"/>
            <a:ext cx="6057119" cy="7456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>
              <a:defRPr/>
            </a:pPr>
            <a:r>
              <a:rPr lang="en-US" altLang="ko-KR" sz="3200" b="1" dirty="0">
                <a:solidFill>
                  <a:schemeClr val="accent4"/>
                </a:solidFill>
              </a:rPr>
              <a:t>2</a:t>
            </a:r>
            <a:r>
              <a:rPr lang="ko-KR" altLang="en-US" sz="3200" b="1" dirty="0">
                <a:solidFill>
                  <a:schemeClr val="accent4"/>
                </a:solidFill>
              </a:rPr>
              <a:t>장 연습 </a:t>
            </a:r>
            <a:r>
              <a:rPr lang="en-US" altLang="ko-KR" sz="3200" b="1" dirty="0">
                <a:solidFill>
                  <a:schemeClr val="accent4"/>
                </a:solidFill>
              </a:rPr>
              <a:t>2</a:t>
            </a:r>
            <a:r>
              <a:rPr lang="ko-KR" altLang="en-US" sz="3200" b="1" dirty="0">
                <a:solidFill>
                  <a:schemeClr val="accent4"/>
                </a:solidFill>
              </a:rPr>
              <a:t>번</a:t>
            </a:r>
            <a:endParaRPr lang="en-US" altLang="ko-KR" sz="3200" b="1" i="1" kern="0" dirty="0">
              <a:solidFill>
                <a:schemeClr val="accent4"/>
              </a:solidFill>
            </a:endParaRPr>
          </a:p>
          <a:p>
            <a:pPr latinLnBrk="0">
              <a:lnSpc>
                <a:spcPct val="150000"/>
              </a:lnSpc>
              <a:defRPr/>
            </a:pPr>
            <a:r>
              <a:rPr lang="en-US" altLang="ko-KR" sz="800" kern="0" dirty="0">
                <a:solidFill>
                  <a:srgbClr val="FFC000"/>
                </a:solidFill>
              </a:rPr>
              <a:t>KOREA AERO SPACE UNIV.</a:t>
            </a:r>
            <a:endParaRPr lang="ko-KR" altLang="en-US" sz="4400" kern="0" dirty="0">
              <a:solidFill>
                <a:srgbClr val="FFC000"/>
              </a:solidFill>
            </a:endParaRPr>
          </a:p>
        </p:txBody>
      </p:sp>
      <p:graphicFrame>
        <p:nvGraphicFramePr>
          <p:cNvPr id="15" name="표 4">
            <a:extLst>
              <a:ext uri="{FF2B5EF4-FFF2-40B4-BE49-F238E27FC236}">
                <a16:creationId xmlns:a16="http://schemas.microsoft.com/office/drawing/2014/main" id="{2645C809-A7A2-44FD-8891-B03E97263F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2875422"/>
              </p:ext>
            </p:extLst>
          </p:nvPr>
        </p:nvGraphicFramePr>
        <p:xfrm>
          <a:off x="6096000" y="1433782"/>
          <a:ext cx="5841507" cy="19952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41507">
                  <a:extLst>
                    <a:ext uri="{9D8B030D-6E8A-4147-A177-3AD203B41FA5}">
                      <a16:colId xmlns:a16="http://schemas.microsoft.com/office/drawing/2014/main" val="100818911"/>
                    </a:ext>
                  </a:extLst>
                </a:gridCol>
              </a:tblGrid>
              <a:tr h="30463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dirty="0"/>
                        <a:t>결과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1558499"/>
                  </a:ext>
                </a:extLst>
              </a:tr>
              <a:tr h="1629458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dirty="0" err="1"/>
                        <a:t>DepartmentStoreSales</a:t>
                      </a:r>
                      <a:r>
                        <a:rPr lang="ko-KR" altLang="en-US" dirty="0"/>
                        <a:t>의 데이터는 분기</a:t>
                      </a:r>
                      <a:r>
                        <a:rPr lang="en-US" altLang="ko-KR" dirty="0"/>
                        <a:t>(1~24)</a:t>
                      </a:r>
                      <a:r>
                        <a:rPr lang="ko-KR" altLang="en-US" dirty="0"/>
                        <a:t>별로 </a:t>
                      </a:r>
                      <a:r>
                        <a:rPr lang="en-US" altLang="ko-KR" dirty="0"/>
                        <a:t>Sales</a:t>
                      </a:r>
                      <a:r>
                        <a:rPr lang="ko-KR" altLang="en-US" dirty="0"/>
                        <a:t>의 값이 있는 형태입니다</a:t>
                      </a:r>
                      <a:r>
                        <a:rPr lang="en-US" altLang="ko-KR" dirty="0"/>
                        <a:t>.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dirty="0"/>
                        <a:t>Level, trend, seasonality, noise</a:t>
                      </a:r>
                      <a:r>
                        <a:rPr lang="ko-KR" altLang="en-US" dirty="0"/>
                        <a:t>로 각각의 요소별로 분해해서 살펴보겠습니다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3544236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92DED58B-C943-4106-BA60-6E39C2A501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98" y="1419067"/>
            <a:ext cx="5874572" cy="380988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F2776B9-D61C-496B-A690-2F542151C8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4295" y="3657966"/>
            <a:ext cx="1384916" cy="2775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3828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683601" y="393719"/>
            <a:ext cx="720000" cy="720000"/>
          </a:xfrm>
          <a:prstGeom prst="rect">
            <a:avLst/>
          </a:prstGeom>
          <a:noFill/>
          <a:ln w="19050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02</a:t>
            </a:r>
            <a:endParaRPr kumimoji="0" lang="ko-KR" altLang="en-US" sz="28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647824" y="370386"/>
            <a:ext cx="6057119" cy="7456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장 연습 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번</a:t>
            </a:r>
            <a:endParaRPr kumimoji="0" lang="en-US" altLang="ko-KR" sz="3200" b="1" i="1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KOREA AERO SPACE UNIV.</a:t>
            </a:r>
            <a:endParaRPr kumimoji="0" lang="ko-KR" altLang="en-US" sz="4400" b="0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15" name="표 4">
            <a:extLst>
              <a:ext uri="{FF2B5EF4-FFF2-40B4-BE49-F238E27FC236}">
                <a16:creationId xmlns:a16="http://schemas.microsoft.com/office/drawing/2014/main" id="{2645C809-A7A2-44FD-8891-B03E97263F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3913540"/>
              </p:ext>
            </p:extLst>
          </p:nvPr>
        </p:nvGraphicFramePr>
        <p:xfrm>
          <a:off x="7791994" y="1113718"/>
          <a:ext cx="4192860" cy="34543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2860">
                  <a:extLst>
                    <a:ext uri="{9D8B030D-6E8A-4147-A177-3AD203B41FA5}">
                      <a16:colId xmlns:a16="http://schemas.microsoft.com/office/drawing/2014/main" val="100818911"/>
                    </a:ext>
                  </a:extLst>
                </a:gridCol>
              </a:tblGrid>
              <a:tr h="44875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dirty="0"/>
                        <a:t>결과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1558499"/>
                  </a:ext>
                </a:extLst>
              </a:tr>
              <a:tr h="3005571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dirty="0"/>
                        <a:t>Level</a:t>
                      </a:r>
                      <a:r>
                        <a:rPr lang="ko-KR" altLang="en-US" dirty="0"/>
                        <a:t>은 대략 </a:t>
                      </a:r>
                      <a:r>
                        <a:rPr lang="en-US" altLang="ko-KR" dirty="0"/>
                        <a:t>65000(64757.38)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dirty="0"/>
                        <a:t>Trend</a:t>
                      </a:r>
                      <a:r>
                        <a:rPr lang="ko-KR" altLang="en-US" dirty="0"/>
                        <a:t>는 기울기 </a:t>
                      </a:r>
                      <a:r>
                        <a:rPr lang="en-US" altLang="ko-KR" dirty="0"/>
                        <a:t>1.3</a:t>
                      </a:r>
                      <a:r>
                        <a:rPr lang="ko-KR" altLang="en-US" dirty="0"/>
                        <a:t>으로 </a:t>
                      </a:r>
                      <a:r>
                        <a:rPr lang="ko-KR" altLang="en-US" dirty="0" err="1"/>
                        <a:t>가정을했습니다</a:t>
                      </a:r>
                      <a:r>
                        <a:rPr lang="en-US" altLang="ko-KR" dirty="0"/>
                        <a:t>.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dirty="0"/>
                        <a:t>Seasonality</a:t>
                      </a:r>
                      <a:r>
                        <a:rPr lang="ko-KR" altLang="en-US" dirty="0"/>
                        <a:t>는 </a:t>
                      </a:r>
                      <a:r>
                        <a:rPr lang="en-US" altLang="ko-KR" dirty="0"/>
                        <a:t>sin</a:t>
                      </a:r>
                      <a:r>
                        <a:rPr lang="ko-KR" altLang="en-US" dirty="0"/>
                        <a:t>형태로 나타냈습니다</a:t>
                      </a:r>
                      <a:r>
                        <a:rPr lang="en-US" altLang="ko-KR" dirty="0"/>
                        <a:t>.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dirty="0"/>
                        <a:t>Noise</a:t>
                      </a:r>
                      <a:r>
                        <a:rPr lang="ko-KR" altLang="en-US" dirty="0"/>
                        <a:t>입니다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3544236"/>
                  </a:ext>
                </a:extLst>
              </a:tr>
            </a:tbl>
          </a:graphicData>
        </a:graphic>
      </p:graphicFrame>
      <p:pic>
        <p:nvPicPr>
          <p:cNvPr id="11" name="그림 10">
            <a:extLst>
              <a:ext uri="{FF2B5EF4-FFF2-40B4-BE49-F238E27FC236}">
                <a16:creationId xmlns:a16="http://schemas.microsoft.com/office/drawing/2014/main" id="{2C788D95-8B17-4EEA-9857-BD8EEC8927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1882" y="1113719"/>
            <a:ext cx="3746010" cy="290536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A497614-5EFE-4442-B0DF-6BDEDC70BB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1882" y="4089991"/>
            <a:ext cx="3746010" cy="271781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6621DC0-6F76-4CFA-BA36-102F5F6876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113719"/>
            <a:ext cx="3784831" cy="290536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8EF9FBEC-5C6D-44CF-B29A-82736A2115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086032"/>
            <a:ext cx="3784831" cy="2717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1985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683601" y="393719"/>
            <a:ext cx="720000" cy="720000"/>
          </a:xfrm>
          <a:prstGeom prst="rect">
            <a:avLst/>
          </a:prstGeom>
          <a:noFill/>
          <a:ln w="19050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03</a:t>
            </a:r>
            <a:endParaRPr kumimoji="0" lang="ko-KR" altLang="en-US" sz="28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647824" y="370386"/>
            <a:ext cx="6057119" cy="7456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장 연습 </a:t>
            </a:r>
            <a:r>
              <a:rPr lang="en-US" altLang="ko-KR" sz="3200" b="1" dirty="0">
                <a:solidFill>
                  <a:srgbClr val="FFC000"/>
                </a:solidFill>
                <a:latin typeface="맑은 고딕" panose="020F0502020204030204"/>
                <a:ea typeface="맑은 고딕" panose="020B0503020000020004" pitchFamily="50" charset="-127"/>
              </a:rPr>
              <a:t>5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번</a:t>
            </a:r>
            <a:endParaRPr kumimoji="0" lang="en-US" altLang="ko-KR" sz="3200" b="1" i="1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KOREA AERO SPACE UNIV.</a:t>
            </a:r>
            <a:endParaRPr kumimoji="0" lang="ko-KR" altLang="en-US" sz="4400" b="0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15" name="표 4">
            <a:extLst>
              <a:ext uri="{FF2B5EF4-FFF2-40B4-BE49-F238E27FC236}">
                <a16:creationId xmlns:a16="http://schemas.microsoft.com/office/drawing/2014/main" id="{2645C809-A7A2-44FD-8891-B03E97263F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8066044"/>
              </p:ext>
            </p:extLst>
          </p:nvPr>
        </p:nvGraphicFramePr>
        <p:xfrm>
          <a:off x="5963454" y="550416"/>
          <a:ext cx="5841507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41507">
                  <a:extLst>
                    <a:ext uri="{9D8B030D-6E8A-4147-A177-3AD203B41FA5}">
                      <a16:colId xmlns:a16="http://schemas.microsoft.com/office/drawing/2014/main" val="100818911"/>
                    </a:ext>
                  </a:extLst>
                </a:gridCol>
              </a:tblGrid>
              <a:tr h="30463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dirty="0" err="1"/>
                        <a:t>결측치</a:t>
                      </a:r>
                      <a:r>
                        <a:rPr lang="ko-KR" altLang="en-US" dirty="0"/>
                        <a:t> 채워 넣기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1558499"/>
                  </a:ext>
                </a:extLst>
              </a:tr>
              <a:tr h="1629458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b="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SouvenirSales</a:t>
                      </a:r>
                      <a:r>
                        <a:rPr lang="ko-KR" altLang="en-US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의 데이터는 </a:t>
                      </a:r>
                      <a:r>
                        <a:rPr lang="en-US" altLang="ko-KR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1995</a:t>
                      </a:r>
                      <a:r>
                        <a:rPr lang="ko-KR" altLang="en-US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년 </a:t>
                      </a:r>
                      <a:r>
                        <a:rPr lang="en-US" altLang="ko-KR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</a:t>
                      </a:r>
                      <a:r>
                        <a:rPr lang="ko-KR" altLang="en-US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월 부터 </a:t>
                      </a:r>
                      <a:r>
                        <a:rPr lang="en-US" altLang="ko-KR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2001</a:t>
                      </a:r>
                      <a:r>
                        <a:rPr lang="ko-KR" altLang="en-US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년 </a:t>
                      </a:r>
                      <a:r>
                        <a:rPr lang="en-US" altLang="ko-KR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12</a:t>
                      </a:r>
                      <a:r>
                        <a:rPr lang="ko-KR" altLang="en-US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월까지의 </a:t>
                      </a:r>
                      <a:r>
                        <a:rPr lang="en-US" altLang="ko-KR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Sales</a:t>
                      </a:r>
                      <a:r>
                        <a:rPr lang="ko-KR" altLang="en-US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에 대한 데이터입니다</a:t>
                      </a:r>
                      <a:r>
                        <a:rPr lang="en-US" altLang="ko-KR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.</a:t>
                      </a:r>
                      <a:r>
                        <a:rPr lang="ko-KR" altLang="en-US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 </a:t>
                      </a:r>
                      <a:endParaRPr lang="en-US" altLang="ko-KR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또한 시계열 그래프에 </a:t>
                      </a:r>
                      <a:r>
                        <a:rPr lang="en-US" altLang="ko-KR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log</a:t>
                      </a:r>
                      <a:r>
                        <a:rPr lang="ko-KR" altLang="en-US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로 변환을 해서 그래프를 나타내 보았습니다</a:t>
                      </a:r>
                      <a:r>
                        <a:rPr lang="en-US" altLang="ko-KR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.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Trend</a:t>
                      </a:r>
                      <a:r>
                        <a:rPr lang="ko-KR" altLang="en-US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 요소는 기울기 </a:t>
                      </a:r>
                      <a:r>
                        <a:rPr lang="en-US" altLang="ko-KR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1.3</a:t>
                      </a:r>
                      <a:r>
                        <a:rPr lang="ko-KR" altLang="en-US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으로 잡고 그렸습니다</a:t>
                      </a:r>
                      <a:r>
                        <a:rPr lang="en-US" altLang="ko-KR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.</a:t>
                      </a:r>
                    </a:p>
                    <a:p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3544236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03184BFF-360A-41DE-927F-882BB05131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039" y="1296141"/>
            <a:ext cx="5138693" cy="238809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100B3F59-F571-404B-A5E4-AA83583669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040" y="4045555"/>
            <a:ext cx="5138693" cy="2651761"/>
          </a:xfrm>
          <a:prstGeom prst="rect">
            <a:avLst/>
          </a:prstGeom>
        </p:spPr>
      </p:pic>
      <p:sp>
        <p:nvSpPr>
          <p:cNvPr id="17" name="부제목 15">
            <a:extLst>
              <a:ext uri="{FF2B5EF4-FFF2-40B4-BE49-F238E27FC236}">
                <a16:creationId xmlns:a16="http://schemas.microsoft.com/office/drawing/2014/main" id="{616B6811-15AB-4688-8E1C-708AEB370C33}"/>
              </a:ext>
            </a:extLst>
          </p:cNvPr>
          <p:cNvSpPr txBox="1">
            <a:spLocks/>
          </p:cNvSpPr>
          <p:nvPr/>
        </p:nvSpPr>
        <p:spPr>
          <a:xfrm>
            <a:off x="2357639" y="3705984"/>
            <a:ext cx="1041647" cy="33957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b="1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Log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0B3D859-5B76-47DE-9A64-C78817966A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3720" y="3548406"/>
            <a:ext cx="4261282" cy="265176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F8A9E4E8-45B3-4640-8188-37C67A41C7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5935" y="3230994"/>
            <a:ext cx="1657581" cy="328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3542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683601" y="393719"/>
            <a:ext cx="720000" cy="720000"/>
          </a:xfrm>
          <a:prstGeom prst="rect">
            <a:avLst/>
          </a:prstGeom>
          <a:noFill/>
          <a:ln w="19050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04</a:t>
            </a:r>
            <a:endParaRPr kumimoji="0" lang="ko-KR" altLang="en-US" sz="28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647824" y="370386"/>
            <a:ext cx="6057119" cy="7456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b="1" dirty="0">
                <a:solidFill>
                  <a:srgbClr val="FFC000"/>
                </a:solidFill>
                <a:latin typeface="맑은 고딕" panose="020F0502020204030204"/>
                <a:ea typeface="맑은 고딕" panose="020B0503020000020004" pitchFamily="50" charset="-127"/>
              </a:rPr>
              <a:t>팀원 페이지</a:t>
            </a:r>
            <a:endParaRPr kumimoji="0" lang="en-US" altLang="ko-KR" sz="3200" b="1" i="1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KOREA AERO SPACE UNIV.</a:t>
            </a:r>
            <a:endParaRPr kumimoji="0" lang="ko-KR" altLang="en-US" sz="4400" b="0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685AEFEB-6315-4A62-ABD5-53F96E1DA9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3252469"/>
              </p:ext>
            </p:extLst>
          </p:nvPr>
        </p:nvGraphicFramePr>
        <p:xfrm>
          <a:off x="1647824" y="2033560"/>
          <a:ext cx="8128000" cy="3694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12798683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730679061"/>
                    </a:ext>
                  </a:extLst>
                </a:gridCol>
              </a:tblGrid>
              <a:tr h="585352">
                <a:tc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r>
                        <a:rPr lang="ko-KR" altLang="en-US" dirty="0" err="1"/>
                        <a:t>손현오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r>
                        <a:rPr lang="ko-KR" altLang="en-US" dirty="0" err="1"/>
                        <a:t>강덕영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6039707"/>
                  </a:ext>
                </a:extLst>
              </a:tr>
              <a:tr h="1269220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dirty="0"/>
                        <a:t>PPT </a:t>
                      </a:r>
                      <a:r>
                        <a:rPr lang="ko-KR" altLang="en-US" dirty="0"/>
                        <a:t>와 연습문제 </a:t>
                      </a:r>
                      <a:r>
                        <a:rPr lang="en-US" altLang="ko-KR" dirty="0"/>
                        <a:t>2,5</a:t>
                      </a:r>
                      <a:r>
                        <a:rPr lang="ko-KR" altLang="en-US" dirty="0"/>
                        <a:t>번 문제</a:t>
                      </a:r>
                      <a:endParaRPr lang="en-US" altLang="ko-KR" dirty="0"/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dirty="0"/>
                        <a:t>Ppt</a:t>
                      </a:r>
                      <a:r>
                        <a:rPr lang="ko-KR" altLang="en-US" dirty="0"/>
                        <a:t>를 만들기 위해서 팀원이 만든 </a:t>
                      </a:r>
                      <a:r>
                        <a:rPr lang="en-US" altLang="ko-KR" dirty="0" err="1"/>
                        <a:t>My_ts</a:t>
                      </a:r>
                      <a:r>
                        <a:rPr lang="ko-KR" altLang="en-US" dirty="0"/>
                        <a:t>를 이해하였고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각 파라미터의 역할과 시계열 데이터를 그래프로 표현한 것을 정리하였고</a:t>
                      </a:r>
                      <a:r>
                        <a:rPr lang="en-US" altLang="ko-KR" dirty="0"/>
                        <a:t>, 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연습문제 </a:t>
                      </a:r>
                      <a:r>
                        <a:rPr lang="en-US" altLang="ko-KR" dirty="0"/>
                        <a:t>2,5</a:t>
                      </a:r>
                      <a:r>
                        <a:rPr lang="ko-KR" altLang="en-US" dirty="0"/>
                        <a:t>번을 해결하기 위해서 데이터를 이용해서 그래프를 그리고  </a:t>
                      </a:r>
                      <a:r>
                        <a:rPr lang="en-US" altLang="ko-KR" dirty="0"/>
                        <a:t>Level, trend, seasonality, noise</a:t>
                      </a:r>
                      <a:r>
                        <a:rPr lang="ko-KR" altLang="en-US" dirty="0"/>
                        <a:t>로 분해하여 생각하고 </a:t>
                      </a:r>
                      <a:r>
                        <a:rPr lang="en-US" altLang="ko-KR" dirty="0"/>
                        <a:t>log</a:t>
                      </a:r>
                      <a:r>
                        <a:rPr lang="ko-KR" altLang="en-US" dirty="0"/>
                        <a:t>등 다양한 것을 이용해서 문제를 해결했습니다</a:t>
                      </a:r>
                      <a:r>
                        <a:rPr lang="en-US" altLang="ko-KR"/>
                        <a:t>.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7768494"/>
                  </a:ext>
                </a:extLst>
              </a:tr>
            </a:tbl>
          </a:graphicData>
        </a:graphic>
      </p:graphicFrame>
      <p:sp>
        <p:nvSpPr>
          <p:cNvPr id="12" name="부제목 15">
            <a:extLst>
              <a:ext uri="{FF2B5EF4-FFF2-40B4-BE49-F238E27FC236}">
                <a16:creationId xmlns:a16="http://schemas.microsoft.com/office/drawing/2014/main" id="{AB682C22-F9F0-4B12-AF0B-38CB345DDD74}"/>
              </a:ext>
            </a:extLst>
          </p:cNvPr>
          <p:cNvSpPr txBox="1">
            <a:spLocks/>
          </p:cNvSpPr>
          <p:nvPr/>
        </p:nvSpPr>
        <p:spPr>
          <a:xfrm>
            <a:off x="5191000" y="1113719"/>
            <a:ext cx="1041647" cy="33957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H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조</a:t>
            </a:r>
          </a:p>
        </p:txBody>
      </p:sp>
    </p:spTree>
    <p:extLst>
      <p:ext uri="{BB962C8B-B14F-4D97-AF65-F5344CB8AC3E}">
        <p14:creationId xmlns:p14="http://schemas.microsoft.com/office/powerpoint/2010/main" val="38348136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E99683CD-5327-43A5-BBDB-DEE950C000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0024" y="1243661"/>
            <a:ext cx="9144000" cy="2387600"/>
          </a:xfrm>
          <a:solidFill>
            <a:srgbClr val="354BA1"/>
          </a:solidFill>
        </p:spPr>
        <p:txBody>
          <a:bodyPr/>
          <a:lstStyle/>
          <a:p>
            <a:r>
              <a:rPr lang="ko-KR" altLang="en-US" dirty="0">
                <a:solidFill>
                  <a:schemeClr val="bg1"/>
                </a:solidFill>
              </a:rPr>
              <a:t>감사합니다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2292500"/>
      </p:ext>
    </p:extLst>
  </p:cSld>
  <p:clrMapOvr>
    <a:masterClrMapping/>
  </p:clrMapOvr>
</p:sld>
</file>

<file path=ppt/theme/theme1.xml><?xml version="1.0" encoding="utf-8"?>
<a:theme xmlns:a="http://schemas.openxmlformats.org/drawingml/2006/main" name="7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57BFF985544F2743B28ACC715ADD8BA6" ma:contentTypeVersion="6" ma:contentTypeDescription="새 문서를 만듭니다." ma:contentTypeScope="" ma:versionID="9989f32a0a98f6e0a033ac716a142466">
  <xsd:schema xmlns:xsd="http://www.w3.org/2001/XMLSchema" xmlns:xs="http://www.w3.org/2001/XMLSchema" xmlns:p="http://schemas.microsoft.com/office/2006/metadata/properties" xmlns:ns2="ef95c4c0-bf8b-426c-ad8a-ca26a879c726" targetNamespace="http://schemas.microsoft.com/office/2006/metadata/properties" ma:root="true" ma:fieldsID="b1b0f4ec7a4b0e812ba6cadb2c446972" ns2:_="">
    <xsd:import namespace="ef95c4c0-bf8b-426c-ad8a-ca26a879c72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95c4c0-bf8b-426c-ad8a-ca26a879c72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4E96D98-BA92-442D-A9AE-EF94A58965B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686537D-DF0B-4BE3-9A4C-93C63B4EAF7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f95c4c0-bf8b-426c-ad8a-ca26a879c72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02179EB-61C1-45DF-BBCA-F7F7E4193D48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3508</TotalTime>
  <Words>622</Words>
  <Application>Microsoft Office PowerPoint</Application>
  <PresentationFormat>와이드스크린</PresentationFormat>
  <Paragraphs>122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맑은 고딕</vt:lpstr>
      <vt:lpstr>Arial</vt:lpstr>
      <vt:lpstr>Wingdings</vt:lpstr>
      <vt:lpstr>7_Office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감사합니다.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조현석</dc:creator>
  <cp:lastModifiedBy>ok7624583@daum.net</cp:lastModifiedBy>
  <cp:revision>127</cp:revision>
  <dcterms:created xsi:type="dcterms:W3CDTF">2020-08-28T03:04:35Z</dcterms:created>
  <dcterms:modified xsi:type="dcterms:W3CDTF">2022-02-09T06:04:18Z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0x01010057BFF985544F2743B28ACC715ADD8BA6</vt:lpwstr>
  </property>
</Properties>
</file>