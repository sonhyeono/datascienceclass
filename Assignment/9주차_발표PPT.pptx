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9" r:id="rId6"/>
    <p:sldId id="262" r:id="rId7"/>
    <p:sldId id="316" r:id="rId8"/>
    <p:sldId id="314" r:id="rId9"/>
    <p:sldId id="318" r:id="rId10"/>
    <p:sldId id="320" r:id="rId11"/>
    <p:sldId id="313" r:id="rId12"/>
    <p:sldId id="315" r:id="rId13"/>
    <p:sldId id="317" r:id="rId14"/>
    <p:sldId id="319" r:id="rId15"/>
    <p:sldId id="321" r:id="rId16"/>
    <p:sldId id="322" r:id="rId17"/>
    <p:sldId id="264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손 현오" initials="손현" lastIdx="4" clrIdx="0">
    <p:extLst>
      <p:ext uri="{19B8F6BF-5375-455C-9EA6-DF929625EA0E}">
        <p15:presenceInfo xmlns:p15="http://schemas.microsoft.com/office/powerpoint/2012/main" userId="dc2350536a7fc01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4B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22" autoAdjust="0"/>
    <p:restoredTop sz="94660"/>
  </p:normalViewPr>
  <p:slideViewPr>
    <p:cSldViewPr snapToGrid="0">
      <p:cViewPr varScale="1">
        <p:scale>
          <a:sx n="86" d="100"/>
          <a:sy n="86" d="100"/>
        </p:scale>
        <p:origin x="46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95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76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192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144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899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80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68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314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755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940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963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567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522966" y="2349815"/>
            <a:ext cx="7956016" cy="2334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4400" b="1" i="1" kern="0" dirty="0">
                <a:solidFill>
                  <a:srgbClr val="FFC000"/>
                </a:solidFill>
              </a:rPr>
              <a:t>Data Science Applications </a:t>
            </a:r>
            <a:r>
              <a:rPr lang="ko-KR" altLang="en-US" sz="4400" b="1" i="1" kern="0" dirty="0">
                <a:solidFill>
                  <a:srgbClr val="FFC000"/>
                </a:solidFill>
              </a:rPr>
              <a:t>조별과제</a:t>
            </a:r>
            <a:r>
              <a:rPr lang="en-US" altLang="ko-KR" sz="4400" b="1" i="1" kern="0" dirty="0">
                <a:solidFill>
                  <a:srgbClr val="FFC000"/>
                </a:solidFill>
              </a:rPr>
              <a:t> 9</a:t>
            </a:r>
            <a:r>
              <a:rPr lang="ko-KR" altLang="en-US" sz="4400" b="1" i="1" kern="0" dirty="0">
                <a:solidFill>
                  <a:srgbClr val="FFC000"/>
                </a:solidFill>
              </a:rPr>
              <a:t>주차 </a:t>
            </a:r>
            <a:endParaRPr lang="en-US" altLang="ko-KR" sz="4400" b="1" i="1" kern="0" dirty="0">
              <a:solidFill>
                <a:srgbClr val="FFC000"/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50" kern="0" dirty="0">
                <a:solidFill>
                  <a:prstClr val="white"/>
                </a:solidFill>
              </a:rPr>
              <a:t>KOREA AERO SPACE UNIV.</a:t>
            </a:r>
            <a:endParaRPr lang="ko-KR" altLang="en-US" sz="6000" kern="0" dirty="0">
              <a:solidFill>
                <a:prstClr val="white"/>
              </a:solidFill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6625772" y="3204197"/>
            <a:ext cx="4896000" cy="0"/>
          </a:xfrm>
          <a:prstGeom prst="line">
            <a:avLst/>
          </a:prstGeom>
          <a:ln>
            <a:solidFill>
              <a:srgbClr val="748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8519773" y="3653803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0">
              <a:defRPr/>
            </a:pPr>
            <a:r>
              <a:rPr lang="ko-KR" altLang="en-US" sz="2400" b="1" kern="0">
                <a:solidFill>
                  <a:schemeClr val="bg1"/>
                </a:solidFill>
              </a:rPr>
              <a:t>손현오</a:t>
            </a:r>
            <a:endParaRPr lang="en-US" altLang="ko-KR" sz="2400" b="1" kern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938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1647824" y="370386"/>
            <a:ext cx="793118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defRPr/>
            </a:pPr>
            <a:r>
              <a:rPr lang="ko-KR" altLang="en-US" sz="3200" b="1" kern="0" dirty="0">
                <a:solidFill>
                  <a:srgbClr val="FFC000"/>
                </a:solidFill>
              </a:rPr>
              <a:t>정상성</a:t>
            </a:r>
            <a:r>
              <a:rPr lang="en-US" altLang="ko-KR" sz="3200" b="1" kern="0" dirty="0">
                <a:solidFill>
                  <a:srgbClr val="FFC000"/>
                </a:solidFill>
              </a:rPr>
              <a:t>, </a:t>
            </a:r>
            <a:r>
              <a:rPr lang="ko-KR" altLang="en-US" sz="3200" b="1" kern="0" dirty="0">
                <a:solidFill>
                  <a:srgbClr val="FFC000"/>
                </a:solidFill>
              </a:rPr>
              <a:t>비정상성 판별 및 정상성 변환</a:t>
            </a:r>
            <a:endParaRPr lang="en-US" altLang="ko-KR" sz="3200" b="1" kern="0" dirty="0">
              <a:solidFill>
                <a:srgbClr val="FFC000"/>
              </a:solidFill>
            </a:endParaRPr>
          </a:p>
          <a:p>
            <a:pPr algn="ctr" latinLnBrk="0">
              <a:defRPr/>
            </a:pPr>
            <a:r>
              <a:rPr lang="en-US" altLang="ko-KR" sz="800" b="1" kern="0" dirty="0">
                <a:solidFill>
                  <a:prstClr val="white"/>
                </a:solidFill>
              </a:rPr>
              <a:t>KOREA AERO SPACE UNIV.</a:t>
            </a:r>
            <a:endParaRPr lang="ko-KR" altLang="en-US" sz="4400" b="1" kern="0" dirty="0">
              <a:solidFill>
                <a:prstClr val="white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B1A0FDF-6F29-456F-BFAE-3052A756F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02" y="1553589"/>
            <a:ext cx="7091283" cy="421493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3F5209-D5CA-40B4-B2C4-A10902AC1B23}"/>
              </a:ext>
            </a:extLst>
          </p:cNvPr>
          <p:cNvSpPr/>
          <p:nvPr/>
        </p:nvSpPr>
        <p:spPr>
          <a:xfrm>
            <a:off x="7740704" y="1473693"/>
            <a:ext cx="42175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400" b="1" kern="0" dirty="0">
                <a:solidFill>
                  <a:srgbClr val="FFC000"/>
                </a:solidFill>
              </a:rPr>
              <a:t>fpp3 </a:t>
            </a:r>
            <a:r>
              <a:rPr lang="ko-KR" altLang="en-US" sz="2400" b="1" kern="0" dirty="0">
                <a:solidFill>
                  <a:srgbClr val="FFC000"/>
                </a:solidFill>
              </a:rPr>
              <a:t>의 시계열 데이터 중에 </a:t>
            </a:r>
            <a:r>
              <a:rPr lang="en-US" altLang="ko-KR" sz="2400" b="1" kern="0" dirty="0" err="1">
                <a:solidFill>
                  <a:srgbClr val="FFC000"/>
                </a:solidFill>
              </a:rPr>
              <a:t>us_gasoline</a:t>
            </a:r>
            <a:r>
              <a:rPr lang="en-US" altLang="ko-KR" sz="2400" b="1" kern="0" dirty="0">
                <a:solidFill>
                  <a:srgbClr val="FFC000"/>
                </a:solidFill>
              </a:rPr>
              <a:t> </a:t>
            </a:r>
            <a:r>
              <a:rPr lang="ko-KR" altLang="en-US" sz="2400" b="1" kern="0" dirty="0">
                <a:solidFill>
                  <a:srgbClr val="FFC000"/>
                </a:solidFill>
              </a:rPr>
              <a:t>와 </a:t>
            </a:r>
            <a:r>
              <a:rPr lang="en-US" altLang="ko-KR" sz="2400" b="1" kern="0" dirty="0" err="1">
                <a:solidFill>
                  <a:srgbClr val="FFC000"/>
                </a:solidFill>
              </a:rPr>
              <a:t>Canadian_gas</a:t>
            </a:r>
            <a:r>
              <a:rPr lang="en-US" altLang="ko-KR" sz="2400" b="1" kern="0" dirty="0">
                <a:solidFill>
                  <a:srgbClr val="FFC000"/>
                </a:solidFill>
              </a:rPr>
              <a:t> </a:t>
            </a:r>
            <a:r>
              <a:rPr lang="ko-KR" altLang="en-US" sz="2400" b="1" kern="0" dirty="0">
                <a:solidFill>
                  <a:srgbClr val="FFC000"/>
                </a:solidFill>
              </a:rPr>
              <a:t>를 선택</a:t>
            </a:r>
            <a:endParaRPr lang="en-US" altLang="ko-KR" sz="2400" b="1" kern="0" dirty="0">
              <a:solidFill>
                <a:srgbClr val="FFC000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24961DE-5251-45E0-A0F7-BE13F88D2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087" y="3180770"/>
            <a:ext cx="2730530" cy="49646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6CE55B8-0787-4D59-A1FF-A8C2A1623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7163" y="4055372"/>
            <a:ext cx="2730529" cy="53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70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defRPr/>
            </a:pPr>
            <a:r>
              <a:rPr lang="en-US" altLang="ko-KR" sz="2800" b="1" kern="0" dirty="0">
                <a:solidFill>
                  <a:srgbClr val="FFC000"/>
                </a:solidFill>
              </a:rPr>
              <a:t>1</a:t>
            </a:r>
            <a:endParaRPr lang="ko-KR" altLang="en-US" sz="2800" b="1" kern="0" dirty="0">
              <a:solidFill>
                <a:srgbClr val="FFC00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69315" y="391111"/>
            <a:ext cx="104525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3200" b="1" kern="0" dirty="0" err="1">
                <a:solidFill>
                  <a:srgbClr val="FFC000"/>
                </a:solidFill>
              </a:rPr>
              <a:t>us_gasoline</a:t>
            </a:r>
            <a:endParaRPr lang="en-US" altLang="ko-KR" sz="3200" b="1" kern="0" dirty="0">
              <a:solidFill>
                <a:srgbClr val="FFC00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504547B-94B3-476A-B155-EA2E1B231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72" y="1366655"/>
            <a:ext cx="7132137" cy="4787447"/>
          </a:xfrm>
          <a:prstGeom prst="rect">
            <a:avLst/>
          </a:prstGeom>
        </p:spPr>
      </p:pic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6BFB913-AC8E-4EF9-A8DC-8D24B3429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360067"/>
              </p:ext>
            </p:extLst>
          </p:nvPr>
        </p:nvGraphicFramePr>
        <p:xfrm>
          <a:off x="7972147" y="1377859"/>
          <a:ext cx="3533313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3313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 err="1"/>
                        <a:t>Us_gasoline</a:t>
                      </a:r>
                      <a:r>
                        <a:rPr lang="ko-KR" altLang="en-US" dirty="0"/>
                        <a:t>의 경우는 지역적인 수준이 변동하고 있고 또한 지역적으로 추세 패턴도 보임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따라서 이 계열은 비정상 계열임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811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69315" y="391111"/>
            <a:ext cx="104525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us_gasoline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6BFB913-AC8E-4EF9-A8DC-8D24B342903A}"/>
              </a:ext>
            </a:extLst>
          </p:cNvPr>
          <p:cNvGraphicFramePr>
            <a:graphicFrameLocks noGrp="1"/>
          </p:cNvGraphicFramePr>
          <p:nvPr/>
        </p:nvGraphicFramePr>
        <p:xfrm>
          <a:off x="7972147" y="1377859"/>
          <a:ext cx="3533313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3313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 err="1"/>
                        <a:t>Us_gasoline</a:t>
                      </a:r>
                      <a:r>
                        <a:rPr lang="ko-KR" altLang="en-US" dirty="0"/>
                        <a:t>의 </a:t>
                      </a:r>
                      <a:r>
                        <a:rPr lang="en-US" altLang="ko-KR" dirty="0"/>
                        <a:t>ACF</a:t>
                      </a:r>
                      <a:r>
                        <a:rPr lang="ko-KR" altLang="en-US" dirty="0"/>
                        <a:t>를 </a:t>
                      </a:r>
                      <a:r>
                        <a:rPr lang="en-US" altLang="ko-KR" dirty="0"/>
                        <a:t>plot </a:t>
                      </a:r>
                      <a:r>
                        <a:rPr lang="ko-KR" altLang="en-US" dirty="0"/>
                        <a:t>해본 결과 비정상 시계열의 패턴인 </a:t>
                      </a:r>
                      <a:r>
                        <a:rPr lang="en-US" altLang="ko-KR" dirty="0"/>
                        <a:t>ACF</a:t>
                      </a:r>
                      <a:r>
                        <a:rPr lang="ko-KR" altLang="en-US" dirty="0"/>
                        <a:t>가 천천히 감소하는 것을 확인 할 수 있음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F07BBC20-E9A4-4FA4-BDE7-73345496D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72" y="1545626"/>
            <a:ext cx="6766133" cy="442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592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69315" y="391111"/>
            <a:ext cx="104525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us_gasoline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6BFB913-AC8E-4EF9-A8DC-8D24B3429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301932"/>
              </p:ext>
            </p:extLst>
          </p:nvPr>
        </p:nvGraphicFramePr>
        <p:xfrm>
          <a:off x="7972147" y="1580225"/>
          <a:ext cx="3533313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3313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dirty="0" err="1"/>
                        <a:t>Us_gasoline</a:t>
                      </a:r>
                      <a:r>
                        <a:rPr lang="ko-KR" altLang="en-US" dirty="0"/>
                        <a:t>의 </a:t>
                      </a:r>
                      <a:r>
                        <a:rPr lang="en-US" altLang="ko-KR" dirty="0"/>
                        <a:t>lag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의 차분을 취한 결과임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dirty="0"/>
                        <a:t>Lag 1 </a:t>
                      </a:r>
                      <a:r>
                        <a:rPr lang="ko-KR" altLang="en-US" dirty="0"/>
                        <a:t>차분을 보면 평균값 또는 수준 값은 어느 정도 일정하게 유지를 하지만 다소 극단치가 있음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4715400A-E544-49D2-AB3B-AA47F5564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10" y="1431373"/>
            <a:ext cx="6515863" cy="446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040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69315" y="391111"/>
            <a:ext cx="104525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us_gasoline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6BFB913-AC8E-4EF9-A8DC-8D24B3429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588820"/>
              </p:ext>
            </p:extLst>
          </p:nvPr>
        </p:nvGraphicFramePr>
        <p:xfrm>
          <a:off x="7972147" y="1580225"/>
          <a:ext cx="3533313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3313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dirty="0" err="1"/>
                        <a:t>Us_gasoline</a:t>
                      </a:r>
                      <a:r>
                        <a:rPr lang="ko-KR" altLang="en-US" dirty="0"/>
                        <a:t>의 </a:t>
                      </a:r>
                      <a:r>
                        <a:rPr lang="en-US" altLang="ko-KR" dirty="0"/>
                        <a:t>lag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의 차분에 대한 </a:t>
                      </a:r>
                      <a:r>
                        <a:rPr lang="en-US" altLang="ko-KR" dirty="0"/>
                        <a:t>ACF plot</a:t>
                      </a:r>
                      <a:r>
                        <a:rPr lang="ko-KR" altLang="en-US" dirty="0"/>
                        <a:t>임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dirty="0"/>
                        <a:t>대부분의 자기회귀계수들이 작은 값으로 유의미한 수준이지만 극단치가 나타난 것을 보아 아직 까지 비정상계열이라고 볼 수 있음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dirty="0"/>
                        <a:t>차분의 결과 계열이 정상이 아니 여서 차분계열의 차분인         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차 차분을 계산 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해야함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071EF279-94B8-4E1B-BDCC-13A5DE99D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72" y="1582444"/>
            <a:ext cx="5825621" cy="388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005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69315" y="391111"/>
            <a:ext cx="104525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us_gasoline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6BFB913-AC8E-4EF9-A8DC-8D24B3429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441068"/>
              </p:ext>
            </p:extLst>
          </p:nvPr>
        </p:nvGraphicFramePr>
        <p:xfrm>
          <a:off x="7688064" y="1775533"/>
          <a:ext cx="4199136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136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dirty="0"/>
                        <a:t>계열에 대해서 </a:t>
                      </a:r>
                      <a:r>
                        <a:rPr lang="en-US" altLang="ko-KR" dirty="0"/>
                        <a:t>log</a:t>
                      </a:r>
                      <a:r>
                        <a:rPr lang="ko-KR" altLang="en-US" dirty="0"/>
                        <a:t>를 취하고 계절성을 제거하기 위해서 계절성 차분을 실행한 뒤에 계열에 대해서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차 차분을 </a:t>
                      </a:r>
                      <a:r>
                        <a:rPr lang="ko-KR" altLang="en-US" dirty="0" err="1"/>
                        <a:t>취하니깐</a:t>
                      </a:r>
                      <a:r>
                        <a:rPr lang="ko-KR" altLang="en-US" dirty="0"/>
                        <a:t> 결과 계열의 값들이 평균값 또는 수준 값은 일정하게 유지를 하는 것을 확인 할 수 있음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차 차분만 하였을 경우와 비교하면 값들의 폭이 </a:t>
                      </a:r>
                      <a:r>
                        <a:rPr lang="en-US" altLang="ko-KR" dirty="0"/>
                        <a:t>0.2~(-0.2)</a:t>
                      </a:r>
                      <a:r>
                        <a:rPr lang="ko-KR" altLang="en-US" dirty="0"/>
                        <a:t>로 줄어든 것을 확인함</a:t>
                      </a:r>
                      <a:r>
                        <a:rPr lang="en-US" altLang="ko-KR" dirty="0"/>
                        <a:t>.</a:t>
                      </a:r>
                      <a:r>
                        <a:rPr lang="ko-KR" altLang="en-US" dirty="0"/>
                        <a:t> </a:t>
                      </a:r>
                      <a:endParaRPr lang="en-US" altLang="ko-KR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dirty="0"/>
                        <a:t>데이터가 정상데이터로 변환되었음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D3DA114E-400C-4D73-96F5-645D4814C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72" y="1775533"/>
            <a:ext cx="6161363" cy="413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405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2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0CC3A7-07E3-4AB7-8948-FA31C5E94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72" y="1562809"/>
            <a:ext cx="7205835" cy="470981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8D5C002-CB40-40CD-AE08-3D9547A3F996}"/>
              </a:ext>
            </a:extLst>
          </p:cNvPr>
          <p:cNvSpPr/>
          <p:nvPr/>
        </p:nvSpPr>
        <p:spPr>
          <a:xfrm>
            <a:off x="2269315" y="391111"/>
            <a:ext cx="104525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kumimoji="0" lang="en-US" altLang="ko-KR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Canadian_gas</a:t>
            </a:r>
            <a:endParaRPr lang="en-US" altLang="ko-KR" sz="3200" b="1" kern="0" dirty="0">
              <a:solidFill>
                <a:srgbClr val="FFC000"/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5AA3593-4A03-4A81-A98D-803955335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907843"/>
              </p:ext>
            </p:extLst>
          </p:nvPr>
        </p:nvGraphicFramePr>
        <p:xfrm>
          <a:off x="7972147" y="1377859"/>
          <a:ext cx="3533313" cy="183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3313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 err="1"/>
                        <a:t>Canadian_gas</a:t>
                      </a:r>
                      <a:r>
                        <a:rPr lang="ko-KR" altLang="en-US" dirty="0"/>
                        <a:t>의 경우는 계열 전체적으로 추세 패턴이 보임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따라서 이 계열은 비정상 계열임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136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D5C002-CB40-40CD-AE08-3D9547A3F996}"/>
              </a:ext>
            </a:extLst>
          </p:cNvPr>
          <p:cNvSpPr/>
          <p:nvPr/>
        </p:nvSpPr>
        <p:spPr>
          <a:xfrm>
            <a:off x="2269315" y="391111"/>
            <a:ext cx="104525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Canadian_gas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5AA3593-4A03-4A81-A98D-803955335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227770"/>
              </p:ext>
            </p:extLst>
          </p:nvPr>
        </p:nvGraphicFramePr>
        <p:xfrm>
          <a:off x="7972147" y="1377859"/>
          <a:ext cx="3533313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3313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 err="1"/>
                        <a:t>Canadian_gas</a:t>
                      </a:r>
                      <a:r>
                        <a:rPr lang="ko-KR" altLang="en-US" dirty="0"/>
                        <a:t>의 </a:t>
                      </a:r>
                      <a:r>
                        <a:rPr lang="en-US" altLang="ko-KR" dirty="0"/>
                        <a:t>ACF</a:t>
                      </a:r>
                      <a:r>
                        <a:rPr lang="ko-KR" altLang="en-US" dirty="0"/>
                        <a:t>를 </a:t>
                      </a:r>
                      <a:r>
                        <a:rPr lang="en-US" altLang="ko-KR" dirty="0"/>
                        <a:t>plot </a:t>
                      </a:r>
                      <a:r>
                        <a:rPr lang="ko-KR" altLang="en-US" dirty="0"/>
                        <a:t>해본 결과 비정상 시계열의 패턴인 </a:t>
                      </a:r>
                      <a:r>
                        <a:rPr lang="en-US" altLang="ko-KR" dirty="0"/>
                        <a:t>ACF</a:t>
                      </a:r>
                      <a:r>
                        <a:rPr lang="ko-KR" altLang="en-US" dirty="0"/>
                        <a:t>가 천천히 감소하는 것을 확인 할 수 있음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97ECAF35-ABC2-4CF9-97A6-4E8925692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72" y="1489131"/>
            <a:ext cx="6761652" cy="452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277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D5C002-CB40-40CD-AE08-3D9547A3F996}"/>
              </a:ext>
            </a:extLst>
          </p:cNvPr>
          <p:cNvSpPr/>
          <p:nvPr/>
        </p:nvSpPr>
        <p:spPr>
          <a:xfrm>
            <a:off x="2269315" y="391111"/>
            <a:ext cx="104525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Canadian_gas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3569694-FE2D-4FB0-8FCA-DBEDBE3CD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72" y="1399392"/>
            <a:ext cx="6439477" cy="4344028"/>
          </a:xfrm>
          <a:prstGeom prst="rect">
            <a:avLst/>
          </a:prstGeom>
        </p:spPr>
      </p:pic>
      <p:graphicFrame>
        <p:nvGraphicFramePr>
          <p:cNvPr id="10" name="표 8">
            <a:extLst>
              <a:ext uri="{FF2B5EF4-FFF2-40B4-BE49-F238E27FC236}">
                <a16:creationId xmlns:a16="http://schemas.microsoft.com/office/drawing/2014/main" id="{17C22C45-5729-4BCA-9D4D-4E4C93FCA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965472"/>
              </p:ext>
            </p:extLst>
          </p:nvPr>
        </p:nvGraphicFramePr>
        <p:xfrm>
          <a:off x="7998780" y="1670073"/>
          <a:ext cx="3533313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3313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dirty="0" err="1"/>
                        <a:t>Canadian_gas</a:t>
                      </a:r>
                      <a:r>
                        <a:rPr lang="ko-KR" altLang="en-US" dirty="0"/>
                        <a:t>의 </a:t>
                      </a:r>
                      <a:r>
                        <a:rPr lang="en-US" altLang="ko-KR" dirty="0"/>
                        <a:t>lag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의 차분을 취한 결과임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dirty="0"/>
                        <a:t>Lag 1 </a:t>
                      </a:r>
                      <a:r>
                        <a:rPr lang="ko-KR" altLang="en-US" dirty="0"/>
                        <a:t>차분을 보면 평균값 또는 수준 값은 어느 정도 일정하게 유지를 하지만 다소 극단치가 있음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2671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D5C002-CB40-40CD-AE08-3D9547A3F996}"/>
              </a:ext>
            </a:extLst>
          </p:cNvPr>
          <p:cNvSpPr/>
          <p:nvPr/>
        </p:nvSpPr>
        <p:spPr>
          <a:xfrm>
            <a:off x="2269315" y="391111"/>
            <a:ext cx="104525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Canadian_gas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0" name="표 8">
            <a:extLst>
              <a:ext uri="{FF2B5EF4-FFF2-40B4-BE49-F238E27FC236}">
                <a16:creationId xmlns:a16="http://schemas.microsoft.com/office/drawing/2014/main" id="{17C22C45-5729-4BCA-9D4D-4E4C93FCA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444812"/>
              </p:ext>
            </p:extLst>
          </p:nvPr>
        </p:nvGraphicFramePr>
        <p:xfrm>
          <a:off x="7714696" y="1670073"/>
          <a:ext cx="3817398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7398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dirty="0" err="1"/>
                        <a:t>Canadian_gas</a:t>
                      </a:r>
                      <a:r>
                        <a:rPr lang="ko-KR" altLang="en-US" dirty="0"/>
                        <a:t>의 </a:t>
                      </a:r>
                      <a:r>
                        <a:rPr lang="en-US" altLang="ko-KR" dirty="0"/>
                        <a:t>lag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의 차분에 대한 </a:t>
                      </a:r>
                      <a:r>
                        <a:rPr lang="en-US" altLang="ko-KR" dirty="0"/>
                        <a:t>ACF plot</a:t>
                      </a:r>
                      <a:r>
                        <a:rPr lang="ko-KR" altLang="en-US" dirty="0"/>
                        <a:t>임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dirty="0"/>
                        <a:t>대부분의 자기회귀계수들이 작은 값으로 유의미한 수준이지만 극단치가 나타난 것을 보아 아직 까지 비정상계열이라고 볼 수 있음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dirty="0"/>
                        <a:t>차분의 결과 계열이 정상이 아니 여서 차분계열의 차분인         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차 차분을 계산 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해야함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173B60C3-2B0E-4E12-9D61-D0F08155E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72" y="1494676"/>
            <a:ext cx="6317942" cy="419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202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D5C002-CB40-40CD-AE08-3D9547A3F996}"/>
              </a:ext>
            </a:extLst>
          </p:cNvPr>
          <p:cNvSpPr/>
          <p:nvPr/>
        </p:nvSpPr>
        <p:spPr>
          <a:xfrm>
            <a:off x="2269315" y="391111"/>
            <a:ext cx="104525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Canadian_gas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0" name="표 8">
            <a:extLst>
              <a:ext uri="{FF2B5EF4-FFF2-40B4-BE49-F238E27FC236}">
                <a16:creationId xmlns:a16="http://schemas.microsoft.com/office/drawing/2014/main" id="{17C22C45-5729-4BCA-9D4D-4E4C93FCA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245039"/>
              </p:ext>
            </p:extLst>
          </p:nvPr>
        </p:nvGraphicFramePr>
        <p:xfrm>
          <a:off x="7714696" y="1670073"/>
          <a:ext cx="3817398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7398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dirty="0" err="1"/>
                        <a:t>Canadian_gas</a:t>
                      </a:r>
                      <a:r>
                        <a:rPr lang="ko-KR" altLang="en-US" dirty="0"/>
                        <a:t>의 계열에</a:t>
                      </a:r>
                      <a:r>
                        <a:rPr lang="en-US" altLang="ko-KR" dirty="0"/>
                        <a:t> log</a:t>
                      </a:r>
                      <a:r>
                        <a:rPr lang="ko-KR" altLang="en-US" dirty="0"/>
                        <a:t>와 계절성을 제거하기 위해 계절성 차분을 취했지만 하락 추세 패턴이 보임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59777A10-2EB0-44C9-93FE-23D39535B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72" y="1511475"/>
            <a:ext cx="5999931" cy="40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611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D5C002-CB40-40CD-AE08-3D9547A3F996}"/>
              </a:ext>
            </a:extLst>
          </p:cNvPr>
          <p:cNvSpPr/>
          <p:nvPr/>
        </p:nvSpPr>
        <p:spPr>
          <a:xfrm>
            <a:off x="2269315" y="391111"/>
            <a:ext cx="104525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Canadian_gas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0" name="표 8">
            <a:extLst>
              <a:ext uri="{FF2B5EF4-FFF2-40B4-BE49-F238E27FC236}">
                <a16:creationId xmlns:a16="http://schemas.microsoft.com/office/drawing/2014/main" id="{17C22C45-5729-4BCA-9D4D-4E4C93FCA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561173"/>
              </p:ext>
            </p:extLst>
          </p:nvPr>
        </p:nvGraphicFramePr>
        <p:xfrm>
          <a:off x="7714696" y="1670073"/>
          <a:ext cx="3817398" cy="402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7398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dirty="0" err="1"/>
                        <a:t>Canadian_gas</a:t>
                      </a:r>
                      <a:r>
                        <a:rPr lang="ko-KR" altLang="en-US" dirty="0"/>
                        <a:t>의 계열에 대해서 </a:t>
                      </a:r>
                      <a:r>
                        <a:rPr lang="en-US" altLang="ko-KR" dirty="0"/>
                        <a:t>log</a:t>
                      </a:r>
                      <a:r>
                        <a:rPr lang="ko-KR" altLang="en-US" dirty="0"/>
                        <a:t>를 취하고 계절성을 제거하기 위해서 계절성 차분을 실행한 뒤에 계열에 대해서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차 차분을 </a:t>
                      </a:r>
                      <a:r>
                        <a:rPr lang="ko-KR" altLang="en-US" dirty="0" err="1"/>
                        <a:t>취하니깐</a:t>
                      </a:r>
                      <a:r>
                        <a:rPr lang="ko-KR" altLang="en-US" dirty="0"/>
                        <a:t> 결과 계열의 값들이 평균값 또는 수준 값은 일정하게 유지를 하는 것을 확인 할 수 있음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차 차분만 하였을 경우와 비교하면 값들의 폭이 </a:t>
                      </a:r>
                      <a:r>
                        <a:rPr lang="en-US" altLang="ko-KR" dirty="0"/>
                        <a:t>0.15~(-0.15)</a:t>
                      </a:r>
                      <a:r>
                        <a:rPr lang="ko-KR" altLang="en-US" dirty="0"/>
                        <a:t>로 줄어든 것을 확인함</a:t>
                      </a:r>
                      <a:r>
                        <a:rPr lang="en-US" altLang="ko-KR" dirty="0"/>
                        <a:t>.</a:t>
                      </a:r>
                      <a:r>
                        <a:rPr lang="ko-KR" altLang="en-US" dirty="0"/>
                        <a:t> </a:t>
                      </a:r>
                      <a:endParaRPr lang="en-US" altLang="ko-KR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dirty="0"/>
                        <a:t>데이터가 정상데이터로 변환되었음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7A52A0DD-BCC7-4AAA-8D7F-AD3F765D8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72" y="1496364"/>
            <a:ext cx="6020094" cy="400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78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99683CD-5327-43A5-BBDB-DEE950C00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24" y="1243661"/>
            <a:ext cx="9144000" cy="2387600"/>
          </a:xfrm>
          <a:solidFill>
            <a:srgbClr val="354BA1"/>
          </a:solidFill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감사합니다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292500"/>
      </p:ext>
    </p:extLst>
  </p:cSld>
  <p:clrMapOvr>
    <a:masterClrMapping/>
  </p:clrMapOvr>
</p:sld>
</file>

<file path=ppt/theme/theme1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7BFF985544F2743B28ACC715ADD8BA6" ma:contentTypeVersion="6" ma:contentTypeDescription="새 문서를 만듭니다." ma:contentTypeScope="" ma:versionID="9989f32a0a98f6e0a033ac716a142466">
  <xsd:schema xmlns:xsd="http://www.w3.org/2001/XMLSchema" xmlns:xs="http://www.w3.org/2001/XMLSchema" xmlns:p="http://schemas.microsoft.com/office/2006/metadata/properties" xmlns:ns2="ef95c4c0-bf8b-426c-ad8a-ca26a879c726" targetNamespace="http://schemas.microsoft.com/office/2006/metadata/properties" ma:root="true" ma:fieldsID="b1b0f4ec7a4b0e812ba6cadb2c446972" ns2:_="">
    <xsd:import namespace="ef95c4c0-bf8b-426c-ad8a-ca26a879c7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95c4c0-bf8b-426c-ad8a-ca26a879c7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2179EB-61C1-45DF-BBCA-F7F7E4193D4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686537D-DF0B-4BE3-9A4C-93C63B4EAF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f95c4c0-bf8b-426c-ad8a-ca26a879c7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4E96D98-BA92-442D-A9AE-EF94A58965B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4384</TotalTime>
  <Words>440</Words>
  <Application>Microsoft Office PowerPoint</Application>
  <PresentationFormat>와이드스크린</PresentationFormat>
  <Paragraphs>52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7_Office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ok7624583@daum.net</cp:lastModifiedBy>
  <cp:revision>144</cp:revision>
  <dcterms:created xsi:type="dcterms:W3CDTF">2020-08-28T03:04:35Z</dcterms:created>
  <dcterms:modified xsi:type="dcterms:W3CDTF">2022-02-09T06:09:39Z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0x01010057BFF985544F2743B28ACC715ADD8BA6</vt:lpwstr>
  </property>
</Properties>
</file>