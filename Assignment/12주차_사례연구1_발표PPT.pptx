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9" r:id="rId6"/>
    <p:sldId id="262" r:id="rId7"/>
    <p:sldId id="265" r:id="rId8"/>
    <p:sldId id="275" r:id="rId9"/>
    <p:sldId id="266" r:id="rId10"/>
    <p:sldId id="267" r:id="rId11"/>
    <p:sldId id="276" r:id="rId12"/>
    <p:sldId id="280" r:id="rId13"/>
    <p:sldId id="268" r:id="rId14"/>
    <p:sldId id="278" r:id="rId15"/>
    <p:sldId id="279" r:id="rId16"/>
    <p:sldId id="281" r:id="rId17"/>
    <p:sldId id="26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손 현오" initials="손현" lastIdx="4" clrIdx="0">
    <p:extLst>
      <p:ext uri="{19B8F6BF-5375-455C-9EA6-DF929625EA0E}">
        <p15:presenceInfo xmlns:p15="http://schemas.microsoft.com/office/powerpoint/2012/main" userId="dc2350536a7fc0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22" autoAdjust="0"/>
    <p:restoredTop sz="95244" autoAdjust="0"/>
  </p:normalViewPr>
  <p:slideViewPr>
    <p:cSldViewPr snapToGrid="0">
      <p:cViewPr varScale="1">
        <p:scale>
          <a:sx n="86" d="100"/>
          <a:sy n="86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5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1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89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0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31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7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940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6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22966" y="2349815"/>
            <a:ext cx="7956016" cy="2334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400" b="1" i="1" kern="0" dirty="0">
                <a:solidFill>
                  <a:srgbClr val="FFC000"/>
                </a:solidFill>
              </a:rPr>
              <a:t>Data Science Applications 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사례연구 </a:t>
            </a:r>
            <a:r>
              <a:rPr lang="en-US" altLang="ko-KR" sz="4400" b="1" i="1" kern="0" dirty="0">
                <a:solidFill>
                  <a:srgbClr val="FFC000"/>
                </a:solidFill>
              </a:rPr>
              <a:t>1</a:t>
            </a:r>
            <a:r>
              <a:rPr lang="ko-KR" altLang="en-US" sz="4400" b="1" i="1" kern="0" dirty="0">
                <a:solidFill>
                  <a:srgbClr val="FFC000"/>
                </a:solidFill>
              </a:rPr>
              <a:t> </a:t>
            </a:r>
            <a:endParaRPr lang="en-US" altLang="ko-KR" sz="4400" b="1" i="1" kern="0" dirty="0">
              <a:solidFill>
                <a:srgbClr val="FFC000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50" kern="0" dirty="0">
                <a:solidFill>
                  <a:prstClr val="white"/>
                </a:solidFill>
              </a:rPr>
              <a:t>KOREA AERO SPACE UNIV.</a:t>
            </a:r>
            <a:endParaRPr lang="ko-KR" altLang="en-US" sz="6000" kern="0" dirty="0">
              <a:solidFill>
                <a:prstClr val="white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6625772" y="3204197"/>
            <a:ext cx="4896000" cy="0"/>
          </a:xfrm>
          <a:prstGeom prst="line">
            <a:avLst/>
          </a:prstGeom>
          <a:ln>
            <a:solidFill>
              <a:srgbClr val="748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75605" y="3653803"/>
            <a:ext cx="29963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endParaRPr lang="en-US" altLang="ko-KR" sz="2400" b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en-US" altLang="ko-KR" sz="2400" b="1" kern="0" dirty="0">
                <a:solidFill>
                  <a:schemeClr val="bg1"/>
                </a:solidFill>
              </a:rPr>
              <a:t>2016125032 </a:t>
            </a:r>
            <a:r>
              <a:rPr lang="ko-KR" altLang="en-US" sz="2400" b="1" kern="0" dirty="0" err="1">
                <a:solidFill>
                  <a:schemeClr val="bg1"/>
                </a:solidFill>
              </a:rPr>
              <a:t>손현오</a:t>
            </a:r>
            <a:endParaRPr lang="en-US" altLang="ko-KR" sz="2400" b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93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57452" y="370386"/>
            <a:ext cx="10493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	</a:t>
            </a:r>
            <a:r>
              <a:rPr lang="ko-KR" altLang="en-US" sz="2400" b="1" kern="0" dirty="0">
                <a:solidFill>
                  <a:srgbClr val="FFC000"/>
                </a:solidFill>
              </a:rPr>
              <a:t>사례연구 </a:t>
            </a:r>
            <a:r>
              <a:rPr lang="en-US" altLang="ko-KR" sz="2400" b="1" kern="0" dirty="0">
                <a:solidFill>
                  <a:srgbClr val="FFC000"/>
                </a:solidFill>
              </a:rPr>
              <a:t>1 – </a:t>
            </a:r>
            <a:r>
              <a:rPr lang="ko-KR" altLang="en-US" sz="2400" b="1" kern="0" dirty="0">
                <a:solidFill>
                  <a:srgbClr val="FFC000"/>
                </a:solidFill>
              </a:rPr>
              <a:t>대중교통 수요 예측</a:t>
            </a:r>
            <a:endParaRPr lang="en-US" altLang="ko-KR" sz="2400" b="1" kern="0" dirty="0">
              <a:solidFill>
                <a:srgbClr val="FFC000"/>
              </a:solidFill>
            </a:endParaRPr>
          </a:p>
          <a:p>
            <a:pPr algn="ctr" latinLnBrk="0">
              <a:defRPr/>
            </a:pPr>
            <a:r>
              <a:rPr lang="en-US" altLang="ko-KR" sz="800" b="1" kern="0" dirty="0">
                <a:solidFill>
                  <a:prstClr val="white"/>
                </a:solidFill>
              </a:rPr>
              <a:t>KOREA AERO SPACE UNIV.</a:t>
            </a:r>
            <a:endParaRPr lang="ko-KR" altLang="en-US" sz="4400" b="1" kern="0" dirty="0">
              <a:solidFill>
                <a:prstClr val="white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F5209-D5CA-40B4-B2C4-A10902AC1B23}"/>
              </a:ext>
            </a:extLst>
          </p:cNvPr>
          <p:cNvSpPr/>
          <p:nvPr/>
        </p:nvSpPr>
        <p:spPr>
          <a:xfrm>
            <a:off x="6096000" y="1844004"/>
            <a:ext cx="609600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0">
              <a:buFont typeface="Arial" panose="020B0604020202020204" pitchFamily="34" charset="0"/>
              <a:buChar char="•"/>
              <a:defRPr/>
            </a:pPr>
            <a:r>
              <a:rPr lang="ko-KR" altLang="en-US" sz="2400" b="1" kern="0" dirty="0">
                <a:solidFill>
                  <a:srgbClr val="FFC000"/>
                </a:solidFill>
              </a:rPr>
              <a:t>예측해야 하는 값</a:t>
            </a:r>
            <a:r>
              <a:rPr lang="en-US" altLang="ko-KR" sz="2400" b="1" kern="0" dirty="0">
                <a:solidFill>
                  <a:srgbClr val="FFC000"/>
                </a:solidFill>
              </a:rPr>
              <a:t>: </a:t>
            </a:r>
            <a:r>
              <a:rPr lang="ko-KR" altLang="en-US" sz="2400" b="1" kern="0" dirty="0">
                <a:solidFill>
                  <a:srgbClr val="FFC000"/>
                </a:solidFill>
              </a:rPr>
              <a:t>승객 인원 </a:t>
            </a:r>
          </a:p>
          <a:p>
            <a:pPr marL="342900" indent="-342900" latinLnBrk="0">
              <a:buFont typeface="Arial" panose="020B0604020202020204" pitchFamily="34" charset="0"/>
              <a:buChar char="•"/>
              <a:defRPr/>
            </a:pPr>
            <a:r>
              <a:rPr lang="ko-KR" altLang="en-US" sz="2400" b="1" kern="0" dirty="0">
                <a:solidFill>
                  <a:srgbClr val="FFC000"/>
                </a:solidFill>
              </a:rPr>
              <a:t>주어지는 데이터</a:t>
            </a:r>
            <a:r>
              <a:rPr lang="en-US" altLang="ko-KR" sz="2400" b="1" kern="0" dirty="0">
                <a:solidFill>
                  <a:srgbClr val="FFC000"/>
                </a:solidFill>
              </a:rPr>
              <a:t>: </a:t>
            </a:r>
            <a:r>
              <a:rPr lang="ko-KR" altLang="en-US" sz="2400" b="1" kern="0" dirty="0">
                <a:solidFill>
                  <a:srgbClr val="FFC000"/>
                </a:solidFill>
              </a:rPr>
              <a:t>각 터미널에 도착한 승객 인원</a:t>
            </a:r>
            <a:r>
              <a:rPr lang="en-US" altLang="ko-KR" sz="2400" b="1" kern="0" dirty="0">
                <a:solidFill>
                  <a:srgbClr val="FFC000"/>
                </a:solidFill>
              </a:rPr>
              <a:t>- </a:t>
            </a:r>
            <a:r>
              <a:rPr lang="ko-KR" altLang="en-US" sz="2400" b="1" kern="0" dirty="0">
                <a:solidFill>
                  <a:srgbClr val="FFC000"/>
                </a:solidFill>
              </a:rPr>
              <a:t>오전 </a:t>
            </a:r>
            <a:r>
              <a:rPr lang="en-US" altLang="ko-KR" sz="2400" b="1" kern="0" dirty="0">
                <a:solidFill>
                  <a:srgbClr val="FFC000"/>
                </a:solidFill>
              </a:rPr>
              <a:t>6:30 – </a:t>
            </a:r>
            <a:r>
              <a:rPr lang="ko-KR" altLang="en-US" sz="2400" b="1" kern="0" dirty="0">
                <a:solidFill>
                  <a:srgbClr val="FFC000"/>
                </a:solidFill>
              </a:rPr>
              <a:t>오후 </a:t>
            </a:r>
            <a:r>
              <a:rPr lang="en-US" altLang="ko-KR" sz="2400" b="1" kern="0" dirty="0">
                <a:solidFill>
                  <a:srgbClr val="FFC000"/>
                </a:solidFill>
              </a:rPr>
              <a:t>10:00,    </a:t>
            </a:r>
            <a:r>
              <a:rPr lang="ko-KR" altLang="en-US" sz="2400" b="1" kern="0" dirty="0">
                <a:solidFill>
                  <a:srgbClr val="FFC000"/>
                </a:solidFill>
              </a:rPr>
              <a:t>매 </a:t>
            </a:r>
            <a:r>
              <a:rPr lang="en-US" altLang="ko-KR" sz="2400" b="1" kern="0" dirty="0">
                <a:solidFill>
                  <a:srgbClr val="FFC000"/>
                </a:solidFill>
              </a:rPr>
              <a:t>15</a:t>
            </a:r>
            <a:r>
              <a:rPr lang="ko-KR" altLang="en-US" sz="2400" b="1" kern="0" dirty="0">
                <a:solidFill>
                  <a:srgbClr val="FFC000"/>
                </a:solidFill>
              </a:rPr>
              <a:t>분 간격</a:t>
            </a:r>
          </a:p>
          <a:p>
            <a:pPr marL="342900" indent="-342900" latinLnBrk="0">
              <a:buFont typeface="Arial" panose="020B0604020202020204" pitchFamily="34" charset="0"/>
              <a:buChar char="•"/>
              <a:defRPr/>
            </a:pPr>
            <a:r>
              <a:rPr lang="en-US" altLang="ko-KR" sz="2400" b="1" kern="0" dirty="0">
                <a:solidFill>
                  <a:srgbClr val="FFC000"/>
                </a:solidFill>
              </a:rPr>
              <a:t>2005</a:t>
            </a:r>
            <a:r>
              <a:rPr lang="ko-KR" altLang="en-US" sz="2400" b="1" kern="0" dirty="0">
                <a:solidFill>
                  <a:srgbClr val="FFC000"/>
                </a:solidFill>
              </a:rPr>
              <a:t>년 </a:t>
            </a:r>
            <a:r>
              <a:rPr lang="en-US" altLang="ko-KR" sz="2400" b="1" kern="0" dirty="0">
                <a:solidFill>
                  <a:srgbClr val="FFC000"/>
                </a:solidFill>
              </a:rPr>
              <a:t>3</a:t>
            </a:r>
            <a:r>
              <a:rPr lang="ko-KR" altLang="en-US" sz="2400" b="1" kern="0" dirty="0">
                <a:solidFill>
                  <a:srgbClr val="FFC000"/>
                </a:solidFill>
              </a:rPr>
              <a:t>월 </a:t>
            </a:r>
            <a:r>
              <a:rPr lang="en-US" altLang="ko-KR" sz="2400" b="1" kern="0" dirty="0">
                <a:solidFill>
                  <a:srgbClr val="FFC000"/>
                </a:solidFill>
              </a:rPr>
              <a:t>1</a:t>
            </a:r>
            <a:r>
              <a:rPr lang="ko-KR" altLang="en-US" sz="2400" b="1" kern="0" dirty="0">
                <a:solidFill>
                  <a:srgbClr val="FFC000"/>
                </a:solidFill>
              </a:rPr>
              <a:t>일 </a:t>
            </a:r>
            <a:r>
              <a:rPr lang="en-US" altLang="ko-KR" sz="2400" b="1" kern="0" dirty="0">
                <a:solidFill>
                  <a:srgbClr val="FFC000"/>
                </a:solidFill>
              </a:rPr>
              <a:t>~ 24</a:t>
            </a:r>
            <a:r>
              <a:rPr lang="ko-KR" altLang="en-US" sz="2400" b="1" kern="0" dirty="0">
                <a:solidFill>
                  <a:srgbClr val="FFC000"/>
                </a:solidFill>
              </a:rPr>
              <a:t>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D55BE1-C8FB-4506-8C1C-F9A0FB73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2" y="1507186"/>
            <a:ext cx="5969568" cy="45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4287" y="181836"/>
            <a:ext cx="2130641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ko-KR" altLang="en-US" sz="2800" b="1" kern="0" dirty="0">
                <a:solidFill>
                  <a:srgbClr val="FFC000"/>
                </a:solidFill>
              </a:rPr>
              <a:t>데이터 탐색 </a:t>
            </a: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950668"/>
              </p:ext>
            </p:extLst>
          </p:nvPr>
        </p:nvGraphicFramePr>
        <p:xfrm>
          <a:off x="6992644" y="1634508"/>
          <a:ext cx="5062109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2109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주어진 데이터인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Historic Information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보면 일간 계절성이 눈에 띄게 보임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평일 데이터에서는 계절성이 있음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5,6,12,13,19,20)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데이터에는 평일에 비해 값이 작아서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가까움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AC33322B-0A0C-49F5-A9EB-641D3222E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1127761"/>
            <a:ext cx="6477904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1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5235" y="548037"/>
            <a:ext cx="10110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가법적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계절성 모델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linear season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계절성 패턴의 반복을 이용 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(Model 4)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CEC87E-12EC-48F3-AA0C-F701010DA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1" y="4637429"/>
            <a:ext cx="4540237" cy="160028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38FB1C2-481B-4FB8-A5E8-292A8D1C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71" y="1262543"/>
            <a:ext cx="3601849" cy="306048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82D58B0-CAC4-4BFE-BF4B-B56AED2F4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717" y="1491467"/>
            <a:ext cx="4557986" cy="342179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91F0C46-413C-4B3E-87B0-E669D542FB69}"/>
              </a:ext>
            </a:extLst>
          </p:cNvPr>
          <p:cNvSpPr/>
          <p:nvPr/>
        </p:nvSpPr>
        <p:spPr>
          <a:xfrm>
            <a:off x="5818566" y="6109908"/>
            <a:ext cx="5571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뒷장에서 설명하겠습니다</a:t>
            </a:r>
            <a:r>
              <a:rPr lang="en-US" altLang="ko-KR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1A8FC4F-F42B-4048-B734-6A20EAE03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198" y="5061283"/>
            <a:ext cx="6668431" cy="75258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B0629C80-607C-4F0B-968C-31CEE84999D8}"/>
              </a:ext>
            </a:extLst>
          </p:cNvPr>
          <p:cNvSpPr/>
          <p:nvPr/>
        </p:nvSpPr>
        <p:spPr>
          <a:xfrm>
            <a:off x="4412202" y="1044137"/>
            <a:ext cx="75460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선형 </a:t>
            </a:r>
            <a:r>
              <a:rPr lang="ko-KR" altLang="en-US" sz="2000" b="1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회귀식</a:t>
            </a:r>
            <a:r>
              <a:rPr lang="en-US" altLang="ko-KR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1.625 + 0.25 * (06:30) + … + 3.25 * (22:00) + </a:t>
            </a:r>
            <a:r>
              <a:rPr lang="el-GR" altLang="ko-KR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ε</a:t>
            </a:r>
            <a:endParaRPr kumimoji="0" lang="ko-KR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7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4924E10-AFB9-4A76-89B5-184D35A95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4" y="1555187"/>
            <a:ext cx="6620799" cy="4972744"/>
          </a:xfrm>
          <a:prstGeom prst="rect">
            <a:avLst/>
          </a:prstGeom>
        </p:spPr>
      </p:pic>
      <p:graphicFrame>
        <p:nvGraphicFramePr>
          <p:cNvPr id="13" name="표 8">
            <a:extLst>
              <a:ext uri="{FF2B5EF4-FFF2-40B4-BE49-F238E27FC236}">
                <a16:creationId xmlns:a16="http://schemas.microsoft.com/office/drawing/2014/main" id="{9BFF25A5-F87C-4102-BF4D-B0017FE84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57974"/>
              </p:ext>
            </p:extLst>
          </p:nvPr>
        </p:nvGraphicFramePr>
        <p:xfrm>
          <a:off x="6856212" y="1933359"/>
          <a:ext cx="4959967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9967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강하게 나타나는 것을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plot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확인을 해서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계절성 모델을 선택함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값만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tslm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들어가다 보니 </a:t>
                      </a:r>
                      <a:r>
                        <a:rPr lang="ko-KR" altLang="en-US" dirty="0"/>
                        <a:t>동일한 계절성 패턴만이 반복됨</a:t>
                      </a:r>
                      <a:r>
                        <a:rPr lang="en-US" altLang="ko-KR" dirty="0"/>
                        <a:t>. 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여기서는 계절성 </a:t>
                      </a:r>
                      <a:r>
                        <a:rPr lang="ko-KR" altLang="en-US" dirty="0" err="1"/>
                        <a:t>요소들만이</a:t>
                      </a:r>
                      <a:r>
                        <a:rPr lang="ko-KR" altLang="en-US" dirty="0"/>
                        <a:t> 나타나서 주말이 들어간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5,6,12,13,19,20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모델과 실제 데이터가 크게 차이나는 것을 확인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MAPE</a:t>
                      </a:r>
                      <a:r>
                        <a:rPr lang="ko-KR" altLang="en-US" dirty="0"/>
                        <a:t>하고 </a:t>
                      </a:r>
                      <a:r>
                        <a:rPr lang="en-US" altLang="ko-KR" dirty="0"/>
                        <a:t>MPE</a:t>
                      </a:r>
                      <a:r>
                        <a:rPr lang="ko-KR" altLang="en-US" dirty="0"/>
                        <a:t> 계산이 </a:t>
                      </a:r>
                      <a:r>
                        <a:rPr lang="en-US" altLang="ko-KR" dirty="0"/>
                        <a:t>Inf</a:t>
                      </a:r>
                      <a:r>
                        <a:rPr lang="ko-KR" altLang="en-US" dirty="0"/>
                        <a:t>가 나온 이유는 데이터에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값이 있어서 임</a:t>
                      </a:r>
                      <a:r>
                        <a:rPr lang="en-US" altLang="ko-KR" dirty="0"/>
                        <a:t>.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6F65F8-62CE-4BC9-A856-C3544D2B1025}"/>
              </a:ext>
            </a:extLst>
          </p:cNvPr>
          <p:cNvSpPr/>
          <p:nvPr/>
        </p:nvSpPr>
        <p:spPr>
          <a:xfrm>
            <a:off x="2285235" y="548037"/>
            <a:ext cx="10110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가법적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계절성 모델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linear season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계절성 패턴의 반복을 이용 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(Model </a:t>
            </a:r>
            <a:r>
              <a:rPr lang="en-US" altLang="ko-KR" sz="16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2910214-0659-4A51-9E8E-5EE412F64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025" y="1064463"/>
            <a:ext cx="6668431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7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285235" y="554725"/>
            <a:ext cx="10110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제곱 추세를 가지는 </a:t>
            </a: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가법적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계절 모델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(Model 5)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047F81-B083-45F1-A0F1-58EB074C5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2" y="1689008"/>
            <a:ext cx="4250506" cy="30956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49E2F7-73C9-4A78-829D-474D8FB7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2" y="4923999"/>
            <a:ext cx="4210466" cy="177057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A0D113-8D64-4FFC-870E-25F7E0695D8F}"/>
              </a:ext>
            </a:extLst>
          </p:cNvPr>
          <p:cNvSpPr/>
          <p:nvPr/>
        </p:nvSpPr>
        <p:spPr>
          <a:xfrm>
            <a:off x="5818566" y="6109908"/>
            <a:ext cx="5571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뒷장에서 설명하겠습니다</a:t>
            </a:r>
            <a:r>
              <a:rPr lang="en-US" altLang="ko-KR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0110D79-EBBC-4A7E-B42A-6F3A2D005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473" y="1641062"/>
            <a:ext cx="5339976" cy="309565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9DD2B84-B491-4E2F-B4BA-3F4403A3D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473" y="4855926"/>
            <a:ext cx="6839905" cy="7335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3FE381-9548-4D94-A0D1-7A2BB8313D34}"/>
              </a:ext>
            </a:extLst>
          </p:cNvPr>
          <p:cNvSpPr txBox="1"/>
          <p:nvPr/>
        </p:nvSpPr>
        <p:spPr>
          <a:xfrm>
            <a:off x="68224" y="1211333"/>
            <a:ext cx="11943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회귀식</a:t>
            </a:r>
            <a:r>
              <a:rPr lang="en-US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1.017e+01 + 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-5.037e-02 * t + 4.961e-05 * t^2 + 2.533e-01</a:t>
            </a:r>
            <a:r>
              <a:rPr lang="en-US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* (06:30) + … + 3.270e+0 * (22:00) + </a:t>
            </a:r>
            <a:r>
              <a:rPr lang="el-GR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ε</a:t>
            </a:r>
            <a:endParaRPr kumimoji="0" lang="ko-KR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977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06253"/>
              </p:ext>
            </p:extLst>
          </p:nvPr>
        </p:nvGraphicFramePr>
        <p:xfrm>
          <a:off x="6889072" y="1853151"/>
          <a:ext cx="51799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9980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9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501999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제곱 추세를 가지는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 모델로 예측을 해보면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처럼 동일한 계절성 패턴이 있지만 추세를 가져서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일을 기점으로 위로 상향을 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여기서도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마찬가지로 계절성 </a:t>
                      </a:r>
                      <a:r>
                        <a:rPr lang="ko-KR" altLang="en-US" dirty="0" err="1"/>
                        <a:t>요소들만이</a:t>
                      </a:r>
                      <a:r>
                        <a:rPr lang="ko-KR" altLang="en-US" dirty="0"/>
                        <a:t> 나타나서 주말이 들어간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5,6,12,13,19,20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모델과 실제 데이터가 크게 차이나는 것을 확인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dirty="0"/>
                        <a:t>MAPE</a:t>
                      </a:r>
                      <a:r>
                        <a:rPr lang="ko-KR" altLang="en-US" dirty="0"/>
                        <a:t>하고 </a:t>
                      </a:r>
                      <a:r>
                        <a:rPr lang="en-US" altLang="ko-KR" dirty="0"/>
                        <a:t>MPE</a:t>
                      </a:r>
                      <a:r>
                        <a:rPr lang="ko-KR" altLang="en-US" dirty="0"/>
                        <a:t> 계산이 </a:t>
                      </a:r>
                      <a:r>
                        <a:rPr lang="en-US" altLang="ko-KR" dirty="0"/>
                        <a:t>Inf</a:t>
                      </a:r>
                      <a:r>
                        <a:rPr lang="ko-KR" altLang="en-US" dirty="0"/>
                        <a:t>가 나온 이유는 데이터에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 값이 있어서 임</a:t>
                      </a:r>
                      <a:r>
                        <a:rPr lang="en-US" altLang="ko-KR" dirty="0"/>
                        <a:t>.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A7E40C6-D8A0-4528-9872-90319F15B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8" y="1289457"/>
            <a:ext cx="6668469" cy="519803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18F06C-9DD5-41E2-A2F5-BD46C999139E}"/>
              </a:ext>
            </a:extLst>
          </p:cNvPr>
          <p:cNvSpPr/>
          <p:nvPr/>
        </p:nvSpPr>
        <p:spPr>
          <a:xfrm>
            <a:off x="2285235" y="554725"/>
            <a:ext cx="10110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제곱 추세를 가지는 </a:t>
            </a: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가법적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계절 모델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(Model 5)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001753F-F194-4C86-99A5-F4C46D78F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147" y="922693"/>
            <a:ext cx="6839905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23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329311"/>
              </p:ext>
            </p:extLst>
          </p:nvPr>
        </p:nvGraphicFramePr>
        <p:xfrm>
          <a:off x="7700926" y="415772"/>
          <a:ext cx="4431414" cy="4382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1414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4504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2815537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계절성 모델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4)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제곱 추세를 가지는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 모델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5)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비교해보자면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작게 나와서 예측에 정확한 모형으로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하지만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더 정확한 이유는 추세가 들어가서 예측 값이 위로 상승을 했고 주말의 경우는 데이터 값이 거의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가까운데 주말 때문에 오차가 더 커지게 되어서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값이 더 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즉 주말을 제외하면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더 정확한 모델인 것 같음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A7E40C6-D8A0-4528-9872-90319F15B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348" y="1199951"/>
            <a:ext cx="3864577" cy="326602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18F06C-9DD5-41E2-A2F5-BD46C999139E}"/>
              </a:ext>
            </a:extLst>
          </p:cNvPr>
          <p:cNvSpPr/>
          <p:nvPr/>
        </p:nvSpPr>
        <p:spPr>
          <a:xfrm>
            <a:off x="2285235" y="554725"/>
            <a:ext cx="10110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Model </a:t>
            </a:r>
            <a:r>
              <a:rPr lang="en-US" altLang="ko-KR" sz="20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r>
              <a:rPr lang="ko-KR" altLang="en-US" sz="20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와 </a:t>
            </a:r>
            <a:r>
              <a:rPr lang="en-US" altLang="ko-KR" sz="20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r>
              <a:rPr lang="ko-KR" altLang="en-US" sz="20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를 비교</a:t>
            </a:r>
            <a:r>
              <a:rPr lang="en-US" altLang="ko-KR" sz="20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(RMSE)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graphicFrame>
        <p:nvGraphicFramePr>
          <p:cNvPr id="16" name="표 16">
            <a:extLst>
              <a:ext uri="{FF2B5EF4-FFF2-40B4-BE49-F238E27FC236}">
                <a16:creationId xmlns:a16="http://schemas.microsoft.com/office/drawing/2014/main" id="{5BC8A341-A952-4198-A302-16AA0DAB6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42698"/>
              </p:ext>
            </p:extLst>
          </p:nvPr>
        </p:nvGraphicFramePr>
        <p:xfrm>
          <a:off x="143872" y="5641617"/>
          <a:ext cx="9204315" cy="997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066">
                  <a:extLst>
                    <a:ext uri="{9D8B030D-6E8A-4147-A177-3AD203B41FA5}">
                      <a16:colId xmlns:a16="http://schemas.microsoft.com/office/drawing/2014/main" val="2900049840"/>
                    </a:ext>
                  </a:extLst>
                </a:gridCol>
                <a:gridCol w="2885243">
                  <a:extLst>
                    <a:ext uri="{9D8B030D-6E8A-4147-A177-3AD203B41FA5}">
                      <a16:colId xmlns:a16="http://schemas.microsoft.com/office/drawing/2014/main" val="4183115678"/>
                    </a:ext>
                  </a:extLst>
                </a:gridCol>
                <a:gridCol w="5007006">
                  <a:extLst>
                    <a:ext uri="{9D8B030D-6E8A-4147-A177-3AD203B41FA5}">
                      <a16:colId xmlns:a16="http://schemas.microsoft.com/office/drawing/2014/main" val="2522418362"/>
                    </a:ext>
                  </a:extLst>
                </a:gridCol>
              </a:tblGrid>
              <a:tr h="3879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RMSE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4(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계절성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5(</a:t>
                      </a:r>
                      <a:r>
                        <a:rPr lang="ko-KR" altLang="en-US" sz="1400" dirty="0"/>
                        <a:t>제곱 추세를 가지는 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774841"/>
                  </a:ext>
                </a:extLst>
              </a:tr>
              <a:tr h="2165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Train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18.02387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17.62777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406178"/>
                  </a:ext>
                </a:extLst>
              </a:tr>
              <a:tr h="2165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Valid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21.27310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32.41281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79451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C8B091D3-31D8-4577-929F-6246A8D1A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398" y="4530329"/>
            <a:ext cx="3562681" cy="7305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328345-F40E-4C7E-B13B-5C63D9AC6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1" y="1199951"/>
            <a:ext cx="3646892" cy="32660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E00144-C348-47BD-BFFC-FFA01946A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48" y="4554037"/>
            <a:ext cx="3142527" cy="68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8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956207"/>
              </p:ext>
            </p:extLst>
          </p:nvPr>
        </p:nvGraphicFramePr>
        <p:xfrm>
          <a:off x="7700925" y="671390"/>
          <a:ext cx="4431414" cy="4382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1414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4504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2815537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계절성 모델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4)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제곱 추세를 가지는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 모델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5)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비교해보자면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   작게 나와서 직관적으로 보면 예측에 정확한 모형으로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입니다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하지만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에서는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더 정확한 이유는 추세가 들어가서 예측 값이 위로 상승을 했고 주말의 경우는 데이터 값이 거의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가까운데 주말 때문에 오차가 더 커지게 되어서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값이 더 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즉 주말을 제외하면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더 정확한 모델인 것 같음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A7E40C6-D8A0-4528-9872-90319F15B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450" y="1199950"/>
            <a:ext cx="3864577" cy="326602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18F06C-9DD5-41E2-A2F5-BD46C999139E}"/>
              </a:ext>
            </a:extLst>
          </p:cNvPr>
          <p:cNvSpPr/>
          <p:nvPr/>
        </p:nvSpPr>
        <p:spPr>
          <a:xfrm>
            <a:off x="2285235" y="554725"/>
            <a:ext cx="10110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Model 4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비교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en-US" altLang="ko-KR" sz="20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MAE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graphicFrame>
        <p:nvGraphicFramePr>
          <p:cNvPr id="16" name="표 16">
            <a:extLst>
              <a:ext uri="{FF2B5EF4-FFF2-40B4-BE49-F238E27FC236}">
                <a16:creationId xmlns:a16="http://schemas.microsoft.com/office/drawing/2014/main" id="{5BC8A341-A952-4198-A302-16AA0DAB6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84196"/>
              </p:ext>
            </p:extLst>
          </p:nvPr>
        </p:nvGraphicFramePr>
        <p:xfrm>
          <a:off x="143872" y="5641617"/>
          <a:ext cx="9204315" cy="997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066">
                  <a:extLst>
                    <a:ext uri="{9D8B030D-6E8A-4147-A177-3AD203B41FA5}">
                      <a16:colId xmlns:a16="http://schemas.microsoft.com/office/drawing/2014/main" val="2900049840"/>
                    </a:ext>
                  </a:extLst>
                </a:gridCol>
                <a:gridCol w="2885243">
                  <a:extLst>
                    <a:ext uri="{9D8B030D-6E8A-4147-A177-3AD203B41FA5}">
                      <a16:colId xmlns:a16="http://schemas.microsoft.com/office/drawing/2014/main" val="4183115678"/>
                    </a:ext>
                  </a:extLst>
                </a:gridCol>
                <a:gridCol w="5007006">
                  <a:extLst>
                    <a:ext uri="{9D8B030D-6E8A-4147-A177-3AD203B41FA5}">
                      <a16:colId xmlns:a16="http://schemas.microsoft.com/office/drawing/2014/main" val="2522418362"/>
                    </a:ext>
                  </a:extLst>
                </a:gridCol>
              </a:tblGrid>
              <a:tr h="3879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4(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계절성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5(</a:t>
                      </a:r>
                      <a:r>
                        <a:rPr lang="ko-KR" altLang="en-US" sz="1400" dirty="0"/>
                        <a:t>제곱 추세를 가지는 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774841"/>
                  </a:ext>
                </a:extLst>
              </a:tr>
              <a:tr h="2165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Train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12.93477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12.80639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406178"/>
                  </a:ext>
                </a:extLst>
              </a:tr>
              <a:tr h="2165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Valid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15.90684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25.08782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79451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C8B091D3-31D8-4577-929F-6246A8D1A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346" y="4617131"/>
            <a:ext cx="3562681" cy="7305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328345-F40E-4C7E-B13B-5C63D9AC6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1" y="1199951"/>
            <a:ext cx="3646892" cy="32660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E00144-C348-47BD-BFFC-FFA01946A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90" y="4640839"/>
            <a:ext cx="3142527" cy="68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8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81048" y="427886"/>
            <a:ext cx="10110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주말 데이터를 제거 한 후 예측</a:t>
            </a:r>
            <a:endParaRPr kumimoji="0" lang="en-US" altLang="ko-KR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72CF6E-0B65-40FD-B94C-26ECF51C8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6" y="1885147"/>
            <a:ext cx="4000392" cy="27536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56B0E92-6C4F-4EAE-ABF4-7AD2AA45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41" y="4791105"/>
            <a:ext cx="3845499" cy="18778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A66958-B131-4343-9217-420E77AC0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981" y="5449784"/>
            <a:ext cx="6630325" cy="75258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66CFA39-10B8-4CFE-B34F-5A711FF45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866" y="1703686"/>
            <a:ext cx="5603797" cy="370325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36AA99-9497-481F-A22C-3CB398BC8B1B}"/>
              </a:ext>
            </a:extLst>
          </p:cNvPr>
          <p:cNvSpPr/>
          <p:nvPr/>
        </p:nvSpPr>
        <p:spPr>
          <a:xfrm>
            <a:off x="4664180" y="6202364"/>
            <a:ext cx="55714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뒷장에서 설명하겠습니다</a:t>
            </a:r>
            <a:r>
              <a:rPr lang="en-US" altLang="ko-KR" sz="2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1F0EF6-245B-44CB-8D5D-32BF11CB38E0}"/>
              </a:ext>
            </a:extLst>
          </p:cNvPr>
          <p:cNvSpPr txBox="1"/>
          <p:nvPr/>
        </p:nvSpPr>
        <p:spPr>
          <a:xfrm>
            <a:off x="68224" y="1211333"/>
            <a:ext cx="11943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회귀식</a:t>
            </a:r>
            <a:r>
              <a:rPr lang="en-US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4.944</a:t>
            </a:r>
            <a:r>
              <a:rPr lang="en-US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e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  <a:r>
              <a:rPr lang="en-US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01 + 9.114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e-03 * t + -9.396e-06 * t^2 + 3.826e-01</a:t>
            </a:r>
            <a:r>
              <a:rPr lang="en-US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* (06:30) + … + </a:t>
            </a:r>
            <a:r>
              <a:rPr lang="en-US" altLang="ko-KR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4.759</a:t>
            </a:r>
            <a:r>
              <a:rPr lang="en-US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e+0 * (22:00) + </a:t>
            </a:r>
            <a:r>
              <a:rPr lang="el-GR" altLang="ko-KR" sz="18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ε</a:t>
            </a:r>
            <a:endParaRPr kumimoji="0" lang="ko-KR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56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81048" y="427886"/>
            <a:ext cx="10110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주말 데이터를 제거 한 후 예측 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Model 5(RMSE)</a:t>
            </a:r>
            <a:endParaRPr kumimoji="0" lang="en-US" altLang="ko-KR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03869"/>
              </p:ext>
            </p:extLst>
          </p:nvPr>
        </p:nvGraphicFramePr>
        <p:xfrm>
          <a:off x="6782540" y="1828231"/>
          <a:ext cx="53983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8370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9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501999"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주말 데이터를 제거한 후에 제곱 추세를 가지는 </a:t>
                      </a:r>
                      <a:r>
                        <a:rPr kumimoji="0" lang="ko-KR" altLang="en-US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계절 모델을 적용해서 예측을 해보니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모델의 정확도가 높아짐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 눈에 띄게 좋아 진 것을 확인함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endParaRPr kumimoji="0" lang="en-US" altLang="ko-KR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를 선택한 이유는 주말 데이터를 뺀 이후에는 추세가 사라져서 계절성 패턴만 나타나고 단순히 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 4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로도 비교해봐도 근소한 차이로 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 정확한 </a:t>
                      </a:r>
                      <a:r>
                        <a:rPr kumimoji="0" lang="ko-KR" altLang="en-US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모델이여서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를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선택함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D97635D6-F49B-45E6-9B2C-8ADB862D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76" y="1235322"/>
            <a:ext cx="6487430" cy="448915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A66958-B131-4343-9217-420E77AC0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899" y="859032"/>
            <a:ext cx="6630325" cy="752580"/>
          </a:xfrm>
          <a:prstGeom prst="rect">
            <a:avLst/>
          </a:prstGeom>
        </p:spPr>
      </p:pic>
      <p:graphicFrame>
        <p:nvGraphicFramePr>
          <p:cNvPr id="11" name="표 16">
            <a:extLst>
              <a:ext uri="{FF2B5EF4-FFF2-40B4-BE49-F238E27FC236}">
                <a16:creationId xmlns:a16="http://schemas.microsoft.com/office/drawing/2014/main" id="{0F2D2DDE-143D-44F1-B464-BBB2BA5FE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855445"/>
              </p:ext>
            </p:extLst>
          </p:nvPr>
        </p:nvGraphicFramePr>
        <p:xfrm>
          <a:off x="196777" y="5724475"/>
          <a:ext cx="1161940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334">
                  <a:extLst>
                    <a:ext uri="{9D8B030D-6E8A-4147-A177-3AD203B41FA5}">
                      <a16:colId xmlns:a16="http://schemas.microsoft.com/office/drawing/2014/main" val="2900049840"/>
                    </a:ext>
                  </a:extLst>
                </a:gridCol>
                <a:gridCol w="3642290">
                  <a:extLst>
                    <a:ext uri="{9D8B030D-6E8A-4147-A177-3AD203B41FA5}">
                      <a16:colId xmlns:a16="http://schemas.microsoft.com/office/drawing/2014/main" val="4183115678"/>
                    </a:ext>
                  </a:extLst>
                </a:gridCol>
                <a:gridCol w="3160389">
                  <a:extLst>
                    <a:ext uri="{9D8B030D-6E8A-4147-A177-3AD203B41FA5}">
                      <a16:colId xmlns:a16="http://schemas.microsoft.com/office/drawing/2014/main" val="2522418362"/>
                    </a:ext>
                  </a:extLst>
                </a:gridCol>
                <a:gridCol w="3160389">
                  <a:extLst>
                    <a:ext uri="{9D8B030D-6E8A-4147-A177-3AD203B41FA5}">
                      <a16:colId xmlns:a16="http://schemas.microsoft.com/office/drawing/2014/main" val="1351493035"/>
                    </a:ext>
                  </a:extLst>
                </a:gridCol>
              </a:tblGrid>
              <a:tr h="471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RMSE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4(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계절성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5(</a:t>
                      </a:r>
                      <a:r>
                        <a:rPr lang="ko-KR" altLang="en-US" sz="1400" dirty="0"/>
                        <a:t>제곱 추세를 가지는 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주말 데이터를 제거 한 후 </a:t>
                      </a:r>
                      <a:r>
                        <a:rPr lang="en-US" altLang="ko-KR" sz="1400" dirty="0"/>
                        <a:t>Model 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774841"/>
                  </a:ext>
                </a:extLst>
              </a:tr>
              <a:tr h="2771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Train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18.02387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17.62777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8.214838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406178"/>
                  </a:ext>
                </a:extLst>
              </a:tr>
              <a:tr h="2771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Valid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21.27310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32.41281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14.292700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794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572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81048" y="427886"/>
            <a:ext cx="10110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주말 데이터를 제거 한 후 예측 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Model 5(MAE)</a:t>
            </a:r>
            <a:endParaRPr kumimoji="0" lang="en-US" altLang="ko-KR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03923"/>
              </p:ext>
            </p:extLst>
          </p:nvPr>
        </p:nvGraphicFramePr>
        <p:xfrm>
          <a:off x="6782540" y="1828231"/>
          <a:ext cx="539837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8370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9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501999">
                <a:tc>
                  <a:txBody>
                    <a:bodyPr/>
                    <a:lstStyle/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주말 데이터를 제거한 후에 제곱 추세를 가지는 </a:t>
                      </a:r>
                      <a:r>
                        <a:rPr kumimoji="0" lang="ko-KR" altLang="en-US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계절 모델을 적용해서 예측을 해보니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모델의 정확도가 높아짐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 눈에 띄게 좋아 진 것을 확인함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 경우는 직관적인 지표라서 눈에 확 띄게 좋아 진 것을 확인함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D97635D6-F49B-45E6-9B2C-8ADB862D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76" y="1235322"/>
            <a:ext cx="6487430" cy="448915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A66958-B131-4343-9217-420E77AC0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899" y="859032"/>
            <a:ext cx="6630325" cy="752580"/>
          </a:xfrm>
          <a:prstGeom prst="rect">
            <a:avLst/>
          </a:prstGeom>
        </p:spPr>
      </p:pic>
      <p:graphicFrame>
        <p:nvGraphicFramePr>
          <p:cNvPr id="11" name="표 16">
            <a:extLst>
              <a:ext uri="{FF2B5EF4-FFF2-40B4-BE49-F238E27FC236}">
                <a16:creationId xmlns:a16="http://schemas.microsoft.com/office/drawing/2014/main" id="{0F2D2DDE-143D-44F1-B464-BBB2BA5FE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049368"/>
              </p:ext>
            </p:extLst>
          </p:nvPr>
        </p:nvGraphicFramePr>
        <p:xfrm>
          <a:off x="196777" y="5724475"/>
          <a:ext cx="1161940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334">
                  <a:extLst>
                    <a:ext uri="{9D8B030D-6E8A-4147-A177-3AD203B41FA5}">
                      <a16:colId xmlns:a16="http://schemas.microsoft.com/office/drawing/2014/main" val="2900049840"/>
                    </a:ext>
                  </a:extLst>
                </a:gridCol>
                <a:gridCol w="3642290">
                  <a:extLst>
                    <a:ext uri="{9D8B030D-6E8A-4147-A177-3AD203B41FA5}">
                      <a16:colId xmlns:a16="http://schemas.microsoft.com/office/drawing/2014/main" val="4183115678"/>
                    </a:ext>
                  </a:extLst>
                </a:gridCol>
                <a:gridCol w="3160389">
                  <a:extLst>
                    <a:ext uri="{9D8B030D-6E8A-4147-A177-3AD203B41FA5}">
                      <a16:colId xmlns:a16="http://schemas.microsoft.com/office/drawing/2014/main" val="2522418362"/>
                    </a:ext>
                  </a:extLst>
                </a:gridCol>
                <a:gridCol w="3160389">
                  <a:extLst>
                    <a:ext uri="{9D8B030D-6E8A-4147-A177-3AD203B41FA5}">
                      <a16:colId xmlns:a16="http://schemas.microsoft.com/office/drawing/2014/main" val="1351493035"/>
                    </a:ext>
                  </a:extLst>
                </a:gridCol>
              </a:tblGrid>
              <a:tr h="4711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4(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계절성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Model 5(</a:t>
                      </a:r>
                      <a:r>
                        <a:rPr lang="ko-KR" altLang="en-US" sz="1400" dirty="0"/>
                        <a:t>제곱 추세를 가지는 </a:t>
                      </a:r>
                      <a:r>
                        <a:rPr lang="ko-KR" altLang="en-US" sz="1400" dirty="0" err="1"/>
                        <a:t>가법적</a:t>
                      </a:r>
                      <a:r>
                        <a:rPr lang="ko-KR" altLang="en-US" sz="1400" dirty="0"/>
                        <a:t> 계절 모델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주말 데이터를 제거 한 후 </a:t>
                      </a:r>
                      <a:r>
                        <a:rPr lang="en-US" altLang="ko-KR" sz="1400" dirty="0"/>
                        <a:t>Model 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774841"/>
                  </a:ext>
                </a:extLst>
              </a:tr>
              <a:tr h="2771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Train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12.93477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12.80639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5.677346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406178"/>
                  </a:ext>
                </a:extLst>
              </a:tr>
              <a:tr h="2771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Valid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15.90684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25.08782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8.685396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794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5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78372" y="415772"/>
            <a:ext cx="1702676" cy="720000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kern="0" dirty="0">
                <a:solidFill>
                  <a:srgbClr val="FFC000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81048" y="427886"/>
            <a:ext cx="10110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결론</a:t>
            </a:r>
            <a:endParaRPr kumimoji="0" lang="en-US" altLang="ko-KR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6BFB913-AC8E-4EF9-A8DC-8D24B3429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12180"/>
              </p:ext>
            </p:extLst>
          </p:nvPr>
        </p:nvGraphicFramePr>
        <p:xfrm>
          <a:off x="6658253" y="2094561"/>
          <a:ext cx="539837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8370">
                  <a:extLst>
                    <a:ext uri="{9D8B030D-6E8A-4147-A177-3AD203B41FA5}">
                      <a16:colId xmlns:a16="http://schemas.microsoft.com/office/drawing/2014/main" val="4093639860"/>
                    </a:ext>
                  </a:extLst>
                </a:gridCol>
              </a:tblGrid>
              <a:tr h="290840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778601"/>
                  </a:ext>
                </a:extLst>
              </a:tr>
              <a:tr h="50199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대중 교통 수요 데이터를 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plot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해본 결과 계절성 패턴이 뚜렷이 나타나서 회귀기반 모델을 선택을 했고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주말의 경우는 값이 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가까워서 전체 데이터로 미래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평일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을 예측하기에는 이상치 값들이 많이 들어가서 모델의 정확도가 낮을 수 밖에 없었음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데이터 셋에서 주말을 제거하고 모델을 사용하니 정확도가 한층 높아진 것을 확인 할 수 있었음</a:t>
                      </a:r>
                      <a:r>
                        <a:rPr kumimoji="0" lang="en-US" altLang="ko-KR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계절성 모델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4)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제곱 추세를 가지는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가법적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계절 모델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5)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비교해서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선택했고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값인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22, 23, 24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일에도 계절성 패턴이 이어질 것이라고 예측이 됨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lvl="0" indent="-285750" latinLnBrk="1">
                        <a:buFont typeface="Arial" panose="020B0604020202020204" pitchFamily="34" charset="0"/>
                        <a:buChar char="•"/>
                      </a:pPr>
                      <a:endParaRPr kumimoji="0" lang="en-US" altLang="ko-KR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5852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D97635D6-F49B-45E6-9B2C-8ADB862D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5" y="1160159"/>
            <a:ext cx="6487430" cy="448915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A66958-B131-4343-9217-420E77AC0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425" y="1155532"/>
            <a:ext cx="5819141" cy="66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00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99683CD-5327-43A5-BBDB-DEE950C0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4" y="1243661"/>
            <a:ext cx="9144000" cy="2387600"/>
          </a:xfrm>
          <a:solidFill>
            <a:srgbClr val="354BA1"/>
          </a:solidFill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292500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7BFF985544F2743B28ACC715ADD8BA6" ma:contentTypeVersion="6" ma:contentTypeDescription="새 문서를 만듭니다." ma:contentTypeScope="" ma:versionID="9989f32a0a98f6e0a033ac716a142466">
  <xsd:schema xmlns:xsd="http://www.w3.org/2001/XMLSchema" xmlns:xs="http://www.w3.org/2001/XMLSchema" xmlns:p="http://schemas.microsoft.com/office/2006/metadata/properties" xmlns:ns2="ef95c4c0-bf8b-426c-ad8a-ca26a879c726" targetNamespace="http://schemas.microsoft.com/office/2006/metadata/properties" ma:root="true" ma:fieldsID="b1b0f4ec7a4b0e812ba6cadb2c446972" ns2:_="">
    <xsd:import namespace="ef95c4c0-bf8b-426c-ad8a-ca26a879c7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5c4c0-bf8b-426c-ad8a-ca26a879c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E96D98-BA92-442D-A9AE-EF94A58965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2179EB-61C1-45DF-BBCA-F7F7E4193D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686537D-DF0B-4BE3-9A4C-93C63B4E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95c4c0-bf8b-426c-ad8a-ca26a879c7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6074</TotalTime>
  <Words>907</Words>
  <Application>Microsoft Office PowerPoint</Application>
  <PresentationFormat>와이드스크린</PresentationFormat>
  <Paragraphs>110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ok7624583@daum.net</cp:lastModifiedBy>
  <cp:revision>167</cp:revision>
  <dcterms:created xsi:type="dcterms:W3CDTF">2020-08-28T03:04:35Z</dcterms:created>
  <dcterms:modified xsi:type="dcterms:W3CDTF">2021-11-26T13:23:22Z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0x01010057BFF985544F2743B28ACC715ADD8BA6</vt:lpwstr>
  </property>
</Properties>
</file>