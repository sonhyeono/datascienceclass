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  <p:sldId id="259" r:id="rId6"/>
    <p:sldId id="262" r:id="rId7"/>
    <p:sldId id="294" r:id="rId8"/>
    <p:sldId id="295" r:id="rId9"/>
    <p:sldId id="296" r:id="rId10"/>
    <p:sldId id="297" r:id="rId11"/>
    <p:sldId id="298" r:id="rId12"/>
    <p:sldId id="299" r:id="rId13"/>
    <p:sldId id="264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손 현오" initials="손현" lastIdx="4" clrIdx="0">
    <p:extLst>
      <p:ext uri="{19B8F6BF-5375-455C-9EA6-DF929625EA0E}">
        <p15:presenceInfo xmlns:p15="http://schemas.microsoft.com/office/powerpoint/2012/main" userId="dc2350536a7fc01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4B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22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2021-09-30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959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2021-09-30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4762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2021-09-30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192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2021-09-30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144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2021-09-30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899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2021-09-30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807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2021-09-30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68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2021-09-30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314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2021-09-30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755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2021-09-30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940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2021-09-30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963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2021-09-30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567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522966" y="2349815"/>
            <a:ext cx="7956016" cy="23348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4400" b="1" i="1" kern="0" dirty="0">
                <a:solidFill>
                  <a:srgbClr val="FFC000"/>
                </a:solidFill>
              </a:rPr>
              <a:t>Data Science Applications </a:t>
            </a:r>
            <a:r>
              <a:rPr lang="ko-KR" altLang="en-US" sz="4400" b="1" i="1" kern="0" dirty="0">
                <a:solidFill>
                  <a:srgbClr val="FFC000"/>
                </a:solidFill>
              </a:rPr>
              <a:t>조별과제</a:t>
            </a:r>
            <a:r>
              <a:rPr lang="en-US" altLang="ko-KR" sz="4400" b="1" i="1" kern="0" dirty="0">
                <a:solidFill>
                  <a:srgbClr val="FFC000"/>
                </a:solidFill>
              </a:rPr>
              <a:t> 5</a:t>
            </a:r>
            <a:r>
              <a:rPr lang="ko-KR" altLang="en-US" sz="4400" b="1" i="1" kern="0" dirty="0">
                <a:solidFill>
                  <a:srgbClr val="FFC000"/>
                </a:solidFill>
              </a:rPr>
              <a:t>주차 </a:t>
            </a:r>
            <a:endParaRPr lang="en-US" altLang="ko-KR" sz="4400" b="1" i="1" kern="0" dirty="0">
              <a:solidFill>
                <a:srgbClr val="FFC000"/>
              </a:solidFill>
            </a:endParaRPr>
          </a:p>
          <a:p>
            <a:pPr latinLnBrk="0">
              <a:lnSpc>
                <a:spcPct val="150000"/>
              </a:lnSpc>
              <a:defRPr/>
            </a:pPr>
            <a:r>
              <a:rPr lang="en-US" altLang="ko-KR" sz="1050" kern="0" dirty="0">
                <a:solidFill>
                  <a:prstClr val="white"/>
                </a:solidFill>
              </a:rPr>
              <a:t>KOREA AERO SPACE UNIV.</a:t>
            </a:r>
            <a:endParaRPr lang="ko-KR" altLang="en-US" sz="6000" kern="0" dirty="0">
              <a:solidFill>
                <a:prstClr val="white"/>
              </a:solidFill>
            </a:endParaRPr>
          </a:p>
        </p:txBody>
      </p:sp>
      <p:cxnSp>
        <p:nvCxnSpPr>
          <p:cNvPr id="12" name="직선 연결선 11"/>
          <p:cNvCxnSpPr/>
          <p:nvPr/>
        </p:nvCxnSpPr>
        <p:spPr>
          <a:xfrm>
            <a:off x="6625772" y="3204197"/>
            <a:ext cx="4896000" cy="0"/>
          </a:xfrm>
          <a:prstGeom prst="line">
            <a:avLst/>
          </a:prstGeom>
          <a:ln>
            <a:solidFill>
              <a:srgbClr val="748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7575605" y="3653803"/>
            <a:ext cx="299633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0">
              <a:defRPr/>
            </a:pPr>
            <a:r>
              <a:rPr lang="en-US" altLang="ko-KR" sz="2400" b="1" kern="0" dirty="0">
                <a:solidFill>
                  <a:schemeClr val="bg1"/>
                </a:solidFill>
              </a:rPr>
              <a:t>G</a:t>
            </a:r>
            <a:r>
              <a:rPr lang="ko-KR" altLang="en-US" sz="2400" b="1" kern="0" dirty="0">
                <a:solidFill>
                  <a:schemeClr val="bg1"/>
                </a:solidFill>
              </a:rPr>
              <a:t>조</a:t>
            </a:r>
            <a:endParaRPr lang="en-US" altLang="ko-KR" sz="2400" b="1" kern="0" dirty="0">
              <a:solidFill>
                <a:schemeClr val="bg1"/>
              </a:solidFill>
            </a:endParaRPr>
          </a:p>
          <a:p>
            <a:pPr algn="ctr" latinLnBrk="0">
              <a:defRPr/>
            </a:pPr>
            <a:r>
              <a:rPr lang="en-US" altLang="ko-KR" sz="2400" b="1" kern="0" dirty="0">
                <a:solidFill>
                  <a:schemeClr val="bg1"/>
                </a:solidFill>
              </a:rPr>
              <a:t>2016125032 </a:t>
            </a:r>
            <a:r>
              <a:rPr lang="ko-KR" altLang="en-US" sz="2400" b="1" kern="0" dirty="0" err="1">
                <a:solidFill>
                  <a:schemeClr val="bg1"/>
                </a:solidFill>
              </a:rPr>
              <a:t>손현오</a:t>
            </a:r>
            <a:endParaRPr lang="en-US" altLang="ko-KR" sz="2400" b="1" kern="0" dirty="0">
              <a:solidFill>
                <a:schemeClr val="bg1"/>
              </a:solidFill>
            </a:endParaRPr>
          </a:p>
          <a:p>
            <a:pPr algn="ctr" latinLnBrk="0">
              <a:defRPr/>
            </a:pPr>
            <a:r>
              <a:rPr lang="en-US" altLang="ko-KR" sz="2400" b="1" kern="0" dirty="0">
                <a:solidFill>
                  <a:schemeClr val="bg1"/>
                </a:solidFill>
              </a:rPr>
              <a:t>2019125061 </a:t>
            </a:r>
            <a:r>
              <a:rPr lang="ko-KR" altLang="en-US" sz="2400" b="1" kern="0" dirty="0">
                <a:solidFill>
                  <a:schemeClr val="bg1"/>
                </a:solidFill>
              </a:rPr>
              <a:t>조민성</a:t>
            </a:r>
            <a:endParaRPr lang="en-US" altLang="ko-KR" sz="2400" b="1" kern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9938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1647824" y="370386"/>
            <a:ext cx="7931182" cy="745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defRPr/>
            </a:pPr>
            <a:r>
              <a:rPr lang="en-US" altLang="ko-KR" sz="3200" b="1" kern="0" dirty="0">
                <a:solidFill>
                  <a:srgbClr val="FFC000"/>
                </a:solidFill>
              </a:rPr>
              <a:t>Chapter 4</a:t>
            </a: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800" b="1" kern="0" dirty="0">
                <a:solidFill>
                  <a:prstClr val="white"/>
                </a:solidFill>
              </a:rPr>
              <a:t>KOREA AERO SPACE UNIV.</a:t>
            </a:r>
            <a:endParaRPr lang="ko-KR" altLang="en-US" sz="4400" b="1" kern="0" dirty="0">
              <a:solidFill>
                <a:prstClr val="white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247C627-7500-4103-A520-ADE782344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811" y="2876473"/>
            <a:ext cx="6830378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670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defRPr/>
            </a:pPr>
            <a:r>
              <a:rPr lang="en-US" altLang="ko-KR" sz="2800" b="1" kern="0" dirty="0">
                <a:solidFill>
                  <a:srgbClr val="FFC000"/>
                </a:solidFill>
              </a:rPr>
              <a:t>01  (a)</a:t>
            </a:r>
            <a:endParaRPr lang="ko-KR" altLang="en-US" sz="2800" b="1" kern="0" dirty="0">
              <a:solidFill>
                <a:srgbClr val="FFC000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78372" y="1129597"/>
            <a:ext cx="1045253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2400" b="1" kern="0" dirty="0">
                <a:solidFill>
                  <a:srgbClr val="FFC000"/>
                </a:solidFill>
              </a:rPr>
              <a:t>Q. </a:t>
            </a:r>
            <a:r>
              <a:rPr lang="ko-KR" altLang="en-US" sz="2400" b="1" kern="0" dirty="0">
                <a:solidFill>
                  <a:srgbClr val="FFC000"/>
                </a:solidFill>
              </a:rPr>
              <a:t>대규모 의료 클리닉은 인력 충원을 위해 일일 환자 방문을 예측하려고 할 때 지난 달에 대한 데이터만 사용할 수 있는 경우 이것이 </a:t>
            </a:r>
            <a:r>
              <a:rPr lang="en-US" altLang="ko-KR" sz="2400" b="1" kern="0" dirty="0">
                <a:solidFill>
                  <a:srgbClr val="FFC000"/>
                </a:solidFill>
              </a:rPr>
              <a:t>model-based</a:t>
            </a:r>
            <a:r>
              <a:rPr lang="ko-KR" altLang="en-US" sz="2400" b="1" kern="0" dirty="0">
                <a:solidFill>
                  <a:srgbClr val="FFC000"/>
                </a:solidFill>
              </a:rPr>
              <a:t> 방법과 </a:t>
            </a:r>
            <a:r>
              <a:rPr lang="en-US" altLang="ko-KR" sz="2400" b="1" kern="0" dirty="0">
                <a:solidFill>
                  <a:srgbClr val="FFC000"/>
                </a:solidFill>
              </a:rPr>
              <a:t>data-driven</a:t>
            </a:r>
            <a:r>
              <a:rPr lang="ko-KR" altLang="en-US" sz="2400" b="1" kern="0" dirty="0">
                <a:solidFill>
                  <a:srgbClr val="FFC000"/>
                </a:solidFill>
              </a:rPr>
              <a:t> 방법의 선택에 어떤 영향을 미치는 가</a:t>
            </a:r>
            <a:r>
              <a:rPr lang="en-US" altLang="ko-KR" sz="2400" b="1" kern="0" dirty="0">
                <a:solidFill>
                  <a:srgbClr val="FFC000"/>
                </a:solidFill>
              </a:rPr>
              <a:t>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CBEF8A-44C8-4A49-9B9B-1157D1858169}"/>
              </a:ext>
            </a:extLst>
          </p:cNvPr>
          <p:cNvSpPr txBox="1"/>
          <p:nvPr/>
        </p:nvSpPr>
        <p:spPr>
          <a:xfrm>
            <a:off x="228600" y="2401107"/>
            <a:ext cx="11506200" cy="2531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b="1" dirty="0">
                <a:solidFill>
                  <a:schemeClr val="bg1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의원에서도 일주일</a:t>
            </a:r>
            <a:r>
              <a:rPr lang="ko-KR" altLang="en-US" b="1" dirty="0">
                <a:solidFill>
                  <a:schemeClr val="bg1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을 주기로 패턴이 있을 것이고 매출에도 계절성을 가지고 있음</a:t>
            </a:r>
            <a:endParaRPr lang="en-US" altLang="ko-KR" b="1" dirty="0">
              <a:solidFill>
                <a:schemeClr val="bg1"/>
              </a:solidFill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800" b="1" dirty="0">
                <a:solidFill>
                  <a:schemeClr val="bg1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시계열이라서 하나의 변수이고</a:t>
            </a:r>
            <a:r>
              <a:rPr lang="en-US" altLang="ko-KR" sz="1800" b="1" dirty="0">
                <a:solidFill>
                  <a:schemeClr val="bg1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b="1" dirty="0">
                <a:solidFill>
                  <a:schemeClr val="bg1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한 변수에 대해서 </a:t>
            </a:r>
            <a:r>
              <a:rPr lang="en-US" altLang="ko-KR" sz="1800" b="1" dirty="0">
                <a:solidFill>
                  <a:schemeClr val="bg1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30</a:t>
            </a:r>
            <a:r>
              <a:rPr lang="ko-KR" altLang="ko-KR" sz="1800" b="1" dirty="0">
                <a:solidFill>
                  <a:schemeClr val="bg1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개의 데이터가 있고 변수의 숫자와 파라미터의 숫자가 늘어나면 날수록 모델을 만들기 위한 데이터들</a:t>
            </a:r>
            <a:r>
              <a:rPr lang="ko-KR" altLang="en-US" sz="1800" b="1" dirty="0">
                <a:solidFill>
                  <a:schemeClr val="bg1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의 양이</a:t>
            </a:r>
            <a:r>
              <a:rPr lang="ko-KR" altLang="ko-KR" sz="1800" b="1" dirty="0">
                <a:solidFill>
                  <a:schemeClr val="bg1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800" b="1" dirty="0">
                <a:solidFill>
                  <a:schemeClr val="bg1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지수적으로 </a:t>
            </a:r>
            <a:r>
              <a:rPr lang="ko-KR" altLang="ko-KR" sz="1800" b="1" dirty="0">
                <a:solidFill>
                  <a:schemeClr val="bg1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커</a:t>
            </a:r>
            <a:r>
              <a:rPr lang="ko-KR" altLang="en-US" sz="1800" b="1" dirty="0">
                <a:solidFill>
                  <a:schemeClr val="bg1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짐</a:t>
            </a:r>
            <a:endParaRPr lang="en-US" altLang="ko-KR" b="1" dirty="0">
              <a:solidFill>
                <a:schemeClr val="bg1"/>
              </a:solidFill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b="1" dirty="0">
                <a:solidFill>
                  <a:schemeClr val="bg1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데이터에서 일정한</a:t>
            </a:r>
            <a:r>
              <a:rPr lang="en-US" altLang="ko-KR" sz="1800" b="1" dirty="0">
                <a:solidFill>
                  <a:schemeClr val="bg1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800" b="1" dirty="0">
                <a:solidFill>
                  <a:schemeClr val="bg1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계절성</a:t>
            </a:r>
            <a:r>
              <a:rPr lang="en-US" altLang="ko-KR" sz="1800" b="1" dirty="0">
                <a:solidFill>
                  <a:schemeClr val="bg1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800" b="1" dirty="0">
                <a:solidFill>
                  <a:schemeClr val="bg1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추세</a:t>
            </a:r>
            <a:r>
              <a:rPr lang="en-US" altLang="ko-KR" sz="1800" b="1" dirty="0">
                <a:solidFill>
                  <a:schemeClr val="bg1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) </a:t>
            </a:r>
            <a:r>
              <a:rPr lang="ko-KR" altLang="en-US" sz="1800" b="1" dirty="0">
                <a:solidFill>
                  <a:schemeClr val="bg1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패턴이 보이면 </a:t>
            </a:r>
            <a:r>
              <a:rPr lang="en-US" altLang="ko-KR" sz="1800" b="1" dirty="0">
                <a:solidFill>
                  <a:schemeClr val="bg1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model-based </a:t>
            </a:r>
            <a:r>
              <a:rPr lang="ko-KR" altLang="en-US" sz="1800" b="1" dirty="0">
                <a:solidFill>
                  <a:schemeClr val="bg1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방법이 </a:t>
            </a:r>
            <a:r>
              <a:rPr lang="ko-KR" altLang="en-US" b="1" dirty="0">
                <a:solidFill>
                  <a:schemeClr val="bg1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좋음</a:t>
            </a:r>
            <a:r>
              <a:rPr lang="en-US" altLang="ko-KR" b="1" dirty="0">
                <a:solidFill>
                  <a:schemeClr val="bg1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(global pattern)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b="1" dirty="0">
                <a:solidFill>
                  <a:schemeClr val="bg1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데이터에서 눈으로 볼 수 없는 패턴이 없거나 시계열의 변동이 </a:t>
            </a:r>
            <a:r>
              <a:rPr lang="ko-KR" altLang="en-US" sz="1800" b="1" dirty="0" err="1">
                <a:solidFill>
                  <a:schemeClr val="bg1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에측되는</a:t>
            </a:r>
            <a:r>
              <a:rPr lang="ko-KR" altLang="en-US" sz="1800" b="1" dirty="0">
                <a:solidFill>
                  <a:schemeClr val="bg1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경우 </a:t>
            </a:r>
            <a:r>
              <a:rPr lang="en-US" altLang="ko-KR" sz="1800" b="1" dirty="0">
                <a:solidFill>
                  <a:schemeClr val="bg1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data-driven </a:t>
            </a:r>
            <a:r>
              <a:rPr lang="ko-KR" altLang="en-US" sz="1800" b="1" dirty="0">
                <a:solidFill>
                  <a:schemeClr val="bg1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방법이 좋음</a:t>
            </a:r>
            <a:r>
              <a:rPr lang="en-US" altLang="ko-KR" b="1" dirty="0">
                <a:solidFill>
                  <a:schemeClr val="bg1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(local</a:t>
            </a:r>
            <a:r>
              <a:rPr lang="ko-KR" altLang="en-US" b="1" dirty="0">
                <a:solidFill>
                  <a:schemeClr val="bg1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solidFill>
                  <a:schemeClr val="bg1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pattern)</a:t>
            </a:r>
            <a:endParaRPr lang="en-US" altLang="ko-KR" sz="1800" b="1" dirty="0">
              <a:solidFill>
                <a:schemeClr val="bg1"/>
              </a:solidFill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811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01  (b)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78372" y="1129597"/>
            <a:ext cx="104525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Q. </a:t>
            </a:r>
            <a:r>
              <a:rPr kumimoji="0" lang="ko-KR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의원 옆 인근 병원의 입원 환자 수를 알고 있으면</a:t>
            </a:r>
            <a:r>
              <a:rPr lang="en-US" altLang="ko-KR" sz="2400" b="1" kern="0" dirty="0">
                <a:solidFill>
                  <a:srgbClr val="FFC000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kumimoji="0" lang="ko-KR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어떤 조건에서 병원의 일일 방문을 예측하는 데 잠재적으로 유용한가</a:t>
            </a: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CBEF8A-44C8-4A49-9B9B-1157D1858169}"/>
              </a:ext>
            </a:extLst>
          </p:cNvPr>
          <p:cNvSpPr txBox="1"/>
          <p:nvPr/>
        </p:nvSpPr>
        <p:spPr>
          <a:xfrm>
            <a:off x="228600" y="2401107"/>
            <a:ext cx="11506200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서로 상관관계가 있을 것</a:t>
            </a:r>
            <a:r>
              <a:rPr lang="en-US" altLang="ko-KR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 </a:t>
            </a:r>
            <a:r>
              <a:rPr lang="ko-KR" altLang="en-US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인근 병원의 입원 환자 수가 늘면 의원 환자 수도 늘 것임 </a:t>
            </a:r>
            <a:r>
              <a:rPr lang="en-US" altLang="ko-KR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(ex </a:t>
            </a:r>
            <a:r>
              <a:rPr lang="ko-KR" altLang="en-US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독감 시즌</a:t>
            </a:r>
            <a:r>
              <a:rPr lang="en-US" altLang="ko-KR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</a:p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데이터의 사용 가능성을 따져본다면</a:t>
            </a:r>
            <a:r>
              <a:rPr lang="en-US" altLang="ko-KR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ko-KR" altLang="en-US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예측을 할 때 병원의 데이터가 얼마나 사용이 가능 한지도 고려해야함</a:t>
            </a:r>
            <a:r>
              <a:rPr lang="en-US" altLang="ko-KR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.</a:t>
            </a:r>
          </a:p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예측 기법에 어떤 외부정보를 통합시킬 경우에 예측 시점에 그 정보가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이용가능해야함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.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753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01  (c)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78372" y="1129597"/>
            <a:ext cx="113564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Q. </a:t>
            </a:r>
            <a:r>
              <a:rPr kumimoji="0" lang="ko-KR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지금까지 병원 관리자는 저번 주의 같은 날 방문 횟수를 예측으로 사용하여 휴리스틱 접근 방식을 취했는데 이 접근 방식의 장점과 단점은 무엇입니까</a:t>
            </a: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</a:t>
            </a:r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93578D4D-BD19-4D20-9F2C-CC07A4B749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784133"/>
              </p:ext>
            </p:extLst>
          </p:nvPr>
        </p:nvGraphicFramePr>
        <p:xfrm>
          <a:off x="1727200" y="2941320"/>
          <a:ext cx="81280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940996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556347620"/>
                    </a:ext>
                  </a:extLst>
                </a:gridCol>
              </a:tblGrid>
              <a:tr h="2715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장점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단점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8887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실행과 속도가 빠름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찾기가 어려운 대답에 대해서 답하기 편리함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판단 할 때 인지 편향 같은 오류들이 발생함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정확도가 좋지 않음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보편적이지 않음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296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1972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01  (</a:t>
            </a:r>
            <a:r>
              <a:rPr kumimoji="0" lang="en-US" altLang="ko-KR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d,e</a:t>
            </a: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78372" y="1129597"/>
            <a:ext cx="104525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d) Q. </a:t>
            </a:r>
            <a:r>
              <a:rPr lang="ko-KR" altLang="en-US" sz="2400" b="1" kern="0" dirty="0">
                <a:solidFill>
                  <a:srgbClr val="FFC000"/>
                </a:solidFill>
                <a:latin typeface="맑은 고딕" panose="020F0502020204030204"/>
                <a:ea typeface="맑은 고딕" panose="020B0503020000020004" pitchFamily="50" charset="-127"/>
              </a:rPr>
              <a:t>예측 자동화에 필요한 </a:t>
            </a:r>
            <a:r>
              <a:rPr lang="en-US" altLang="ko-KR" sz="2400" b="1" kern="0" dirty="0">
                <a:solidFill>
                  <a:srgbClr val="FFC000"/>
                </a:solidFill>
                <a:latin typeface="맑은 고딕" panose="020F0502020204030204"/>
                <a:ea typeface="맑은 고딕" panose="020B0503020000020004" pitchFamily="50" charset="-127"/>
              </a:rPr>
              <a:t>level</a:t>
            </a:r>
            <a:r>
              <a:rPr lang="ko-KR" altLang="en-US" sz="2400" b="1" kern="0" dirty="0">
                <a:solidFill>
                  <a:srgbClr val="FFC000"/>
                </a:solidFill>
                <a:latin typeface="맑은 고딕" panose="020F0502020204030204"/>
                <a:ea typeface="맑은 고딕" panose="020B0503020000020004" pitchFamily="50" charset="-127"/>
              </a:rPr>
              <a:t>은</a:t>
            </a:r>
            <a:r>
              <a:rPr lang="en-US" altLang="ko-KR" sz="2400" b="1" kern="0" dirty="0">
                <a:solidFill>
                  <a:srgbClr val="FFC000"/>
                </a:solidFill>
                <a:latin typeface="맑은 고딕" panose="020F0502020204030204"/>
                <a:ea typeface="맑은 고딕" panose="020B0503020000020004" pitchFamily="50" charset="-127"/>
              </a:rPr>
              <a:t>?</a:t>
            </a:r>
            <a:endParaRPr kumimoji="0" lang="en-US" altLang="ko-KR" sz="24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CBEF8A-44C8-4A49-9B9B-1157D1858169}"/>
              </a:ext>
            </a:extLst>
          </p:cNvPr>
          <p:cNvSpPr txBox="1"/>
          <p:nvPr/>
        </p:nvSpPr>
        <p:spPr>
          <a:xfrm>
            <a:off x="378372" y="1850795"/>
            <a:ext cx="11506200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병원의 규모</a:t>
            </a:r>
            <a:r>
              <a:rPr lang="ko-KR" altLang="en-US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와 사정에 따라 자동화 혹은 수동화를 할 수가 있음</a:t>
            </a:r>
            <a:r>
              <a:rPr lang="en-US" altLang="ko-KR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DB40F4D-5919-4D3A-8D47-D9F8EFE04BD0}"/>
              </a:ext>
            </a:extLst>
          </p:cNvPr>
          <p:cNvSpPr/>
          <p:nvPr/>
        </p:nvSpPr>
        <p:spPr>
          <a:xfrm>
            <a:off x="378372" y="2866957"/>
            <a:ext cx="104525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e) Q. </a:t>
            </a:r>
            <a:r>
              <a:rPr lang="ko-KR" altLang="en-US" sz="2400" b="1" kern="0" dirty="0">
                <a:solidFill>
                  <a:srgbClr val="FFC000"/>
                </a:solidFill>
                <a:latin typeface="맑은 고딕" panose="020F0502020204030204"/>
                <a:ea typeface="맑은 고딕" panose="020B0503020000020004" pitchFamily="50" charset="-127"/>
              </a:rPr>
              <a:t>앙상블을 사용하여 현재의 </a:t>
            </a:r>
            <a:r>
              <a:rPr lang="en-US" altLang="ko-KR" sz="2400" b="1" kern="0" dirty="0">
                <a:solidFill>
                  <a:srgbClr val="FFC000"/>
                </a:solidFill>
                <a:latin typeface="맑은 고딕" panose="020F0502020204030204"/>
                <a:ea typeface="맑은 고딕" panose="020B0503020000020004" pitchFamily="50" charset="-127"/>
              </a:rPr>
              <a:t>heuristic(</a:t>
            </a:r>
            <a:r>
              <a:rPr lang="en-US" altLang="ko-KR" sz="2400" b="1" kern="0" dirty="0" err="1">
                <a:solidFill>
                  <a:srgbClr val="FFC000"/>
                </a:solidFill>
                <a:latin typeface="맑은 고딕" panose="020F0502020204030204"/>
                <a:ea typeface="맑은 고딕" panose="020B0503020000020004" pitchFamily="50" charset="-127"/>
              </a:rPr>
              <a:t>navie</a:t>
            </a:r>
            <a:r>
              <a:rPr lang="en-US" altLang="ko-KR" sz="2400" b="1" kern="0" dirty="0">
                <a:solidFill>
                  <a:srgbClr val="FFC000"/>
                </a:solidFill>
                <a:latin typeface="맑은 고딕" panose="020F0502020204030204"/>
                <a:ea typeface="맑은 고딕" panose="020B0503020000020004" pitchFamily="50" charset="-127"/>
              </a:rPr>
              <a:t>) </a:t>
            </a:r>
            <a:r>
              <a:rPr lang="ko-KR" altLang="en-US" sz="2400" b="1" kern="0" dirty="0">
                <a:solidFill>
                  <a:srgbClr val="FFC000"/>
                </a:solidFill>
                <a:latin typeface="맑은 고딕" panose="020F0502020204030204"/>
                <a:ea typeface="맑은 고딕" panose="020B0503020000020004" pitchFamily="50" charset="-127"/>
              </a:rPr>
              <a:t>예측 접근 방식을 개선하기 위한 두 가지 접근 방식을 설명하십시오</a:t>
            </a:r>
            <a:r>
              <a:rPr lang="en-US" altLang="ko-KR" sz="2400" b="1" kern="0" dirty="0">
                <a:solidFill>
                  <a:srgbClr val="FFC000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endParaRPr kumimoji="0" lang="en-US" altLang="ko-KR" sz="24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80448C-2887-4D59-8A3B-8A5CFEFBBDB7}"/>
              </a:ext>
            </a:extLst>
          </p:cNvPr>
          <p:cNvSpPr txBox="1"/>
          <p:nvPr/>
        </p:nvSpPr>
        <p:spPr>
          <a:xfrm>
            <a:off x="378372" y="4259824"/>
            <a:ext cx="11506200" cy="2116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model-based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과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data-driven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 방법의 앙상블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앙상블은 여러 개의 서브 모델들을 통합해서 예측함으로 정확도를 높이는 것으로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, model-based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와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data-driven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두가지 방법의 앙상블을 이용하면 정확도를 높일 수 있음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단순 예측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외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삽법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외부 정보 이용하는 방법의 앙상블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: 3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가지 방법을 이용하면 발견이 수월하며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서로 다른 계열 간의 인과 관계를 이용해서 계열 간의 연관성을 파악할 수 있으며 외부 정보도 이용해서 현재의 방법보다 예측의 정확도를 높일 수 있음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66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02  (a)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78372" y="1129597"/>
            <a:ext cx="104525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Q. </a:t>
            </a:r>
            <a:r>
              <a:rPr lang="ko-KR" altLang="en-US" sz="2400" b="1" kern="0" dirty="0">
                <a:solidFill>
                  <a:srgbClr val="FFC000"/>
                </a:solidFill>
                <a:latin typeface="맑은 고딕" panose="020F0502020204030204"/>
                <a:ea typeface="맑은 고딕" panose="020B0503020000020004" pitchFamily="50" charset="-127"/>
              </a:rPr>
              <a:t>네 가지 유형의 방법 각각에 대해 </a:t>
            </a:r>
            <a:r>
              <a:rPr lang="en-US" altLang="ko-KR" sz="2400" b="1" kern="0" dirty="0">
                <a:solidFill>
                  <a:srgbClr val="FFC000"/>
                </a:solidFill>
                <a:latin typeface="맑은 고딕" panose="020F0502020204030204"/>
                <a:ea typeface="맑은 고딕" panose="020B0503020000020004" pitchFamily="50" charset="-127"/>
              </a:rPr>
              <a:t>model-based, data-driven, combination</a:t>
            </a:r>
            <a:r>
              <a:rPr lang="ko-KR" altLang="en-US" sz="2400" b="1" kern="0" dirty="0">
                <a:solidFill>
                  <a:srgbClr val="FFC000"/>
                </a:solidFill>
                <a:latin typeface="맑은 고딕" panose="020F0502020204030204"/>
                <a:ea typeface="맑은 고딕" panose="020B0503020000020004" pitchFamily="50" charset="-127"/>
              </a:rPr>
              <a:t>인지</a:t>
            </a:r>
            <a:r>
              <a:rPr lang="en-US" altLang="ko-KR" sz="2400" b="1" kern="0" dirty="0">
                <a:solidFill>
                  <a:srgbClr val="FFC000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2400" b="1" kern="0" dirty="0">
                <a:solidFill>
                  <a:srgbClr val="FFC000"/>
                </a:solidFill>
                <a:latin typeface="맑은 고딕" panose="020F0502020204030204"/>
                <a:ea typeface="맑은 고딕" panose="020B0503020000020004" pitchFamily="50" charset="-127"/>
              </a:rPr>
              <a:t>설명합니다</a:t>
            </a:r>
            <a:r>
              <a:rPr lang="en-US" altLang="ko-KR" sz="2400" b="1" kern="0" dirty="0">
                <a:solidFill>
                  <a:srgbClr val="FFC000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endParaRPr kumimoji="0" lang="en-US" altLang="ko-KR" sz="24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CBEF8A-44C8-4A49-9B9B-1157D1858169}"/>
              </a:ext>
            </a:extLst>
          </p:cNvPr>
          <p:cNvSpPr txBox="1"/>
          <p:nvPr/>
        </p:nvSpPr>
        <p:spPr>
          <a:xfrm>
            <a:off x="228600" y="2401107"/>
            <a:ext cx="11506200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08B99225-6642-4096-B4FC-3CF2A82E88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945940"/>
              </p:ext>
            </p:extLst>
          </p:nvPr>
        </p:nvGraphicFramePr>
        <p:xfrm>
          <a:off x="1666240" y="2401107"/>
          <a:ext cx="8128000" cy="3734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320">
                  <a:extLst>
                    <a:ext uri="{9D8B030D-6E8A-4147-A177-3AD203B41FA5}">
                      <a16:colId xmlns:a16="http://schemas.microsoft.com/office/drawing/2014/main" val="928382611"/>
                    </a:ext>
                  </a:extLst>
                </a:gridCol>
                <a:gridCol w="5313680">
                  <a:extLst>
                    <a:ext uri="{9D8B030D-6E8A-4147-A177-3AD203B41FA5}">
                      <a16:colId xmlns:a16="http://schemas.microsoft.com/office/drawing/2014/main" val="1992956536"/>
                    </a:ext>
                  </a:extLst>
                </a:gridCol>
              </a:tblGrid>
              <a:tr h="42269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133213"/>
                  </a:ext>
                </a:extLst>
              </a:tr>
              <a:tr h="7078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Persistence Method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지금의 값이 한 시점 미래에도 그대로 유지가 될 것임</a:t>
                      </a:r>
                      <a:r>
                        <a:rPr lang="en-US" altLang="ko-KR" dirty="0"/>
                        <a:t> (ex. Naive </a:t>
                      </a:r>
                      <a:r>
                        <a:rPr lang="ko-KR" altLang="en-US" dirty="0"/>
                        <a:t>단순 예측</a:t>
                      </a:r>
                      <a:r>
                        <a:rPr lang="en-US" altLang="ko-KR" dirty="0"/>
                        <a:t>)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 data-driven 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방법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2058192"/>
                  </a:ext>
                </a:extLst>
              </a:tr>
              <a:tr h="7078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Physical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Approach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수학을 동원해서 순수한 계산에 의해서 </a:t>
                      </a:r>
                      <a:r>
                        <a:rPr lang="ko-KR" altLang="en-US" dirty="0" err="1"/>
                        <a:t>예측값을</a:t>
                      </a:r>
                      <a:r>
                        <a:rPr lang="ko-KR" altLang="en-US" dirty="0"/>
                        <a:t> 만드는 시스템의 경우는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 해당 분야의 전문적 지식이나 환경 요건들을 이용해서 계산을 하기에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 model-based 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방법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389295"/>
                  </a:ext>
                </a:extLst>
              </a:tr>
              <a:tr h="7078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Statistical Approach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과거 데이터를 이용해서 통계적인 방법을 사용함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latinLnBrk="1"/>
                      <a:r>
                        <a:rPr lang="en-US" altLang="ko-KR" dirty="0">
                          <a:sym typeface="Wingdings" panose="05000000000000000000" pitchFamily="2" charset="2"/>
                        </a:rPr>
                        <a:t> model-based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방법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082328"/>
                  </a:ext>
                </a:extLst>
              </a:tr>
              <a:tr h="7078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Hybrid Approach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여러 방법을 섞어서 쓰는 방법 </a:t>
                      </a:r>
                      <a:r>
                        <a:rPr lang="en-US" altLang="ko-KR" dirty="0"/>
                        <a:t>(ex. </a:t>
                      </a:r>
                      <a:r>
                        <a:rPr lang="ko-KR" altLang="en-US" dirty="0"/>
                        <a:t>앙상블</a:t>
                      </a:r>
                      <a:r>
                        <a:rPr lang="en-US" altLang="ko-KR" dirty="0"/>
                        <a:t>)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 combination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 방법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2848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5242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02  (b)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78372" y="1129597"/>
            <a:ext cx="104525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Q. </a:t>
            </a:r>
            <a:r>
              <a:rPr kumimoji="0" lang="ko-KR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네 가지 유형의 방법에 대해서 어떤 것에 기반을 두는가</a:t>
            </a: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CBEF8A-44C8-4A49-9B9B-1157D1858169}"/>
              </a:ext>
            </a:extLst>
          </p:cNvPr>
          <p:cNvSpPr txBox="1"/>
          <p:nvPr/>
        </p:nvSpPr>
        <p:spPr>
          <a:xfrm>
            <a:off x="228600" y="2401107"/>
            <a:ext cx="11506200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08B99225-6642-4096-B4FC-3CF2A82E88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59591"/>
              </p:ext>
            </p:extLst>
          </p:nvPr>
        </p:nvGraphicFramePr>
        <p:xfrm>
          <a:off x="1711960" y="2171498"/>
          <a:ext cx="8128000" cy="3253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320">
                  <a:extLst>
                    <a:ext uri="{9D8B030D-6E8A-4147-A177-3AD203B41FA5}">
                      <a16:colId xmlns:a16="http://schemas.microsoft.com/office/drawing/2014/main" val="928382611"/>
                    </a:ext>
                  </a:extLst>
                </a:gridCol>
                <a:gridCol w="5313680">
                  <a:extLst>
                    <a:ext uri="{9D8B030D-6E8A-4147-A177-3AD203B41FA5}">
                      <a16:colId xmlns:a16="http://schemas.microsoft.com/office/drawing/2014/main" val="1992956536"/>
                    </a:ext>
                  </a:extLst>
                </a:gridCol>
              </a:tblGrid>
              <a:tr h="42269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133213"/>
                  </a:ext>
                </a:extLst>
              </a:tr>
              <a:tr h="7078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extrapolation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과거 데이터 기반 예측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2058192"/>
                  </a:ext>
                </a:extLst>
              </a:tr>
              <a:tr h="7078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causal modeling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물리와 수학적 모델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389295"/>
                  </a:ext>
                </a:extLst>
              </a:tr>
              <a:tr h="7078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correlation modeling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패턴을 기반함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082328"/>
                  </a:ext>
                </a:extLst>
              </a:tr>
              <a:tr h="7078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 combination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혼합으로 합니다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2848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1592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02  (c)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78372" y="1129597"/>
            <a:ext cx="104525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Q. Hybrid approach</a:t>
            </a:r>
            <a:r>
              <a:rPr kumimoji="0" lang="ko-KR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의 장단점은</a:t>
            </a: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CBEF8A-44C8-4A49-9B9B-1157D1858169}"/>
              </a:ext>
            </a:extLst>
          </p:cNvPr>
          <p:cNvSpPr txBox="1"/>
          <p:nvPr/>
        </p:nvSpPr>
        <p:spPr>
          <a:xfrm>
            <a:off x="228600" y="2401107"/>
            <a:ext cx="11506200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9" name="표 2">
            <a:extLst>
              <a:ext uri="{FF2B5EF4-FFF2-40B4-BE49-F238E27FC236}">
                <a16:creationId xmlns:a16="http://schemas.microsoft.com/office/drawing/2014/main" id="{EF094BD6-C0C6-499E-942F-AA651EC2C7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067520"/>
              </p:ext>
            </p:extLst>
          </p:nvPr>
        </p:nvGraphicFramePr>
        <p:xfrm>
          <a:off x="1727200" y="2941320"/>
          <a:ext cx="81280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940996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556347620"/>
                    </a:ext>
                  </a:extLst>
                </a:gridCol>
              </a:tblGrid>
              <a:tr h="2715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장점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단점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8887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서브 모델들을 통합함으로 예측의 정확도를 높일 수 있음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성능 개선 효과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양의 상관 관계이거나 음의 상관 관계이면 비슷한 예측을 하게 되어서 서브 모델들의 예측 결과가 비슷함</a:t>
                      </a:r>
                      <a:r>
                        <a:rPr lang="en-US" altLang="ko-KR" dirty="0"/>
                        <a:t>.</a:t>
                      </a:r>
                      <a:r>
                        <a:rPr lang="ko-KR" alt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296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902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99683CD-5327-43A5-BBDB-DEE950C000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0024" y="1243661"/>
            <a:ext cx="9144000" cy="2387600"/>
          </a:xfrm>
          <a:solidFill>
            <a:srgbClr val="354BA1"/>
          </a:solidFill>
        </p:spPr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</a:rPr>
              <a:t>감사합니다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2292500"/>
      </p:ext>
    </p:extLst>
  </p:cSld>
  <p:clrMapOvr>
    <a:masterClrMapping/>
  </p:clrMapOvr>
</p:sld>
</file>

<file path=ppt/theme/theme1.xml><?xml version="1.0" encoding="utf-8"?>
<a:theme xmlns:a="http://schemas.openxmlformats.org/drawingml/2006/main" name="7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7BFF985544F2743B28ACC715ADD8BA6" ma:contentTypeVersion="6" ma:contentTypeDescription="새 문서를 만듭니다." ma:contentTypeScope="" ma:versionID="9989f32a0a98f6e0a033ac716a142466">
  <xsd:schema xmlns:xsd="http://www.w3.org/2001/XMLSchema" xmlns:xs="http://www.w3.org/2001/XMLSchema" xmlns:p="http://schemas.microsoft.com/office/2006/metadata/properties" xmlns:ns2="ef95c4c0-bf8b-426c-ad8a-ca26a879c726" targetNamespace="http://schemas.microsoft.com/office/2006/metadata/properties" ma:root="true" ma:fieldsID="b1b0f4ec7a4b0e812ba6cadb2c446972" ns2:_="">
    <xsd:import namespace="ef95c4c0-bf8b-426c-ad8a-ca26a879c7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95c4c0-bf8b-426c-ad8a-ca26a879c7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686537D-DF0B-4BE3-9A4C-93C63B4EAF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f95c4c0-bf8b-426c-ad8a-ca26a879c7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4E96D98-BA92-442D-A9AE-EF94A58965B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02179EB-61C1-45DF-BBCA-F7F7E4193D4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3623</TotalTime>
  <Words>550</Words>
  <Application>Microsoft Office PowerPoint</Application>
  <PresentationFormat>와이드스크린</PresentationFormat>
  <Paragraphs>62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Wingdings</vt:lpstr>
      <vt:lpstr>7_Office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감사합니다.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조현석</dc:creator>
  <cp:lastModifiedBy>조민성(***9***061)</cp:lastModifiedBy>
  <cp:revision>129</cp:revision>
  <dcterms:created xsi:type="dcterms:W3CDTF">2020-08-28T03:04:35Z</dcterms:created>
  <dcterms:modified xsi:type="dcterms:W3CDTF">2021-09-30T11:19:29Z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0x01010057BFF985544F2743B28ACC715ADD8BA6</vt:lpwstr>
  </property>
</Properties>
</file>