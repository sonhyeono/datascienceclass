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  <p:sldId id="266" r:id="rId4"/>
    <p:sldId id="258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6" d="100"/>
          <a:sy n="86" d="100"/>
        </p:scale>
        <p:origin x="379" y="6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2022-02-09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97280" y="1563800"/>
            <a:ext cx="10687050" cy="23365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5200" b="1">
                <a:solidFill>
                  <a:schemeClr val="tx1">
                    <a:lumMod val="95000"/>
                    <a:lumOff val="5000"/>
                  </a:schemeClr>
                </a:solidFill>
                <a:ea typeface="맑은 고딕"/>
              </a:rPr>
              <a:t>데이터 사이언스 응용 </a:t>
            </a:r>
            <a:r>
              <a:rPr lang="en-US" altLang="ko-KR" sz="52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/>
              </a:rPr>
              <a:t>3</a:t>
            </a:r>
            <a:r>
              <a:rPr lang="ko-KR" altLang="en-US" sz="52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/>
              </a:rPr>
              <a:t>주차 과제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anchor="t">
            <a:normAutofit/>
          </a:bodyPr>
          <a:lstStyle/>
          <a:p>
            <a:pPr lvl="0">
              <a:defRPr/>
            </a:pPr>
            <a:r>
              <a:rPr lang="en-US" altLang="ko-KR" dirty="0" err="1">
                <a:solidFill>
                  <a:schemeClr val="bg1"/>
                </a:solidFill>
                <a:ea typeface="+mn-lt"/>
                <a:cs typeface="+mn-lt"/>
              </a:rPr>
              <a:t>손현오</a:t>
            </a:r>
            <a:endParaRPr lang="ko-KR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581F1C-14BB-4127-B998-688FC9E7B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834" y="1487852"/>
            <a:ext cx="1792846" cy="416259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9900792-661E-4A1F-9527-A60AC0528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22" y="1487852"/>
            <a:ext cx="3071927" cy="4127901"/>
          </a:xfrm>
          <a:prstGeom prst="rect">
            <a:avLst/>
          </a:prstGeom>
        </p:spPr>
      </p:pic>
      <p:graphicFrame>
        <p:nvGraphicFramePr>
          <p:cNvPr id="16" name="표 16">
            <a:extLst>
              <a:ext uri="{FF2B5EF4-FFF2-40B4-BE49-F238E27FC236}">
                <a16:creationId xmlns:a16="http://schemas.microsoft.com/office/drawing/2014/main" id="{B9BA0FCD-EAB0-4F9A-9F40-8D1F165CA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587038"/>
              </p:ext>
            </p:extLst>
          </p:nvPr>
        </p:nvGraphicFramePr>
        <p:xfrm>
          <a:off x="6942827" y="1642943"/>
          <a:ext cx="4446025" cy="3300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6025">
                  <a:extLst>
                    <a:ext uri="{9D8B030D-6E8A-4147-A177-3AD203B41FA5}">
                      <a16:colId xmlns:a16="http://schemas.microsoft.com/office/drawing/2014/main" val="1335554820"/>
                    </a:ext>
                  </a:extLst>
                </a:gridCol>
              </a:tblGrid>
              <a:tr h="3456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ea typeface="맑은 고딕"/>
                        </a:rPr>
                        <a:t>주 교제 예제 문제 </a:t>
                      </a:r>
                      <a:r>
                        <a:rPr lang="en-US" altLang="ko-KR" sz="1800" dirty="0">
                          <a:ea typeface="맑은 고딕"/>
                        </a:rPr>
                        <a:t>1</a:t>
                      </a:r>
                      <a:r>
                        <a:rPr lang="ko-KR" altLang="en-US" sz="1800" dirty="0">
                          <a:ea typeface="맑은 고딕"/>
                        </a:rPr>
                        <a:t>번</a:t>
                      </a:r>
                      <a:endParaRPr lang="en-US" altLang="ko-KR" sz="1800" dirty="0">
                        <a:ea typeface="맑은 고딕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30808"/>
                  </a:ext>
                </a:extLst>
              </a:tr>
              <a:tr h="5181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SouvenirSales</a:t>
                      </a:r>
                      <a:r>
                        <a:rPr lang="ko-KR" altLang="en-US" dirty="0"/>
                        <a:t> 데이터셋을 이용해서 </a:t>
                      </a:r>
                      <a:endParaRPr lang="en-US" altLang="ko-KR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데이터를 분석 하는데 있어서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단계적으로 봤을 때 파티션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모델생성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평가를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해보고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어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떤 식으로 최종모델을 만들 것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인지에 대한 문제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116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5370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8B7B044-595E-42F3-B693-69A9848C8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en-US" altLang="ko-KR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</a:t>
            </a:r>
            <a:r>
              <a:rPr lang="ko-KR" alt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번 문제</a:t>
            </a:r>
            <a:endParaRPr lang="en-US" altLang="ko-KR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7BA179-04A5-4C1D-A622-E66D09B59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925" y="2665092"/>
            <a:ext cx="4011669" cy="8356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en-US" altLang="ko-KR" sz="2000" dirty="0">
                <a:solidFill>
                  <a:schemeClr val="bg1"/>
                </a:solidFill>
                <a:ea typeface="맑은 고딕"/>
              </a:rPr>
              <a:t>A) </a:t>
            </a:r>
            <a:r>
              <a:rPr lang="ko-KR" altLang="en-US" sz="2000" dirty="0">
                <a:solidFill>
                  <a:schemeClr val="bg1"/>
                </a:solidFill>
                <a:ea typeface="맑은 고딕"/>
              </a:rPr>
              <a:t>데이터가 분할된 이유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D2C2ED-5A88-4AA2-8C0A-D2D2651A9EFA}"/>
              </a:ext>
            </a:extLst>
          </p:cNvPr>
          <p:cNvSpPr txBox="1"/>
          <p:nvPr/>
        </p:nvSpPr>
        <p:spPr>
          <a:xfrm>
            <a:off x="4698267" y="1369892"/>
            <a:ext cx="6694326" cy="305008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학습용 데이터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(1995~2000)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와 평가용 데이터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(2001)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으로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나눈 이유는 원칙적으로 평가용 기간의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길이는 예측할 기간인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Forecast horizon(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예측범위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)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과 유사한 기간을 선택하기 때문입니다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7545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62F2B16-F1C6-4E16-A26C-02E243B66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en-US" altLang="ko-KR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번 문제</a:t>
            </a:r>
            <a:endParaRPr lang="en-US" altLang="ko-KR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18B68F-2E22-48FE-ACD5-4B429E9E1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196" y="2602853"/>
            <a:ext cx="3322737" cy="8669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en-US" altLang="ko-KR" sz="2000" dirty="0">
                <a:solidFill>
                  <a:schemeClr val="bg1"/>
                </a:solidFill>
                <a:ea typeface="맑은 고딕"/>
              </a:rPr>
              <a:t>B) </a:t>
            </a:r>
            <a:r>
              <a:rPr lang="ko-KR" altLang="en-US" sz="2000" dirty="0">
                <a:solidFill>
                  <a:schemeClr val="bg1"/>
                </a:solidFill>
                <a:ea typeface="맑은 고딕"/>
              </a:rPr>
              <a:t>분석가가 </a:t>
            </a:r>
            <a:r>
              <a:rPr lang="en-US" altLang="ko-KR" sz="2000" dirty="0">
                <a:solidFill>
                  <a:schemeClr val="bg1"/>
                </a:solidFill>
                <a:ea typeface="맑은 고딕"/>
              </a:rPr>
              <a:t>12</a:t>
            </a:r>
            <a:r>
              <a:rPr lang="ko-KR" altLang="en-US" sz="2000" dirty="0">
                <a:solidFill>
                  <a:schemeClr val="bg1"/>
                </a:solidFill>
                <a:ea typeface="맑은 고딕"/>
              </a:rPr>
              <a:t>개월의 검증 기간을 선택한 이유</a:t>
            </a:r>
            <a:endParaRPr lang="en-US" altLang="ko-KR" sz="2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09368-2EC6-4541-8081-E0605C766857}"/>
              </a:ext>
            </a:extLst>
          </p:cNvPr>
          <p:cNvSpPr txBox="1"/>
          <p:nvPr/>
        </p:nvSpPr>
        <p:spPr>
          <a:xfrm>
            <a:off x="4641808" y="1412489"/>
            <a:ext cx="6673449" cy="408242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 latinLnBrk="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/>
              <a:t>분석가가 </a:t>
            </a:r>
            <a:r>
              <a:rPr lang="en-US" altLang="ko-KR" sz="2000" dirty="0"/>
              <a:t>12</a:t>
            </a:r>
            <a:r>
              <a:rPr lang="ko-KR" altLang="en-US" sz="2000" dirty="0"/>
              <a:t>달만 평가용 기간으로 잡은 이유는 평가용</a:t>
            </a:r>
            <a:r>
              <a:rPr lang="en-US" altLang="ko-KR" sz="2000" dirty="0"/>
              <a:t> </a:t>
            </a:r>
            <a:r>
              <a:rPr lang="ko-KR" altLang="en-US" sz="2000" dirty="0"/>
              <a:t>데이터 기간은 최소한 모든 계절을</a:t>
            </a:r>
            <a:r>
              <a:rPr lang="en-US" altLang="ko-KR" sz="2000" dirty="0"/>
              <a:t> </a:t>
            </a:r>
            <a:r>
              <a:rPr lang="ko-KR" altLang="en-US" sz="2000" dirty="0"/>
              <a:t>한번씩</a:t>
            </a:r>
            <a:r>
              <a:rPr lang="en-US" altLang="ko-KR" sz="2000" dirty="0"/>
              <a:t>, </a:t>
            </a:r>
            <a:r>
              <a:rPr lang="ko-KR" altLang="en-US" sz="2000" dirty="0"/>
              <a:t>한 주기 이상을 포함하도록 하여야 하기 때문입니다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294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0021BD8-CE71-43CD-A24F-040BDAB9B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en-US" altLang="ko-KR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</a:t>
            </a:r>
            <a:r>
              <a:rPr lang="ko-KR" alt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번 문제</a:t>
            </a:r>
            <a:endParaRPr lang="en-US" altLang="ko-KR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544D77-AAAE-4BE9-9D80-38BA61862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43" y="2660264"/>
            <a:ext cx="2926080" cy="658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en-US" altLang="ko-KR" sz="2000" dirty="0">
                <a:solidFill>
                  <a:schemeClr val="bg1"/>
                </a:solidFill>
                <a:ea typeface="맑은 고딕"/>
              </a:rPr>
              <a:t>C) </a:t>
            </a:r>
            <a:r>
              <a:rPr lang="ko-KR" altLang="en-US" sz="2000" dirty="0">
                <a:solidFill>
                  <a:schemeClr val="bg1"/>
                </a:solidFill>
                <a:ea typeface="맑은 고딕"/>
              </a:rPr>
              <a:t>검증 기간에 대한 단순 예측 설명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5D230D-74C0-4A88-B391-96229EA0D66D}"/>
              </a:ext>
            </a:extLst>
          </p:cNvPr>
          <p:cNvSpPr txBox="1"/>
          <p:nvPr/>
        </p:nvSpPr>
        <p:spPr>
          <a:xfrm>
            <a:off x="4467057" y="1462718"/>
            <a:ext cx="6278880" cy="318124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 latinLnBrk="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dirty="0"/>
              <a:t>Naive forecast(</a:t>
            </a:r>
            <a:r>
              <a:rPr lang="ko-KR" altLang="en-US" sz="2000" dirty="0"/>
              <a:t>단순예측</a:t>
            </a:r>
            <a:r>
              <a:rPr lang="en-US" altLang="ko-KR" sz="2000" dirty="0"/>
              <a:t>)</a:t>
            </a:r>
            <a:r>
              <a:rPr lang="ko-KR" altLang="en-US" sz="2000" dirty="0"/>
              <a:t>을 평가용 데이터</a:t>
            </a:r>
            <a:r>
              <a:rPr lang="en-US" altLang="ko-KR" sz="2000" dirty="0"/>
              <a:t> </a:t>
            </a:r>
            <a:r>
              <a:rPr lang="ko-KR" altLang="en-US" sz="2000" dirty="0"/>
              <a:t>기간에서 하게 되면</a:t>
            </a:r>
            <a:r>
              <a:rPr lang="en-US" altLang="ko-KR" sz="2000" dirty="0"/>
              <a:t>, 12</a:t>
            </a:r>
            <a:r>
              <a:rPr lang="ko-KR" altLang="en-US" sz="2000" dirty="0"/>
              <a:t>달을 주기로 가정을 했을 때 </a:t>
            </a:r>
            <a:r>
              <a:rPr lang="en-US" altLang="ko-KR" sz="2000" dirty="0"/>
              <a:t>2002</a:t>
            </a:r>
            <a:r>
              <a:rPr lang="ko-KR" altLang="en-US" sz="2000" dirty="0"/>
              <a:t>년도의 데이터는 </a:t>
            </a:r>
            <a:r>
              <a:rPr lang="en-US" altLang="ko-KR" sz="2000" dirty="0"/>
              <a:t>2001</a:t>
            </a:r>
            <a:r>
              <a:rPr lang="ko-KR" altLang="en-US" sz="2000" dirty="0"/>
              <a:t>년도의 데이터로 합니다</a:t>
            </a:r>
            <a:r>
              <a:rPr lang="en-US" altLang="ko-KR" sz="2000" dirty="0"/>
              <a:t>. </a:t>
            </a:r>
            <a:r>
              <a:rPr lang="ko-KR" altLang="en-US" sz="2000" dirty="0"/>
              <a:t>즉 </a:t>
            </a:r>
            <a:r>
              <a:rPr lang="en-US" altLang="ko-KR" sz="2000" dirty="0"/>
              <a:t>2002</a:t>
            </a:r>
            <a:r>
              <a:rPr lang="ko-KR" altLang="en-US" sz="2000" dirty="0"/>
              <a:t>년도의 </a:t>
            </a:r>
            <a:r>
              <a:rPr lang="en-US" altLang="ko-KR" sz="2000" dirty="0"/>
              <a:t>1</a:t>
            </a:r>
            <a:r>
              <a:rPr lang="ko-KR" altLang="en-US" sz="2000" dirty="0"/>
              <a:t>월 달은 </a:t>
            </a:r>
            <a:r>
              <a:rPr lang="en-US" altLang="ko-KR" sz="2000" dirty="0"/>
              <a:t>2001</a:t>
            </a:r>
            <a:r>
              <a:rPr lang="ko-KR" altLang="en-US" sz="2000" dirty="0"/>
              <a:t>년의 </a:t>
            </a:r>
            <a:r>
              <a:rPr lang="en-US" altLang="ko-KR" sz="2000" dirty="0"/>
              <a:t>1</a:t>
            </a:r>
            <a:r>
              <a:rPr lang="ko-KR" altLang="en-US" sz="2000" dirty="0"/>
              <a:t>월 값과 동일한 값으로 가지게 됩니다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225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0021BD8-CE71-43CD-A24F-040BDAB9B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ko-KR" altLang="en-US" sz="3600">
                <a:solidFill>
                  <a:srgbClr val="FFFFFF"/>
                </a:solidFill>
                <a:ea typeface="맑은 고딕"/>
              </a:rPr>
              <a:t>4</a:t>
            </a:r>
            <a:r>
              <a:rPr lang="ko-KR" altLang="en-US" sz="3600" kern="1200">
                <a:solidFill>
                  <a:srgbClr val="FFFFFF"/>
                </a:solidFill>
                <a:latin typeface="+mj-lt"/>
                <a:ea typeface="맑은 고딕"/>
                <a:cs typeface="+mj-cs"/>
              </a:rPr>
              <a:t>번 문제</a:t>
            </a:r>
            <a:endParaRPr lang="en-US" altLang="ko-KR" sz="3600" kern="1200">
              <a:solidFill>
                <a:srgbClr val="FFFFFF"/>
              </a:solidFill>
              <a:latin typeface="+mj-lt"/>
              <a:ea typeface="맑은 고딕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544D77-AAAE-4BE9-9D80-38BA61862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43" y="2660264"/>
            <a:ext cx="3229800" cy="658619"/>
          </a:xfrm>
        </p:spPr>
        <p:txBody>
          <a:bodyPr vert="horz" lIns="91440" tIns="45720" rIns="91440" bIns="45720" rtlCol="0" anchor="t">
            <a:noAutofit/>
          </a:bodyPr>
          <a:lstStyle/>
          <a:p>
            <a:pPr latinLnBrk="0"/>
            <a:r>
              <a:rPr lang="en-US" altLang="ko-KR" sz="1800" dirty="0">
                <a:solidFill>
                  <a:schemeClr val="bg1"/>
                </a:solidFill>
                <a:latin typeface="Malgun Gothic"/>
                <a:ea typeface="Malgun Gothic"/>
              </a:rPr>
              <a:t>D)</a:t>
            </a:r>
            <a:r>
              <a:rPr lang="ko-KR" altLang="en-US" sz="1800" dirty="0">
                <a:solidFill>
                  <a:schemeClr val="bg1"/>
                </a:solidFill>
                <a:latin typeface="Malgun Gothic"/>
                <a:ea typeface="Malgun Gothic"/>
              </a:rPr>
              <a:t> </a:t>
            </a:r>
            <a:r>
              <a:rPr lang="ko-KR" sz="1800" dirty="0">
                <a:solidFill>
                  <a:schemeClr val="bg1"/>
                </a:solidFill>
                <a:latin typeface="Malgun Gothic"/>
                <a:ea typeface="Malgun Gothic"/>
              </a:rPr>
              <a:t>단순 예측에 대한 </a:t>
            </a:r>
            <a:r>
              <a:rPr lang="ko-KR" sz="1800" dirty="0" err="1">
                <a:solidFill>
                  <a:schemeClr val="bg1"/>
                </a:solidFill>
                <a:latin typeface="Malgun Gothic"/>
                <a:ea typeface="Malgun Gothic"/>
              </a:rPr>
              <a:t>RMSE와</a:t>
            </a:r>
            <a:r>
              <a:rPr lang="ko-KR" sz="1800" dirty="0">
                <a:solidFill>
                  <a:schemeClr val="bg1"/>
                </a:solidFill>
                <a:latin typeface="Malgun Gothic"/>
                <a:ea typeface="Malgun Gothic"/>
              </a:rPr>
              <a:t> MAPE 계산</a:t>
            </a:r>
            <a:endParaRPr lang="en-US" altLang="ko-KR" sz="18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4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4BA2361C-3A8E-47E2-B7C2-DBC450396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064" y="2526402"/>
            <a:ext cx="5979090" cy="8550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092133-C58A-472B-9755-3658B15D3768}"/>
              </a:ext>
            </a:extLst>
          </p:cNvPr>
          <p:cNvSpPr txBox="1"/>
          <p:nvPr/>
        </p:nvSpPr>
        <p:spPr>
          <a:xfrm>
            <a:off x="4762500" y="2076450"/>
            <a:ext cx="4267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b="1">
                <a:ea typeface="+mn-lt"/>
                <a:cs typeface="+mn-lt"/>
              </a:rPr>
              <a:t>&lt;</a:t>
            </a:r>
            <a:r>
              <a:rPr lang="ko-KR" b="1">
                <a:ea typeface="+mn-lt"/>
                <a:cs typeface="+mn-lt"/>
              </a:rPr>
              <a:t>forecast의 accuracy 함수를 </a:t>
            </a:r>
            <a:r>
              <a:rPr lang="ko-KR" altLang="en-US" b="1">
                <a:ea typeface="+mn-lt"/>
                <a:cs typeface="+mn-lt"/>
              </a:rPr>
              <a:t>이용&gt;</a:t>
            </a:r>
            <a:endParaRPr lang="ko-KR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9F6D7-29F7-4AD8-A237-4B6A0CF2A360}"/>
              </a:ext>
            </a:extLst>
          </p:cNvPr>
          <p:cNvSpPr txBox="1"/>
          <p:nvPr/>
        </p:nvSpPr>
        <p:spPr>
          <a:xfrm>
            <a:off x="4762500" y="3933825"/>
            <a:ext cx="4267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b="1">
                <a:ea typeface="+mn-lt"/>
                <a:cs typeface="+mn-lt"/>
              </a:rPr>
              <a:t>&lt;RMSE 와 MAPE 값</a:t>
            </a:r>
            <a:r>
              <a:rPr lang="ko-KR" altLang="en-US" b="1" dirty="0">
                <a:ea typeface="+mn-lt"/>
                <a:cs typeface="+mn-lt"/>
              </a:rPr>
              <a:t>&gt;</a:t>
            </a:r>
            <a:endParaRPr lang="ko-KR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3CA3A4-3935-483E-BB64-6A395994E20A}"/>
              </a:ext>
            </a:extLst>
          </p:cNvPr>
          <p:cNvSpPr txBox="1"/>
          <p:nvPr/>
        </p:nvSpPr>
        <p:spPr>
          <a:xfrm>
            <a:off x="4763413" y="4303343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RMSE : 9652.307</a:t>
            </a:r>
            <a:endParaRPr lang="ko-K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804CDA-3F43-429D-8959-E6E3846739AB}"/>
              </a:ext>
            </a:extLst>
          </p:cNvPr>
          <p:cNvSpPr txBox="1"/>
          <p:nvPr/>
        </p:nvSpPr>
        <p:spPr>
          <a:xfrm>
            <a:off x="4763413" y="467821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MAPE : 53.31743%</a:t>
            </a: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60539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8B7B044-595E-42F3-B693-69A9848C8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ko-KR" altLang="en-US" sz="3600">
                <a:solidFill>
                  <a:srgbClr val="FFFFFF"/>
                </a:solidFill>
                <a:ea typeface="맑은 고딕"/>
              </a:rPr>
              <a:t>5</a:t>
            </a:r>
            <a:r>
              <a:rPr lang="ko-KR" altLang="en-US" sz="3600" kern="1200">
                <a:solidFill>
                  <a:srgbClr val="FFFFFF"/>
                </a:solidFill>
                <a:latin typeface="+mj-lt"/>
                <a:ea typeface="맑은 고딕"/>
                <a:cs typeface="+mj-cs"/>
              </a:rPr>
              <a:t>번 문제</a:t>
            </a:r>
            <a:endParaRPr lang="en-US" altLang="ko-KR" sz="3600" kern="1200">
              <a:solidFill>
                <a:srgbClr val="FFFFFF"/>
              </a:solidFill>
              <a:latin typeface="+mj-lt"/>
              <a:ea typeface="맑은 고딕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7BA179-04A5-4C1D-A622-E66D09B59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925" y="2665092"/>
            <a:ext cx="2916294" cy="145480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latinLnBrk="0"/>
            <a:r>
              <a:rPr lang="en-US" altLang="ko-KR" sz="2000" dirty="0">
                <a:solidFill>
                  <a:schemeClr val="bg1"/>
                </a:solidFill>
                <a:latin typeface="Malgun Gothic"/>
                <a:ea typeface="Malgun Gothic"/>
              </a:rPr>
              <a:t>E)</a:t>
            </a:r>
            <a:r>
              <a:rPr lang="ko-KR" altLang="en-US" sz="2000" dirty="0">
                <a:solidFill>
                  <a:schemeClr val="bg1"/>
                </a:solidFill>
                <a:latin typeface="Malgun Gothic"/>
                <a:ea typeface="Malgun Gothic"/>
              </a:rPr>
              <a:t> </a:t>
            </a:r>
            <a:r>
              <a:rPr lang="ko-KR" sz="2000" dirty="0">
                <a:solidFill>
                  <a:schemeClr val="bg1"/>
                </a:solidFill>
                <a:latin typeface="Malgun Gothic"/>
                <a:ea typeface="Malgun Gothic"/>
              </a:rPr>
              <a:t>단순 예측으로 인해 발생하는 예측</a:t>
            </a:r>
            <a:r>
              <a:rPr lang="ko-KR" altLang="en-US" sz="2000" dirty="0">
                <a:solidFill>
                  <a:schemeClr val="bg1"/>
                </a:solidFill>
                <a:latin typeface="Malgun Gothic"/>
                <a:ea typeface="Malgun Gothic"/>
              </a:rPr>
              <a:t> 오차의</a:t>
            </a:r>
            <a:r>
              <a:rPr lang="ko-KR" sz="2000" dirty="0">
                <a:solidFill>
                  <a:schemeClr val="bg1"/>
                </a:solidFill>
                <a:latin typeface="Malgun Gothic"/>
                <a:ea typeface="Malgun Gothic"/>
              </a:rPr>
              <a:t> 히스토그램 및 단순 예측에 대한 </a:t>
            </a:r>
            <a:r>
              <a:rPr lang="en-US" altLang="ko-KR" sz="2000" dirty="0">
                <a:solidFill>
                  <a:schemeClr val="bg1"/>
                </a:solidFill>
                <a:latin typeface="Malgun Gothic"/>
                <a:ea typeface="Malgun Gothic"/>
              </a:rPr>
              <a:t>T</a:t>
            </a:r>
            <a:r>
              <a:rPr lang="ko-KR" sz="2000" dirty="0" err="1">
                <a:solidFill>
                  <a:schemeClr val="bg1"/>
                </a:solidFill>
                <a:latin typeface="Malgun Gothic"/>
                <a:ea typeface="Malgun Gothic"/>
              </a:rPr>
              <a:t>ime</a:t>
            </a:r>
            <a:r>
              <a:rPr lang="ko-KR" sz="2000" dirty="0">
                <a:solidFill>
                  <a:schemeClr val="bg1"/>
                </a:solidFill>
                <a:latin typeface="Malgun Gothic"/>
                <a:ea typeface="Malgun Gothic"/>
              </a:rPr>
              <a:t> </a:t>
            </a:r>
            <a:r>
              <a:rPr lang="ko-KR" sz="2000" dirty="0" err="1">
                <a:solidFill>
                  <a:schemeClr val="bg1"/>
                </a:solidFill>
                <a:latin typeface="Malgun Gothic"/>
                <a:ea typeface="Malgun Gothic"/>
              </a:rPr>
              <a:t>plot</a:t>
            </a:r>
            <a:r>
              <a:rPr lang="ko-KR" sz="2000" dirty="0">
                <a:solidFill>
                  <a:schemeClr val="bg1"/>
                </a:solidFill>
                <a:latin typeface="Malgun Gothic"/>
                <a:ea typeface="Malgun Gothic"/>
              </a:rPr>
              <a:t> 표현</a:t>
            </a:r>
            <a:endParaRPr lang="ko-KR" altLang="en-US" sz="2000" dirty="0">
              <a:solidFill>
                <a:schemeClr val="bg1"/>
              </a:solidFill>
              <a:ea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218F84-90C6-4D80-8BC3-9447452D8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724" y="371128"/>
            <a:ext cx="4361145" cy="2816179"/>
          </a:xfrm>
          <a:prstGeom prst="rect">
            <a:avLst/>
          </a:prstGeom>
        </p:spPr>
      </p:pic>
      <p:pic>
        <p:nvPicPr>
          <p:cNvPr id="6" name="그림 6">
            <a:extLst>
              <a:ext uri="{FF2B5EF4-FFF2-40B4-BE49-F238E27FC236}">
                <a16:creationId xmlns:a16="http://schemas.microsoft.com/office/drawing/2014/main" id="{15C1C759-9462-4ED2-9E88-8432082F7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17" y="3577873"/>
            <a:ext cx="4402900" cy="29172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8FA07D-652C-4024-A7F2-2C56E3FBB6EB}"/>
              </a:ext>
            </a:extLst>
          </p:cNvPr>
          <p:cNvSpPr txBox="1"/>
          <p:nvPr/>
        </p:nvSpPr>
        <p:spPr>
          <a:xfrm>
            <a:off x="4787552" y="1592893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>
                <a:ea typeface="맑은 고딕"/>
              </a:rPr>
              <a:t>&lt;예측 오차</a:t>
            </a:r>
            <a:r>
              <a:rPr lang="ko-KR" altLang="en-US" b="1" dirty="0">
                <a:ea typeface="맑은 고딕"/>
              </a:rPr>
              <a:t> 히스토그램&gt;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F76661-D74A-4F80-9061-A45335A0C174}"/>
              </a:ext>
            </a:extLst>
          </p:cNvPr>
          <p:cNvSpPr txBox="1"/>
          <p:nvPr/>
        </p:nvSpPr>
        <p:spPr>
          <a:xfrm>
            <a:off x="4901851" y="4849659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>
                <a:ea typeface="맑은 고딕"/>
              </a:rPr>
              <a:t>&lt;Time </a:t>
            </a:r>
            <a:r>
              <a:rPr lang="ko-KR" altLang="en-US" b="1" err="1">
                <a:ea typeface="맑은 고딕"/>
              </a:rPr>
              <a:t>plot</a:t>
            </a:r>
            <a:r>
              <a:rPr lang="ko-KR" altLang="en-US" b="1" dirty="0">
                <a:ea typeface="맑은 고딕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068470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8B7B044-595E-42F3-B693-69A9848C8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ko-KR" altLang="en-US" sz="3600">
                <a:solidFill>
                  <a:srgbClr val="FFFFFF"/>
                </a:solidFill>
                <a:ea typeface="맑은 고딕"/>
              </a:rPr>
              <a:t>6</a:t>
            </a:r>
            <a:r>
              <a:rPr lang="ko-KR" altLang="en-US" sz="3600" kern="1200">
                <a:solidFill>
                  <a:srgbClr val="FFFFFF"/>
                </a:solidFill>
                <a:latin typeface="+mj-lt"/>
                <a:ea typeface="맑은 고딕"/>
                <a:cs typeface="+mj-cs"/>
              </a:rPr>
              <a:t>번 문제</a:t>
            </a:r>
            <a:endParaRPr lang="en-US" altLang="ko-KR" sz="3600" kern="1200">
              <a:solidFill>
                <a:srgbClr val="FFFFFF"/>
              </a:solidFill>
              <a:latin typeface="+mj-lt"/>
              <a:ea typeface="맑은 고딕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7BA179-04A5-4C1D-A622-E66D09B59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924" y="2665092"/>
            <a:ext cx="3751745" cy="8356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en-US" altLang="ko-KR" sz="2000" dirty="0">
                <a:solidFill>
                  <a:schemeClr val="bg1"/>
                </a:solidFill>
                <a:ea typeface="맑은 고딕"/>
              </a:rPr>
              <a:t>F)</a:t>
            </a:r>
            <a:r>
              <a:rPr lang="ko-KR" altLang="en-US" sz="2000" dirty="0">
                <a:solidFill>
                  <a:schemeClr val="bg1"/>
                </a:solidFill>
                <a:ea typeface="맑은 고딕"/>
              </a:rPr>
              <a:t> 2002년 예측을 생성하기 위해 해야 하는 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02E46B-B6D3-4961-90D9-24FD01DFCDC1}"/>
              </a:ext>
            </a:extLst>
          </p:cNvPr>
          <p:cNvSpPr txBox="1"/>
          <p:nvPr/>
        </p:nvSpPr>
        <p:spPr>
          <a:xfrm>
            <a:off x="4876245" y="1437501"/>
            <a:ext cx="6256353" cy="17007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ea typeface="+mn-lt"/>
                <a:cs typeface="+mn-lt"/>
              </a:rPr>
              <a:t>-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ko-KR" dirty="0">
                <a:ea typeface="+mn-lt"/>
                <a:cs typeface="+mn-lt"/>
              </a:rPr>
              <a:t>실제 최종 모델은 </a:t>
            </a:r>
            <a:r>
              <a:rPr lang="ko-KR" dirty="0" err="1">
                <a:ea typeface="+mn-lt"/>
                <a:cs typeface="+mn-lt"/>
              </a:rPr>
              <a:t>Souvenir</a:t>
            </a:r>
            <a:r>
              <a:rPr lang="ko-KR" dirty="0">
                <a:ea typeface="+mn-lt"/>
                <a:cs typeface="+mn-lt"/>
              </a:rPr>
              <a:t>(기념품)의 데이터를 예측하는 것이기에 실제 판매를 위한 공급과 상관있는 데이터 분석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dirty="0">
                <a:ea typeface="+mn-lt"/>
                <a:cs typeface="+mn-lt"/>
              </a:rPr>
              <a:t>임</a:t>
            </a:r>
            <a:r>
              <a:rPr lang="ko-KR" altLang="en-US" dirty="0">
                <a:ea typeface="+mn-lt"/>
                <a:cs typeface="+mn-lt"/>
              </a:rPr>
              <a:t>으로</a:t>
            </a:r>
            <a:r>
              <a:rPr lang="ko-KR" dirty="0">
                <a:ea typeface="+mn-lt"/>
                <a:cs typeface="+mn-lt"/>
              </a:rPr>
              <a:t> 오차에 의해 발생되는 비용의  최소화를 목적으로 예측모델을 최적화 해야 합니다.</a:t>
            </a:r>
            <a:endParaRPr lang="ko-KR" altLang="en-US" dirty="0">
              <a:ea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E79C7-8AE7-46BE-840F-D4B513174E17}"/>
              </a:ext>
            </a:extLst>
          </p:cNvPr>
          <p:cNvSpPr txBox="1"/>
          <p:nvPr/>
        </p:nvSpPr>
        <p:spPr>
          <a:xfrm>
            <a:off x="4654301" y="4220170"/>
            <a:ext cx="7144122" cy="12852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dirty="0">
                <a:latin typeface="Malgun Gothic"/>
                <a:ea typeface="Malgun Gothic"/>
              </a:rPr>
              <a:t>히스토그램을 살펴보면 오차의 </a:t>
            </a:r>
            <a:r>
              <a:rPr lang="ko-KR" dirty="0" err="1">
                <a:latin typeface="Malgun Gothic"/>
                <a:ea typeface="Malgun Gothic"/>
              </a:rPr>
              <a:t>Frequency가</a:t>
            </a:r>
            <a:r>
              <a:rPr lang="ko-KR" dirty="0">
                <a:latin typeface="Malgun Gothic"/>
                <a:ea typeface="Malgun Gothic"/>
              </a:rPr>
              <a:t> (-10000 ~ 0)에</a:t>
            </a:r>
            <a:r>
              <a:rPr lang="ko-KR" altLang="en-US" dirty="0">
                <a:latin typeface="Malgun Gothic"/>
                <a:ea typeface="Malgun Gothic"/>
              </a:rPr>
              <a:t>서</a:t>
            </a:r>
            <a:endParaRPr lang="en-US" altLang="ko-KR" dirty="0">
              <a:latin typeface="Malgun Gothic"/>
              <a:ea typeface="Malgun Gothic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Malgun Gothic"/>
                <a:ea typeface="Malgun Gothic"/>
              </a:rPr>
              <a:t>    </a:t>
            </a:r>
            <a:r>
              <a:rPr lang="ko-KR" dirty="0">
                <a:latin typeface="Malgun Gothic"/>
                <a:ea typeface="Malgun Gothic"/>
              </a:rPr>
              <a:t>많은 것으로 보아 과소 예</a:t>
            </a:r>
            <a:r>
              <a:rPr lang="ko-KR" altLang="en-US" dirty="0">
                <a:latin typeface="Malgun Gothic"/>
                <a:ea typeface="Malgun Gothic"/>
              </a:rPr>
              <a:t>측</a:t>
            </a:r>
            <a:r>
              <a:rPr lang="ko-KR" dirty="0">
                <a:latin typeface="Malgun Gothic"/>
                <a:ea typeface="Malgun Gothic"/>
              </a:rPr>
              <a:t>(</a:t>
            </a:r>
            <a:r>
              <a:rPr lang="ko-KR" dirty="0" err="1">
                <a:latin typeface="Malgun Gothic"/>
                <a:ea typeface="Malgun Gothic"/>
              </a:rPr>
              <a:t>Under-estimate</a:t>
            </a:r>
            <a:r>
              <a:rPr lang="ko-KR" dirty="0">
                <a:latin typeface="Malgun Gothic"/>
                <a:ea typeface="Malgun Gothic"/>
              </a:rPr>
              <a:t>)인 것으로 </a:t>
            </a:r>
            <a:endParaRPr lang="en-US" altLang="ko-KR" dirty="0">
              <a:latin typeface="Malgun Gothic"/>
              <a:ea typeface="Malgun Gothic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Malgun Gothic"/>
                <a:ea typeface="Malgun Gothic"/>
              </a:rPr>
              <a:t>    </a:t>
            </a:r>
            <a:r>
              <a:rPr lang="ko-KR" dirty="0">
                <a:latin typeface="Malgun Gothic"/>
                <a:ea typeface="Malgun Gothic"/>
              </a:rPr>
              <a:t>추측해 볼 수 있습니다.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1167218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296</Words>
  <Application>Microsoft Office PowerPoint</Application>
  <PresentationFormat>와이드스크린</PresentationFormat>
  <Paragraphs>31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Malgun Gothic</vt:lpstr>
      <vt:lpstr>Malgun Gothic</vt:lpstr>
      <vt:lpstr>Arial</vt:lpstr>
      <vt:lpstr>Calibri</vt:lpstr>
      <vt:lpstr>Office 테마</vt:lpstr>
      <vt:lpstr>데이터 사이언스 응용 3주차 과제</vt:lpstr>
      <vt:lpstr>PowerPoint 프레젠테이션</vt:lpstr>
      <vt:lpstr>1번 문제</vt:lpstr>
      <vt:lpstr>2번 문제</vt:lpstr>
      <vt:lpstr>3번 문제</vt:lpstr>
      <vt:lpstr>4번 문제</vt:lpstr>
      <vt:lpstr>5번 문제</vt:lpstr>
      <vt:lpstr>6번 문제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cp:lastModifiedBy>ok7624583@daum.net</cp:lastModifiedBy>
  <cp:revision>196</cp:revision>
  <dcterms:created xsi:type="dcterms:W3CDTF">2021-09-17T09:35:26Z</dcterms:created>
  <dcterms:modified xsi:type="dcterms:W3CDTF">2022-02-09T06:05:17Z</dcterms:modified>
  <cp:version/>
</cp:coreProperties>
</file>